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d879534b-4145-1fca-f03a-8ca73058da0e}">
          <p14:sldIdLst>
            <p14:sldId id="256"/>
          </p14:sldIdLst>
        </p14:section>
        <p14:section name="Problem und Lösung" id="{ecc7dde3-caa7-2a34-a584-0b3a47c16bf6}">
          <p14:sldIdLst>
            <p14:sldId id="257"/>
            <p14:sldId id="258"/>
          </p14:sldIdLst>
        </p14:section>
        <p14:section name="Architektur" id="{18d05f30-f170-ed6d-5e6f-511d4533018f}">
          <p14:sldIdLst>
            <p14:sldId id="259"/>
            <p14:sldId id="260"/>
            <p14:sldId id="261"/>
          </p14:sldIdLst>
        </p14:section>
        <p14:section name="Live-Demo" id="{f19d6424-44d1-0acb-684e-7dcd07c7c9a5}">
          <p14:sldIdLst>
            <p14:sldId id="262"/>
          </p14:sldIdLst>
        </p14:section>
        <p14:section name="Tests und Kosten" id="{b5c681f3-f640-7e50-674d-0282de428703}">
          <p14:sldIdLst>
            <p14:sldId id="263"/>
            <p14:sldId id="264"/>
          </p14:sldIdLst>
        </p14:section>
        <p14:section name="Ausblick" id="{737f80d6-3539-f58d-9ec4-00c8ddd17f22}">
          <p14:sldIdLst>
            <p14:sldId id="265"/>
            <p14:sldId id="266"/>
          </p14:sldIdLst>
        </p14:section>
        <p14:section name="Feedback" id="{c71f1567-91cc-850d-65a9-cd6fef7d1823}">
          <p14:sldIdLst>
            <p14:sldId id="267"/>
          </p14:sldIdLst>
        </p14:section>
        <p14:section name="Anhang" id="{c819bbe7-e231-ab27-d34d-e6e3ecdaf881}">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0:15
Guten Tag. Ich stelle heute AutoScan AI vor.
Die Idee in einem Satz: AutoScan AI macht aus einer unklaren Kundenanfrage einen klaren und ehrlichen Werkstattbericht, bevor der Kunde in die Werkstatt kommt.
Ablauf: Problem, Lösung und Architektur, Live-Demo, Tests und Kosten, Ausblick, Feedback. Insgesamt etwa 14 Minuten.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0:45
Ein typischer Anruf in der Werkstatt klingt so: „Mein Auto ruckelt, und eine Lampe leuchtet.“
Damit kann die Werkstatt noch wenig anfangen. Welches Auto ist es? Welches Baujahr? Gibt es Fehlercodes?
Die Informationen liegen an verschiedenen Orten: im Fahrzeugschein, im Kopf des Kunden und vielleicht in einem Diagnosegerät.
Das Ergebnis sind Rückfragen, Telefonate und verlorene Zeit.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0:30
Meine Lösung arbeitet in vier Schritten.
Erstens: Der Kunde beschreibt das Problem und lädt ein Foto vom Fahrzeugschein hoch oder gibt die Daten manuell ein.
Zweitens: Die KI liest Marke, Modell und FIN vom Foto. Ein OBD2-Adapter liefert die Fehlercodes – in diesem Projekt simuliert.
Drittens: Die KI schreibt eine Zusammenfassung, Rückfragen und einen Antwortentwurf für die Werkstatt.
Viertens: Alles wird in Supabase gespeichert.
Wichtig ist meine Leitidee: Die KI unterstützt die Werkstatt, sie ersetzt sie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Technisch ist AutoScan ein n8n-Hauptworkflow mit sechs Blöcken, die von links nach rechts laufen.
Block 1 ist der Eingang: ein Formular für echte Anfragen und ein manueller Start für schnelle Tests.
Der erste Subworkflow prüft die Eingabe und liest ein Fahrzeugschein-Foto mit OpenAI aus.
Der zweite Subworkflow simuliert einen OBD2-Adapter mit vier Testfällen.
Danach prüft der Hauptworkflow alle Werte, fragt optional die Fahrzeug-API vPIC ab, lässt die KI den Bericht schreiben, speichert in Supabase und meldet kritische Fehler.
Damit Kollegen den Workflow verstehen, ist jeder Node mit Zweck, Eingang, Ausgang und Fehlerfall dokumentiert.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0:30
Die wichtigste Architekturentscheidung war die Trennung der Quellen.
Kundenangaben kommen vom Nutzer. Werte aus dem Foto sind zunächst unbestätigt. OBD2-Werte sind eine Simulation. API-Daten kommen von der NHTSA.
Im Bericht steht bei jeder Angabe, woher sie kommt. So weiß die Werkstatt, was sicher ist und was nicht.
Ein Beispiel: Feld 6 im Fahrzeugschein enthält ein Genehmigungsdatum, kein Baujahr. Ich nutze es nur als gekennzeichneten Ersatzwert.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0:30
Warum kann man diesem Workflow vertrauen? Fünf Punkte:
Erstens: Die KI erfindet nichts. Keine Diagnose, keine Preise, keine Termine.
Zweitens: Die Quellen bleiben getrennt.
Drittens: Wenn eine API ausfällt, gibt es trotzdem einen Teilbericht mit klarem Hinweis.
Viertens: Ich messe Tokens, Kosten und Laufzeit bei jedem Lauf.
Fünftens: Der Kundentext wird als Daten behandelt, nicht als Anweisung. So ist der Workflow gegen Prompt-Injection geschützt.
Mein Ziel war nicht der größte Workflow, sondern einer, dem man vertrauen kann.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3:00
VORHER PRÜFEN: Generalprobe gemacht? OpenAI- und Supabase-Credentials gesetzt? Foto anonymisiert (Name, Adresse, Kennzeichen abgedeckt) und gerade gedreht? Alert in Node 02 aus? Execution-ID des Probelaufs notiert?
LIVE:
1. n8n öffnen, Node 00 „Foto oder manuelle Anfrage“, auf Execute workflow klicken, Test-URL öffnen.
2. Eingabeweg Fahrzeugschein-Foto, anonymisierte Musterdatei hochladen, „Motor ruckelt beim Start“ eintragen, OBD2-Testfall p0300 wählen, absenden.
3. Auf dem Canvas zeigen, wie die beiden Subworkflows laufen.
4. Node 19 öffnen: Herkunft der Fahrzeugdaten, Simulationshinweis, Bericht, Rückfragen, Kosten und Speicherstatus erklären.
ERKLÄREN: Die Fahrzeug-API wird hier bewusst übersprungen, weil die FIN aus dem Foto noch nicht bestätigt ist. Das ist Absicht, kein Fehler. Das Modelljahr kann als Ersatzwert aus Feld 6 erscheinen.
WENN ES SCHEITERT: Fehlermeldung ehrlich zeigen und den vorbereiteten Lauf in den Executions öffnen.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1:30
Für den simulierten OBD2-Adapter habe ich vier klare Szenarien: P0300, P0420, ohne Fehler und Verbindungsfehler.
Besonders wichtig: „Ohne Fehler“ heißt nur, dass der Fehlerspeicher leer ist. Das beweist nicht, dass das Auto in Ordnung ist. Und beim Verbindungsfehler sind die Daten unbekannt, nicht leer.
Alle vier Szenarien haben die lokalen Code-Prüfungen bestanden. Für den früheren Text-Workflow gibt es einen belegten Live-Run, Ausführung 51549.
Die vollständige Matrix mit zwölf Fällen steht im Anhang.
Ich trenne bewusst zwischen lokal geprüft und live nachgewiesen. Das gehört für mich zu ehrlichem Testen.
FALLS GENERALPROBE ERFOLGREICH: hier die Execution-ID des neuen Gesamtlaufs nennen.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1:00
Zu den Kosten: Für den Text-Workflow habe ich echte Verbrauchswerte aus der API. Run 51549 brauchte 368 Prompt-Tokens und 323 Completion-Tokens.
Mit den Standardpreisen von gpt-4.1-mini sind das 0,000664 Dollar pro Anfrage – weniger als ein Zehntel Cent.
Bei 100 Anfragen am Tag sind das etwa 2 Dollar im Monat, ohne andere Dienste und Steuern.
Ein Lauf dauerte 8,2 Sekunden, davon etwa 6,5 Sekunden für die KI.
Mit Foto kommt ein zweiter KI-Aufruf dazu. Der neue Workflow rechnet beide Aufrufe automatisch zusammen.
Preise geprüft auf developers.openai.com, Stand Oktober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0:45
Drei Dinge habe ich gelernt.
Erstens: Feste Datenverträge. Beim Zusammenspiel von Formular, Bild und Hauptworkflow muss klar sein, welche Felder es gibt und woher sie kommen.
Zweitens: Fehler sind Teil des Produkts. Fehlende Adapterdaten sind keine leeren Fehlercodes, und ein KI-Text ist noch keine bestätigte Diagnose.
Drittens: Module getrennt testen und dann schneller verbinden.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1:15
Wie geht es weiter? Meine Vision ist ein Werkstatt-Assistent.
Der erste Schritt ist schon als Prototyp gebaut: Der Kunde bestätigt oder korrigiert die Daten, die die KI vom Fahrzeugschein gelesen hat. Danach darf auch die Fahrzeug-API diese FIN nutzen. Der Test in n8n folgt.
Stufe 1: Anfragen in jeder Sprache und der Bericht per E-Mail an die Werkstatt. Der E-Mail-Node existiert schon.
Stufe 2: Ein Blick in den Werkstattkalender, um freie Termine vorzuschlagen – nur als Vorschlag.
Stufe 3: Eine Wissensbasis mit typischen Ursachen, Teilen und einer echten Preisliste der Werkstatt. So nennt die KI Kostenspannen mit Quelle und erfindet keine Preise.
Stufe 4: Eine Entscheidungshilfe: Lohnt sich die Reparatur im Verhältnis zum Fahrzeugwert? Die Entscheidung bleibt beim Besitzer.
Das Prinzip bleibt gleich: Die KI liefert Fakten mit Quelle, der Mensch entscheidet.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 3:00
Vielen Dank! Mein aktueller Stand ist ein modularer n8n-Prototyp mit Bildauswertung, simulierten OBD2-Daten und einem ehrlichen Werkstattbericht.
Ich freue mich über eure Rückmeldung zu drei Fragen:
Welche Angaben fehlen im Bericht?
Ist die Trennung zwischen Simulation, Fotowert und Kundenangabe verständlich?
Welche Stufe der Vision sollte ich zuerst bauen?
WENN NACH DEM STATUS GEFRAGT WIRD: Der Adapter ist simuliert, damit ich alle Fälle gezielt testen kann. Fotowerte sind unbestätigt, bis der Kunde sie bestätigt. Die Kosten zeigen die gemessene Text-Baseline.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Keine Vortragszeit. Nur für Rückfragen. „Code geprüft“ bedeutet lokale Ausführung mit Testdaten, nicht erfolgreicher Live-Gesamtlauf in n8n.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Keine Vortragszeit. Nur für Rückfragen. „Code geprüft“ bedeutet lokale Ausführung mit Testdaten, nicht erfolgreicher Live-Gesamtlauf in n8n.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822960"/>
            <a:ext cx="8229600" cy="320040"/>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457200" y="1188720"/>
            <a:ext cx="822960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457200" y="2194560"/>
            <a:ext cx="6858000" cy="100584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5" name="Text 0"/>
          <p:cNvSpPr/>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chemeClr val="bg2"/>
                </a:solidFill>
              </a:rPr>
              <a:t>AutoScan AI · 16.10.2026</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hell">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rtlCol="0"/>
          <a:lstStyle>
            <a:lvl1pPr indent="0" marL="0">
              <a:buNone/>
              <a:defRPr lang="en-US" sz="1100" b="1"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chemeClr val="accent5"/>
                </a:solidFill>
              </a:rPr>
              <a:t>AutoScan AI · 16.10.2026</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 dunkel">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rtlCol="0"/>
          <a:lstStyle>
            <a:lvl1pPr indent="0" marL="0">
              <a:buNone/>
              <a:defRPr lang="en-US" sz="1100" b="1"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nvSpPr>
        <p:spPr>
          <a:xfrm>
            <a:off x="457200" y="4800600"/>
            <a:ext cx="3657600" cy="228600"/>
          </a:xfrm>
          <a:prstGeom prst="rect">
            <a:avLst/>
          </a:prstGeom>
          <a:noFill/>
          <a:ln/>
        </p:spPr>
        <p:txBody>
          <a:bodyPr wrap="square" lIns="0" tIns="0" rIns="0" bIns="0" rtlCol="0" anchor="ctr"/>
          <a:lstStyle/>
          <a:p>
            <a:pPr indent="0" marL="0">
              <a:buNone/>
            </a:pPr>
            <a:r>
              <a:rPr lang="en-US" sz="900" dirty="0">
                <a:solidFill>
                  <a:schemeClr val="bg2"/>
                </a:solidFill>
              </a:rPr>
              <a:t>AutoScan AI · 16.10.2026</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F2F4F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822960"/>
            <a:ext cx="8229600" cy="320040"/>
          </a:xfrm>
          <a:prstGeom prst="rect">
            <a:avLst/>
          </a:prstGeom>
          <a:noFill/>
          <a:ln/>
        </p:spPr>
        <p:txBody>
          <a:bodyPr wrap="square" lIns="0" tIns="0" rIns="0" bIns="0" rtlCol="0"/>
          <a:lstStyle/>
          <a:p>
            <a:pPr indent="0" marL="0">
              <a:buNone/>
            </a:pPr>
            <a:r>
              <a:rPr lang="en-US" sz="1300" b="1" dirty="0">
                <a:solidFill>
                  <a:schemeClr val="accent1"/>
                </a:solidFill>
              </a:rPr>
              <a:t>PROJEKTPRÄSENTATION · n8n</a:t>
            </a:r>
            <a:endParaRPr lang="en-US" sz="1300" dirty="0"/>
          </a:p>
        </p:txBody>
      </p:sp>
      <p:sp>
        <p:nvSpPr>
          <p:cNvPr id="3" name="Text 0"/>
          <p:cNvSpPr/>
          <p:nvPr>
            <p:ph idx="101" type="title" hasCustomPrompt="1"/>
          </p:nvPr>
        </p:nvSpPr>
        <p:spPr>
          <a:xfrm>
            <a:off x="457200" y="1188720"/>
            <a:ext cx="8229600" cy="914400"/>
          </a:xfrm>
          <a:prstGeom prst="rect">
            <a:avLst/>
          </a:prstGeom>
          <a:noFill/>
          <a:ln/>
        </p:spPr>
        <p:txBody>
          <a:bodyPr wrap="square" lIns="0" tIns="0" rIns="0" bIns="0" rtlCol="0" anchor="t"/>
          <a:lstStyle/>
          <a:p>
            <a:pPr algn="l" indent="0" marL="0">
              <a:buNone/>
            </a:pPr>
            <a:r>
              <a:rPr lang="en-US" sz="4400" b="1" dirty="0">
                <a:solidFill>
                  <a:schemeClr val="bg1"/>
                </a:solidFill>
              </a:rPr>
              <a:t>AutoScan AI</a:t>
            </a:r>
            <a:endParaRPr lang="en-US" sz="4400" dirty="0"/>
          </a:p>
        </p:txBody>
      </p:sp>
      <p:sp>
        <p:nvSpPr>
          <p:cNvPr id="4" name="Text 0"/>
          <p:cNvSpPr/>
          <p:nvPr>
            <p:ph idx="102" type="body" hasCustomPrompt="1"/>
          </p:nvPr>
        </p:nvSpPr>
        <p:spPr>
          <a:xfrm>
            <a:off x="457200" y="2194560"/>
            <a:ext cx="6858000" cy="1005840"/>
          </a:xfrm>
          <a:prstGeom prst="rect">
            <a:avLst/>
          </a:prstGeom>
          <a:noFill/>
          <a:ln/>
        </p:spPr>
        <p:txBody>
          <a:bodyPr wrap="square" lIns="0" tIns="0" rIns="0" bIns="0" rtlCol="0" anchor="t"/>
          <a:lstStyle/>
          <a:p>
            <a:pPr indent="0" marL="0">
              <a:buNone/>
            </a:pPr>
            <a:r>
              <a:rPr lang="en-US" sz="2000" dirty="0">
                <a:solidFill>
                  <a:schemeClr val="bg2"/>
                </a:solidFill>
              </a:rPr>
              <a:t>Von der unklaren Kundenanfrage zum ehrlichen Werkstattbericht</a:t>
            </a:r>
            <a:endParaRPr lang="en-US" sz="2000" dirty="0"/>
          </a:p>
        </p:txBody>
      </p:sp>
      <p:sp>
        <p:nvSpPr>
          <p:cNvPr id="5" name="Auto Kreis"/>
          <p:cNvSpPr/>
          <p:nvPr/>
        </p:nvSpPr>
        <p:spPr>
          <a:xfrm>
            <a:off x="7498080" y="3291840"/>
            <a:ext cx="1005840" cy="1005840"/>
          </a:xfrm>
          <a:prstGeom prst="ellipse">
            <a:avLst/>
          </a:prstGeom>
          <a:solidFill>
            <a:schemeClr val="accent1"/>
          </a:solidFill>
          <a:ln w="12700">
            <a:solidFill>
              <a:schemeClr val="accent1"/>
            </a:solidFill>
            <a:prstDash val="solid"/>
          </a:ln>
        </p:spPr>
      </p:sp>
      <p:pic>
        <p:nvPicPr>
          <p:cNvPr id="6" name="Auto Symbol" descr="Auto">    </p:cNvPr>
          <p:cNvPicPr>
            <a:picLocks noChangeAspect="1"/>
          </p:cNvPicPr>
          <p:nvPr/>
        </p:nvPicPr>
        <p:blipFill>
          <a:blip r:embed="rId1"/>
          <a:stretch>
            <a:fillRect/>
          </a:stretch>
        </p:blipFill>
        <p:spPr>
          <a:xfrm>
            <a:off x="7749540" y="3543300"/>
            <a:ext cx="502920" cy="502920"/>
          </a:xfrm>
          <a:prstGeom prst="rect">
            <a:avLst/>
          </a:prstGeom>
        </p:spPr>
      </p:pic>
      <p:sp>
        <p:nvSpPr>
          <p:cNvPr id="7" name="Text 4"/>
          <p:cNvSpPr txBox="1"/>
          <p:nvPr/>
        </p:nvSpPr>
        <p:spPr>
          <a:xfrm>
            <a:off x="457200" y="3566160"/>
            <a:ext cx="5486400" cy="365760"/>
          </a:xfrm>
          <a:prstGeom prst="rect">
            <a:avLst/>
          </a:prstGeom>
          <a:noFill/>
          <a:ln/>
        </p:spPr>
        <p:txBody>
          <a:bodyPr wrap="square" lIns="0" tIns="0" rIns="0" bIns="0" rtlCol="0" anchor="t"/>
          <a:lstStyle/>
          <a:p>
            <a:pPr indent="0" marL="0">
              <a:buNone/>
            </a:pPr>
            <a:r>
              <a:rPr lang="en-US" sz="1400" b="1" dirty="0">
                <a:solidFill>
                  <a:schemeClr val="accent1"/>
                </a:solidFill>
              </a:rPr>
              <a:t>Faouzi Riahi · 16. Oktober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1 · PROBLEM</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Vor dem Werkstatttermin fehlt das Wichtigste</a:t>
            </a:r>
            <a:endParaRPr lang="en-US" sz="3000" dirty="0"/>
          </a:p>
        </p:txBody>
      </p:sp>
      <p:sp>
        <p:nvSpPr>
          <p:cNvPr id="4" name="Zitat Hintergrund"/>
          <p:cNvSpPr/>
          <p:nvPr/>
        </p:nvSpPr>
        <p:spPr>
          <a:xfrm>
            <a:off x="457200" y="1325880"/>
            <a:ext cx="8229600" cy="685800"/>
          </a:xfrm>
          <a:prstGeom prst="roundRect">
            <a:avLst>
              <a:gd name="adj" fmla="val 10667"/>
            </a:avLst>
          </a:prstGeom>
          <a:solidFill>
            <a:schemeClr val="tx2"/>
          </a:solidFill>
          <a:ln w="12700">
            <a:solidFill>
              <a:schemeClr val="tx2"/>
            </a:solidFill>
            <a:prstDash val="solid"/>
          </a:ln>
        </p:spPr>
      </p:sp>
      <p:sp>
        <p:nvSpPr>
          <p:cNvPr id="5" name="Text 3"/>
          <p:cNvSpPr txBox="1"/>
          <p:nvPr/>
        </p:nvSpPr>
        <p:spPr>
          <a:xfrm>
            <a:off x="731520" y="1325880"/>
            <a:ext cx="7680960" cy="685800"/>
          </a:xfrm>
          <a:prstGeom prst="rect">
            <a:avLst/>
          </a:prstGeom>
          <a:noFill/>
          <a:ln/>
        </p:spPr>
        <p:txBody>
          <a:bodyPr wrap="square" lIns="0" tIns="0" rIns="0" bIns="0" rtlCol="0" anchor="ctr"/>
          <a:lstStyle/>
          <a:p>
            <a:pPr indent="0" marL="0">
              <a:buNone/>
            </a:pPr>
            <a:r>
              <a:rPr lang="en-US" sz="1800" b="1" i="1" dirty="0">
                <a:solidFill>
                  <a:schemeClr val="bg1"/>
                </a:solidFill>
              </a:rPr>
              <a:t>„Mein Auto ruckelt, und eine Lampe leuchtet.“</a:t>
            </a:r>
            <a:pPr indent="0" marL="0">
              <a:buNone/>
            </a:pPr>
            <a:r>
              <a:rPr lang="en-US" sz="1200" dirty="0">
                <a:solidFill>
                  <a:schemeClr val="accent1"/>
                </a:solidFill>
              </a:rPr>
              <a:t>   – typischer Anruf in der Werkstatt</a:t>
            </a:r>
            <a:endParaRPr lang="en-US" sz="1800" dirty="0"/>
          </a:p>
        </p:txBody>
      </p:sp>
      <p:sp>
        <p:nvSpPr>
          <p:cNvPr id="6" name="Problem 1"/>
          <p:cNvSpPr/>
          <p:nvPr/>
        </p:nvSpPr>
        <p:spPr>
          <a:xfrm>
            <a:off x="457200" y="2286000"/>
            <a:ext cx="2596896" cy="2240280"/>
          </a:xfrm>
          <a:prstGeom prst="roundRect">
            <a:avLst>
              <a:gd name="adj" fmla="val 3265"/>
            </a:avLst>
          </a:prstGeom>
          <a:solidFill>
            <a:schemeClr val="bg2"/>
          </a:solidFill>
          <a:ln w="12700">
            <a:solidFill>
              <a:schemeClr val="bg2"/>
            </a:solidFill>
            <a:prstDash val="solid"/>
          </a:ln>
        </p:spPr>
      </p:sp>
      <p:sp>
        <p:nvSpPr>
          <p:cNvPr id="7" name="Viele Rückfragen Kreis"/>
          <p:cNvSpPr/>
          <p:nvPr/>
        </p:nvSpPr>
        <p:spPr>
          <a:xfrm>
            <a:off x="685800" y="2514600"/>
            <a:ext cx="594360" cy="594360"/>
          </a:xfrm>
          <a:prstGeom prst="ellipse">
            <a:avLst/>
          </a:prstGeom>
          <a:solidFill>
            <a:schemeClr val="accent3"/>
          </a:solidFill>
          <a:ln w="12700">
            <a:solidFill>
              <a:schemeClr val="accent3"/>
            </a:solidFill>
            <a:prstDash val="solid"/>
          </a:ln>
        </p:spPr>
      </p:sp>
      <p:pic>
        <p:nvPicPr>
          <p:cNvPr id="8" name="Viele Rückfragen Symbol" descr="Viele Rückfragen">    </p:cNvPr>
          <p:cNvPicPr>
            <a:picLocks noChangeAspect="1"/>
          </p:cNvPicPr>
          <p:nvPr/>
        </p:nvPicPr>
        <p:blipFill>
          <a:blip r:embed="rId1"/>
          <a:stretch>
            <a:fillRect/>
          </a:stretch>
        </p:blipFill>
        <p:spPr>
          <a:xfrm>
            <a:off x="834390" y="2663190"/>
            <a:ext cx="297180" cy="297180"/>
          </a:xfrm>
          <a:prstGeom prst="rect">
            <a:avLst/>
          </a:prstGeom>
        </p:spPr>
      </p:pic>
      <p:sp>
        <p:nvSpPr>
          <p:cNvPr id="9" name="Text 6"/>
          <p:cNvSpPr txBox="1"/>
          <p:nvPr/>
        </p:nvSpPr>
        <p:spPr>
          <a:xfrm>
            <a:off x="685800" y="3246120"/>
            <a:ext cx="2194560" cy="320040"/>
          </a:xfrm>
          <a:prstGeom prst="rect">
            <a:avLst/>
          </a:prstGeom>
          <a:noFill/>
          <a:ln/>
        </p:spPr>
        <p:txBody>
          <a:bodyPr wrap="square" lIns="0" tIns="0" rIns="0" bIns="0" rtlCol="0" anchor="t"/>
          <a:lstStyle/>
          <a:p>
            <a:pPr indent="0" marL="0">
              <a:buNone/>
            </a:pPr>
            <a:r>
              <a:rPr lang="en-US" sz="1600" b="1" dirty="0">
                <a:solidFill>
                  <a:schemeClr val="tx2"/>
                </a:solidFill>
              </a:rPr>
              <a:t>Viele Rückfragen</a:t>
            </a:r>
            <a:endParaRPr lang="en-US" sz="1600" dirty="0"/>
          </a:p>
        </p:txBody>
      </p:sp>
      <p:sp>
        <p:nvSpPr>
          <p:cNvPr id="10" name="Text 7"/>
          <p:cNvSpPr txBox="1"/>
          <p:nvPr/>
        </p:nvSpPr>
        <p:spPr>
          <a:xfrm>
            <a:off x="685800" y="3611880"/>
            <a:ext cx="2194560" cy="822960"/>
          </a:xfrm>
          <a:prstGeom prst="rect">
            <a:avLst/>
          </a:prstGeom>
          <a:noFill/>
          <a:ln/>
        </p:spPr>
        <p:txBody>
          <a:bodyPr wrap="square" lIns="0" tIns="0" rIns="0" bIns="0" rtlCol="0" anchor="t"/>
          <a:lstStyle/>
          <a:p>
            <a:pPr indent="0" marL="0">
              <a:buNone/>
            </a:pPr>
            <a:r>
              <a:rPr lang="en-US" sz="1300" dirty="0">
                <a:solidFill>
                  <a:schemeClr val="tx1"/>
                </a:solidFill>
              </a:rPr>
              <a:t>Welches Auto? Welches Baujahr? Welcher Fehlercode?</a:t>
            </a:r>
            <a:endParaRPr lang="en-US" sz="1300" dirty="0"/>
          </a:p>
        </p:txBody>
      </p:sp>
      <p:sp>
        <p:nvSpPr>
          <p:cNvPr id="11" name="Problem 2"/>
          <p:cNvSpPr/>
          <p:nvPr/>
        </p:nvSpPr>
        <p:spPr>
          <a:xfrm>
            <a:off x="3273552" y="2286000"/>
            <a:ext cx="2596896" cy="2240280"/>
          </a:xfrm>
          <a:prstGeom prst="roundRect">
            <a:avLst>
              <a:gd name="adj" fmla="val 3265"/>
            </a:avLst>
          </a:prstGeom>
          <a:solidFill>
            <a:schemeClr val="bg2"/>
          </a:solidFill>
          <a:ln w="12700">
            <a:solidFill>
              <a:schemeClr val="bg2"/>
            </a:solidFill>
            <a:prstDash val="solid"/>
          </a:ln>
        </p:spPr>
      </p:sp>
      <p:sp>
        <p:nvSpPr>
          <p:cNvPr id="12" name="Verteilte Informationen Kreis"/>
          <p:cNvSpPr/>
          <p:nvPr/>
        </p:nvSpPr>
        <p:spPr>
          <a:xfrm>
            <a:off x="3502152" y="2514600"/>
            <a:ext cx="594360" cy="594360"/>
          </a:xfrm>
          <a:prstGeom prst="ellipse">
            <a:avLst/>
          </a:prstGeom>
          <a:solidFill>
            <a:schemeClr val="accent1"/>
          </a:solidFill>
          <a:ln w="12700">
            <a:solidFill>
              <a:schemeClr val="accent1"/>
            </a:solidFill>
            <a:prstDash val="solid"/>
          </a:ln>
        </p:spPr>
      </p:sp>
      <p:pic>
        <p:nvPicPr>
          <p:cNvPr id="13" name="Verteilte Informationen Symbol" descr="Verteilte Informationen">    </p:cNvPr>
          <p:cNvPicPr>
            <a:picLocks noChangeAspect="1"/>
          </p:cNvPicPr>
          <p:nvPr/>
        </p:nvPicPr>
        <p:blipFill>
          <a:blip r:embed="rId2"/>
          <a:stretch>
            <a:fillRect/>
          </a:stretch>
        </p:blipFill>
        <p:spPr>
          <a:xfrm>
            <a:off x="3650742" y="2663190"/>
            <a:ext cx="297180" cy="297180"/>
          </a:xfrm>
          <a:prstGeom prst="rect">
            <a:avLst/>
          </a:prstGeom>
        </p:spPr>
      </p:pic>
      <p:sp>
        <p:nvSpPr>
          <p:cNvPr id="14" name="Text 10"/>
          <p:cNvSpPr txBox="1"/>
          <p:nvPr/>
        </p:nvSpPr>
        <p:spPr>
          <a:xfrm>
            <a:off x="3502152" y="3246120"/>
            <a:ext cx="2194560" cy="320040"/>
          </a:xfrm>
          <a:prstGeom prst="rect">
            <a:avLst/>
          </a:prstGeom>
          <a:noFill/>
          <a:ln/>
        </p:spPr>
        <p:txBody>
          <a:bodyPr wrap="square" lIns="0" tIns="0" rIns="0" bIns="0" rtlCol="0" anchor="t"/>
          <a:lstStyle/>
          <a:p>
            <a:pPr indent="0" marL="0">
              <a:buNone/>
            </a:pPr>
            <a:r>
              <a:rPr lang="en-US" sz="1600" b="1" dirty="0">
                <a:solidFill>
                  <a:schemeClr val="tx2"/>
                </a:solidFill>
              </a:rPr>
              <a:t>Verteilte Informationen</a:t>
            </a:r>
            <a:endParaRPr lang="en-US" sz="1600" dirty="0"/>
          </a:p>
        </p:txBody>
      </p:sp>
      <p:sp>
        <p:nvSpPr>
          <p:cNvPr id="15" name="Text 11"/>
          <p:cNvSpPr txBox="1"/>
          <p:nvPr/>
        </p:nvSpPr>
        <p:spPr>
          <a:xfrm>
            <a:off x="3502152" y="3611880"/>
            <a:ext cx="2194560" cy="822960"/>
          </a:xfrm>
          <a:prstGeom prst="rect">
            <a:avLst/>
          </a:prstGeom>
          <a:noFill/>
          <a:ln/>
        </p:spPr>
        <p:txBody>
          <a:bodyPr wrap="square" lIns="0" tIns="0" rIns="0" bIns="0" rtlCol="0" anchor="t"/>
          <a:lstStyle/>
          <a:p>
            <a:pPr indent="0" marL="0">
              <a:buNone/>
            </a:pPr>
            <a:r>
              <a:rPr lang="en-US" sz="1300" dirty="0">
                <a:solidFill>
                  <a:schemeClr val="tx1"/>
                </a:solidFill>
              </a:rPr>
              <a:t>Fahrzeugschein, Symptome und Fehlercodes liegen an verschiedenen Orten.</a:t>
            </a:r>
            <a:endParaRPr lang="en-US" sz="1300" dirty="0"/>
          </a:p>
        </p:txBody>
      </p:sp>
      <p:sp>
        <p:nvSpPr>
          <p:cNvPr id="16" name="Problem 3"/>
          <p:cNvSpPr/>
          <p:nvPr/>
        </p:nvSpPr>
        <p:spPr>
          <a:xfrm>
            <a:off x="6089904" y="2286000"/>
            <a:ext cx="2596896" cy="2240280"/>
          </a:xfrm>
          <a:prstGeom prst="roundRect">
            <a:avLst>
              <a:gd name="adj" fmla="val 3265"/>
            </a:avLst>
          </a:prstGeom>
          <a:solidFill>
            <a:schemeClr val="bg2"/>
          </a:solidFill>
          <a:ln w="12700">
            <a:solidFill>
              <a:schemeClr val="bg2"/>
            </a:solidFill>
            <a:prstDash val="solid"/>
          </a:ln>
        </p:spPr>
      </p:sp>
      <p:sp>
        <p:nvSpPr>
          <p:cNvPr id="17" name="Verlorene Zeit Kreis"/>
          <p:cNvSpPr/>
          <p:nvPr/>
        </p:nvSpPr>
        <p:spPr>
          <a:xfrm>
            <a:off x="6318504" y="2514600"/>
            <a:ext cx="594360" cy="594360"/>
          </a:xfrm>
          <a:prstGeom prst="ellipse">
            <a:avLst/>
          </a:prstGeom>
          <a:solidFill>
            <a:schemeClr val="accent4"/>
          </a:solidFill>
          <a:ln w="12700">
            <a:solidFill>
              <a:schemeClr val="accent4"/>
            </a:solidFill>
            <a:prstDash val="solid"/>
          </a:ln>
        </p:spPr>
      </p:sp>
      <p:pic>
        <p:nvPicPr>
          <p:cNvPr id="18" name="Verlorene Zeit Symbol" descr="Verlorene Zeit">    </p:cNvPr>
          <p:cNvPicPr>
            <a:picLocks noChangeAspect="1"/>
          </p:cNvPicPr>
          <p:nvPr/>
        </p:nvPicPr>
        <p:blipFill>
          <a:blip r:embed="rId3"/>
          <a:stretch>
            <a:fillRect/>
          </a:stretch>
        </p:blipFill>
        <p:spPr>
          <a:xfrm>
            <a:off x="6467094" y="2663190"/>
            <a:ext cx="297180" cy="297180"/>
          </a:xfrm>
          <a:prstGeom prst="rect">
            <a:avLst/>
          </a:prstGeom>
        </p:spPr>
      </p:pic>
      <p:sp>
        <p:nvSpPr>
          <p:cNvPr id="19" name="Text 14"/>
          <p:cNvSpPr txBox="1"/>
          <p:nvPr/>
        </p:nvSpPr>
        <p:spPr>
          <a:xfrm>
            <a:off x="6318504" y="3246120"/>
            <a:ext cx="2194560" cy="320040"/>
          </a:xfrm>
          <a:prstGeom prst="rect">
            <a:avLst/>
          </a:prstGeom>
          <a:noFill/>
          <a:ln/>
        </p:spPr>
        <p:txBody>
          <a:bodyPr wrap="square" lIns="0" tIns="0" rIns="0" bIns="0" rtlCol="0" anchor="t"/>
          <a:lstStyle/>
          <a:p>
            <a:pPr indent="0" marL="0">
              <a:buNone/>
            </a:pPr>
            <a:r>
              <a:rPr lang="en-US" sz="1600" b="1" dirty="0">
                <a:solidFill>
                  <a:schemeClr val="tx2"/>
                </a:solidFill>
              </a:rPr>
              <a:t>Verlorene Zeit</a:t>
            </a:r>
            <a:endParaRPr lang="en-US" sz="1600" dirty="0"/>
          </a:p>
        </p:txBody>
      </p:sp>
      <p:sp>
        <p:nvSpPr>
          <p:cNvPr id="20" name="Text 15"/>
          <p:cNvSpPr txBox="1"/>
          <p:nvPr/>
        </p:nvSpPr>
        <p:spPr>
          <a:xfrm>
            <a:off x="6318504" y="3611880"/>
            <a:ext cx="2194560" cy="822960"/>
          </a:xfrm>
          <a:prstGeom prst="rect">
            <a:avLst/>
          </a:prstGeom>
          <a:noFill/>
          <a:ln/>
        </p:spPr>
        <p:txBody>
          <a:bodyPr wrap="square" lIns="0" tIns="0" rIns="0" bIns="0" rtlCol="0" anchor="t"/>
          <a:lstStyle/>
          <a:p>
            <a:pPr indent="0" marL="0">
              <a:buNone/>
            </a:pPr>
            <a:r>
              <a:rPr lang="en-US" sz="1300" dirty="0">
                <a:solidFill>
                  <a:schemeClr val="tx1"/>
                </a:solidFill>
              </a:rPr>
              <a:t>Telefonate und Nachfragen verzögern die Vorbereitung.</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1 · LÖSUNG</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Vier Schritte zur fertigen Werkstattanfrage</a:t>
            </a:r>
            <a:endParaRPr lang="en-US" sz="3000" dirty="0"/>
          </a:p>
        </p:txBody>
      </p:sp>
      <p:sp>
        <p:nvSpPr>
          <p:cNvPr id="4" name="Erfassen Kreis"/>
          <p:cNvSpPr/>
          <p:nvPr/>
        </p:nvSpPr>
        <p:spPr>
          <a:xfrm>
            <a:off x="1005840" y="1463040"/>
            <a:ext cx="822960" cy="822960"/>
          </a:xfrm>
          <a:prstGeom prst="ellipse">
            <a:avLst/>
          </a:prstGeom>
          <a:solidFill>
            <a:schemeClr val="accent4"/>
          </a:solidFill>
          <a:ln w="12700">
            <a:solidFill>
              <a:schemeClr val="accent4"/>
            </a:solidFill>
            <a:prstDash val="solid"/>
          </a:ln>
        </p:spPr>
      </p:sp>
      <p:pic>
        <p:nvPicPr>
          <p:cNvPr id="5" name="Erfassen Symbol" descr="Erfassen">    </p:cNvPr>
          <p:cNvPicPr>
            <a:picLocks noChangeAspect="1"/>
          </p:cNvPicPr>
          <p:nvPr/>
        </p:nvPicPr>
        <p:blipFill>
          <a:blip r:embed="rId1"/>
          <a:stretch>
            <a:fillRect/>
          </a:stretch>
        </p:blipFill>
        <p:spPr>
          <a:xfrm>
            <a:off x="1211580" y="1668780"/>
            <a:ext cx="411480" cy="411480"/>
          </a:xfrm>
          <a:prstGeom prst="rect">
            <a:avLst/>
          </a:prstGeom>
        </p:spPr>
      </p:pic>
      <p:sp>
        <p:nvSpPr>
          <p:cNvPr id="6" name="Pfeil 1"/>
          <p:cNvSpPr/>
          <p:nvPr/>
        </p:nvSpPr>
        <p:spPr>
          <a:xfrm>
            <a:off x="1920240" y="1874520"/>
            <a:ext cx="1115568" cy="0"/>
          </a:xfrm>
          <a:prstGeom prst="line">
            <a:avLst/>
          </a:prstGeom>
          <a:noFill/>
          <a:ln w="19050">
            <a:solidFill>
              <a:srgbClr val="7A8599"/>
            </a:solidFill>
            <a:prstDash val="solid"/>
            <a:tailEnd type="triangle"/>
          </a:ln>
        </p:spPr>
      </p:sp>
      <p:sp>
        <p:nvSpPr>
          <p:cNvPr id="7" name="Text 4"/>
          <p:cNvSpPr txBox="1"/>
          <p:nvPr/>
        </p:nvSpPr>
        <p:spPr>
          <a:xfrm>
            <a:off x="457200" y="2423160"/>
            <a:ext cx="1920240" cy="365760"/>
          </a:xfrm>
          <a:prstGeom prst="rect">
            <a:avLst/>
          </a:prstGeom>
          <a:noFill/>
          <a:ln/>
        </p:spPr>
        <p:txBody>
          <a:bodyPr wrap="square" lIns="0" tIns="0" rIns="0" bIns="0" rtlCol="0" anchor="t"/>
          <a:lstStyle/>
          <a:p>
            <a:pPr algn="ctr" indent="0" marL="0">
              <a:buNone/>
            </a:pPr>
            <a:r>
              <a:rPr lang="en-US" sz="1700" b="1" dirty="0">
                <a:solidFill>
                  <a:schemeClr val="tx2"/>
                </a:solidFill>
              </a:rPr>
              <a:t>1  Erfassen</a:t>
            </a:r>
            <a:endParaRPr lang="en-US" sz="1700" dirty="0"/>
          </a:p>
        </p:txBody>
      </p:sp>
      <p:sp>
        <p:nvSpPr>
          <p:cNvPr id="8" name="Text 5"/>
          <p:cNvSpPr txBox="1"/>
          <p:nvPr/>
        </p:nvSpPr>
        <p:spPr>
          <a:xfrm>
            <a:off x="502920" y="2834640"/>
            <a:ext cx="1828800" cy="914400"/>
          </a:xfrm>
          <a:prstGeom prst="rect">
            <a:avLst/>
          </a:prstGeom>
          <a:noFill/>
          <a:ln/>
        </p:spPr>
        <p:txBody>
          <a:bodyPr wrap="square" lIns="0" tIns="0" rIns="0" bIns="0" rtlCol="0" anchor="t"/>
          <a:lstStyle/>
          <a:p>
            <a:pPr algn="ctr" indent="0" marL="0">
              <a:buNone/>
            </a:pPr>
            <a:r>
              <a:rPr lang="en-US" sz="1300" dirty="0">
                <a:solidFill>
                  <a:schemeClr val="tx1"/>
                </a:solidFill>
              </a:rPr>
              <a:t>Problem beschreiben, Fahrzeugschein fotografieren oder manuell eingeben</a:t>
            </a:r>
            <a:endParaRPr lang="en-US" sz="1300" dirty="0"/>
          </a:p>
        </p:txBody>
      </p:sp>
      <p:sp>
        <p:nvSpPr>
          <p:cNvPr id="9" name="Erkennen Kreis"/>
          <p:cNvSpPr/>
          <p:nvPr/>
        </p:nvSpPr>
        <p:spPr>
          <a:xfrm>
            <a:off x="3127248" y="1463040"/>
            <a:ext cx="822960" cy="822960"/>
          </a:xfrm>
          <a:prstGeom prst="ellipse">
            <a:avLst/>
          </a:prstGeom>
          <a:solidFill>
            <a:schemeClr val="accent6"/>
          </a:solidFill>
          <a:ln w="12700">
            <a:solidFill>
              <a:schemeClr val="accent6"/>
            </a:solidFill>
            <a:prstDash val="solid"/>
          </a:ln>
        </p:spPr>
      </p:sp>
      <p:pic>
        <p:nvPicPr>
          <p:cNvPr id="10" name="Erkennen Symbol" descr="Erkennen">    </p:cNvPr>
          <p:cNvPicPr>
            <a:picLocks noChangeAspect="1"/>
          </p:cNvPicPr>
          <p:nvPr/>
        </p:nvPicPr>
        <p:blipFill>
          <a:blip r:embed="rId2"/>
          <a:stretch>
            <a:fillRect/>
          </a:stretch>
        </p:blipFill>
        <p:spPr>
          <a:xfrm>
            <a:off x="3332988" y="1668780"/>
            <a:ext cx="411480" cy="411480"/>
          </a:xfrm>
          <a:prstGeom prst="rect">
            <a:avLst/>
          </a:prstGeom>
        </p:spPr>
      </p:pic>
      <p:sp>
        <p:nvSpPr>
          <p:cNvPr id="11" name="Pfeil 2"/>
          <p:cNvSpPr/>
          <p:nvPr/>
        </p:nvSpPr>
        <p:spPr>
          <a:xfrm>
            <a:off x="4041648" y="1874520"/>
            <a:ext cx="1115568" cy="0"/>
          </a:xfrm>
          <a:prstGeom prst="line">
            <a:avLst/>
          </a:prstGeom>
          <a:noFill/>
          <a:ln w="19050">
            <a:solidFill>
              <a:srgbClr val="7A8599"/>
            </a:solidFill>
            <a:prstDash val="solid"/>
            <a:tailEnd type="triangle"/>
          </a:ln>
        </p:spPr>
      </p:sp>
      <p:sp>
        <p:nvSpPr>
          <p:cNvPr id="12" name="Text 8"/>
          <p:cNvSpPr txBox="1"/>
          <p:nvPr/>
        </p:nvSpPr>
        <p:spPr>
          <a:xfrm>
            <a:off x="2578608" y="2423160"/>
            <a:ext cx="1920240" cy="365760"/>
          </a:xfrm>
          <a:prstGeom prst="rect">
            <a:avLst/>
          </a:prstGeom>
          <a:noFill/>
          <a:ln/>
        </p:spPr>
        <p:txBody>
          <a:bodyPr wrap="square" lIns="0" tIns="0" rIns="0" bIns="0" rtlCol="0" anchor="t"/>
          <a:lstStyle/>
          <a:p>
            <a:pPr algn="ctr" indent="0" marL="0">
              <a:buNone/>
            </a:pPr>
            <a:r>
              <a:rPr lang="en-US" sz="1700" b="1" dirty="0">
                <a:solidFill>
                  <a:schemeClr val="tx2"/>
                </a:solidFill>
              </a:rPr>
              <a:t>2  Erkennen</a:t>
            </a:r>
            <a:endParaRPr lang="en-US" sz="1700" dirty="0"/>
          </a:p>
        </p:txBody>
      </p:sp>
      <p:sp>
        <p:nvSpPr>
          <p:cNvPr id="13" name="Text 9"/>
          <p:cNvSpPr txBox="1"/>
          <p:nvPr/>
        </p:nvSpPr>
        <p:spPr>
          <a:xfrm>
            <a:off x="2624328" y="2834640"/>
            <a:ext cx="1828800" cy="914400"/>
          </a:xfrm>
          <a:prstGeom prst="rect">
            <a:avLst/>
          </a:prstGeom>
          <a:noFill/>
          <a:ln/>
        </p:spPr>
        <p:txBody>
          <a:bodyPr wrap="square" lIns="0" tIns="0" rIns="0" bIns="0" rtlCol="0" anchor="t"/>
          <a:lstStyle/>
          <a:p>
            <a:pPr algn="ctr" indent="0" marL="0">
              <a:buNone/>
            </a:pPr>
            <a:r>
              <a:rPr lang="en-US" sz="1300" dirty="0">
                <a:solidFill>
                  <a:schemeClr val="tx1"/>
                </a:solidFill>
              </a:rPr>
              <a:t>KI liest das Foto; OBD2 liefert Fehlercodes (simuliert)</a:t>
            </a:r>
            <a:endParaRPr lang="en-US" sz="1300" dirty="0"/>
          </a:p>
        </p:txBody>
      </p:sp>
      <p:sp>
        <p:nvSpPr>
          <p:cNvPr id="14" name="Aufbereiten Kreis"/>
          <p:cNvSpPr/>
          <p:nvPr/>
        </p:nvSpPr>
        <p:spPr>
          <a:xfrm>
            <a:off x="5248656" y="1463040"/>
            <a:ext cx="822960" cy="822960"/>
          </a:xfrm>
          <a:prstGeom prst="ellipse">
            <a:avLst/>
          </a:prstGeom>
          <a:solidFill>
            <a:schemeClr val="accent1"/>
          </a:solidFill>
          <a:ln w="12700">
            <a:solidFill>
              <a:schemeClr val="accent1"/>
            </a:solidFill>
            <a:prstDash val="solid"/>
          </a:ln>
        </p:spPr>
      </p:sp>
      <p:pic>
        <p:nvPicPr>
          <p:cNvPr id="15" name="Aufbereiten Symbol" descr="Aufbereiten">    </p:cNvPr>
          <p:cNvPicPr>
            <a:picLocks noChangeAspect="1"/>
          </p:cNvPicPr>
          <p:nvPr/>
        </p:nvPicPr>
        <p:blipFill>
          <a:blip r:embed="rId3"/>
          <a:stretch>
            <a:fillRect/>
          </a:stretch>
        </p:blipFill>
        <p:spPr>
          <a:xfrm>
            <a:off x="5454396" y="1668780"/>
            <a:ext cx="411480" cy="411480"/>
          </a:xfrm>
          <a:prstGeom prst="rect">
            <a:avLst/>
          </a:prstGeom>
        </p:spPr>
      </p:pic>
      <p:sp>
        <p:nvSpPr>
          <p:cNvPr id="16" name="Pfeil 3"/>
          <p:cNvSpPr/>
          <p:nvPr/>
        </p:nvSpPr>
        <p:spPr>
          <a:xfrm>
            <a:off x="6163056" y="1874520"/>
            <a:ext cx="1115568" cy="0"/>
          </a:xfrm>
          <a:prstGeom prst="line">
            <a:avLst/>
          </a:prstGeom>
          <a:noFill/>
          <a:ln w="19050">
            <a:solidFill>
              <a:srgbClr val="7A8599"/>
            </a:solidFill>
            <a:prstDash val="solid"/>
            <a:tailEnd type="triangle"/>
          </a:ln>
        </p:spPr>
      </p:sp>
      <p:sp>
        <p:nvSpPr>
          <p:cNvPr id="17" name="Text 12"/>
          <p:cNvSpPr txBox="1"/>
          <p:nvPr/>
        </p:nvSpPr>
        <p:spPr>
          <a:xfrm>
            <a:off x="4700016" y="2423160"/>
            <a:ext cx="1920240" cy="365760"/>
          </a:xfrm>
          <a:prstGeom prst="rect">
            <a:avLst/>
          </a:prstGeom>
          <a:noFill/>
          <a:ln/>
        </p:spPr>
        <p:txBody>
          <a:bodyPr wrap="square" lIns="0" tIns="0" rIns="0" bIns="0" rtlCol="0" anchor="t"/>
          <a:lstStyle/>
          <a:p>
            <a:pPr algn="ctr" indent="0" marL="0">
              <a:buNone/>
            </a:pPr>
            <a:r>
              <a:rPr lang="en-US" sz="1700" b="1" dirty="0">
                <a:solidFill>
                  <a:schemeClr val="tx2"/>
                </a:solidFill>
              </a:rPr>
              <a:t>3  Aufbereiten</a:t>
            </a:r>
            <a:endParaRPr lang="en-US" sz="1700" dirty="0"/>
          </a:p>
        </p:txBody>
      </p:sp>
      <p:sp>
        <p:nvSpPr>
          <p:cNvPr id="18" name="Text 13"/>
          <p:cNvSpPr txBox="1"/>
          <p:nvPr/>
        </p:nvSpPr>
        <p:spPr>
          <a:xfrm>
            <a:off x="4745736" y="2834640"/>
            <a:ext cx="1828800" cy="914400"/>
          </a:xfrm>
          <a:prstGeom prst="rect">
            <a:avLst/>
          </a:prstGeom>
          <a:noFill/>
          <a:ln/>
        </p:spPr>
        <p:txBody>
          <a:bodyPr wrap="square" lIns="0" tIns="0" rIns="0" bIns="0" rtlCol="0" anchor="t"/>
          <a:lstStyle/>
          <a:p>
            <a:pPr algn="ctr" indent="0" marL="0">
              <a:buNone/>
            </a:pPr>
            <a:r>
              <a:rPr lang="en-US" sz="1300" dirty="0">
                <a:solidFill>
                  <a:schemeClr val="tx1"/>
                </a:solidFill>
              </a:rPr>
              <a:t>KI schreibt Zusammenfassung, Rückfragen und Antwortentwurf</a:t>
            </a:r>
            <a:endParaRPr lang="en-US" sz="1300" dirty="0"/>
          </a:p>
        </p:txBody>
      </p:sp>
      <p:sp>
        <p:nvSpPr>
          <p:cNvPr id="19" name="Speichern Kreis"/>
          <p:cNvSpPr/>
          <p:nvPr/>
        </p:nvSpPr>
        <p:spPr>
          <a:xfrm>
            <a:off x="7370064" y="1463040"/>
            <a:ext cx="822960" cy="822960"/>
          </a:xfrm>
          <a:prstGeom prst="ellipse">
            <a:avLst/>
          </a:prstGeom>
          <a:solidFill>
            <a:schemeClr val="accent2"/>
          </a:solidFill>
          <a:ln w="12700">
            <a:solidFill>
              <a:schemeClr val="accent2"/>
            </a:solidFill>
            <a:prstDash val="solid"/>
          </a:ln>
        </p:spPr>
      </p:sp>
      <p:pic>
        <p:nvPicPr>
          <p:cNvPr id="20" name="Speichern Symbol" descr="Speichern">    </p:cNvPr>
          <p:cNvPicPr>
            <a:picLocks noChangeAspect="1"/>
          </p:cNvPicPr>
          <p:nvPr/>
        </p:nvPicPr>
        <p:blipFill>
          <a:blip r:embed="rId4"/>
          <a:stretch>
            <a:fillRect/>
          </a:stretch>
        </p:blipFill>
        <p:spPr>
          <a:xfrm>
            <a:off x="7575804" y="1668780"/>
            <a:ext cx="411480" cy="411480"/>
          </a:xfrm>
          <a:prstGeom prst="rect">
            <a:avLst/>
          </a:prstGeom>
        </p:spPr>
      </p:pic>
      <p:sp>
        <p:nvSpPr>
          <p:cNvPr id="21" name="Text 15"/>
          <p:cNvSpPr txBox="1"/>
          <p:nvPr/>
        </p:nvSpPr>
        <p:spPr>
          <a:xfrm>
            <a:off x="6821424" y="2423160"/>
            <a:ext cx="1920240" cy="365760"/>
          </a:xfrm>
          <a:prstGeom prst="rect">
            <a:avLst/>
          </a:prstGeom>
          <a:noFill/>
          <a:ln/>
        </p:spPr>
        <p:txBody>
          <a:bodyPr wrap="square" lIns="0" tIns="0" rIns="0" bIns="0" rtlCol="0" anchor="t"/>
          <a:lstStyle/>
          <a:p>
            <a:pPr algn="ctr" indent="0" marL="0">
              <a:buNone/>
            </a:pPr>
            <a:r>
              <a:rPr lang="en-US" sz="1700" b="1" dirty="0">
                <a:solidFill>
                  <a:schemeClr val="tx2"/>
                </a:solidFill>
              </a:rPr>
              <a:t>4  Speichern</a:t>
            </a:r>
            <a:endParaRPr lang="en-US" sz="1700" dirty="0"/>
          </a:p>
        </p:txBody>
      </p:sp>
      <p:sp>
        <p:nvSpPr>
          <p:cNvPr id="22" name="Text 16"/>
          <p:cNvSpPr txBox="1"/>
          <p:nvPr/>
        </p:nvSpPr>
        <p:spPr>
          <a:xfrm>
            <a:off x="6867144" y="2834640"/>
            <a:ext cx="1828800" cy="914400"/>
          </a:xfrm>
          <a:prstGeom prst="rect">
            <a:avLst/>
          </a:prstGeom>
          <a:noFill/>
          <a:ln/>
        </p:spPr>
        <p:txBody>
          <a:bodyPr wrap="square" lIns="0" tIns="0" rIns="0" bIns="0" rtlCol="0" anchor="t"/>
          <a:lstStyle/>
          <a:p>
            <a:pPr algn="ctr" indent="0" marL="0">
              <a:buNone/>
            </a:pPr>
            <a:r>
              <a:rPr lang="en-US" sz="1300" dirty="0">
                <a:solidFill>
                  <a:schemeClr val="tx1"/>
                </a:solidFill>
              </a:rPr>
              <a:t>Bericht in Supabase; bei Fehlern ein Alert</a:t>
            </a:r>
            <a:endParaRPr lang="en-US" sz="1300" dirty="0"/>
          </a:p>
        </p:txBody>
      </p:sp>
      <p:sp>
        <p:nvSpPr>
          <p:cNvPr id="23" name="Leitsatz"/>
          <p:cNvSpPr/>
          <p:nvPr/>
        </p:nvSpPr>
        <p:spPr>
          <a:xfrm>
            <a:off x="457200" y="3931920"/>
            <a:ext cx="8229600" cy="640080"/>
          </a:xfrm>
          <a:prstGeom prst="roundRect">
            <a:avLst>
              <a:gd name="adj" fmla="val 11429"/>
            </a:avLst>
          </a:prstGeom>
          <a:solidFill>
            <a:schemeClr val="bg2"/>
          </a:solidFill>
          <a:ln w="12700">
            <a:solidFill>
              <a:schemeClr val="bg2"/>
            </a:solidFill>
            <a:prstDash val="solid"/>
          </a:ln>
        </p:spPr>
      </p:sp>
      <p:sp>
        <p:nvSpPr>
          <p:cNvPr id="24" name="Text 18"/>
          <p:cNvSpPr txBox="1"/>
          <p:nvPr/>
        </p:nvSpPr>
        <p:spPr>
          <a:xfrm>
            <a:off x="685800" y="3931920"/>
            <a:ext cx="7772400" cy="640080"/>
          </a:xfrm>
          <a:prstGeom prst="rect">
            <a:avLst/>
          </a:prstGeom>
          <a:noFill/>
          <a:ln/>
        </p:spPr>
        <p:txBody>
          <a:bodyPr wrap="square" lIns="0" tIns="0" rIns="0" bIns="0" rtlCol="0" anchor="ctr"/>
          <a:lstStyle/>
          <a:p>
            <a:pPr indent="0" marL="0">
              <a:buNone/>
            </a:pPr>
            <a:r>
              <a:rPr lang="en-US" sz="1400" b="1" dirty="0">
                <a:solidFill>
                  <a:schemeClr val="accent2"/>
                </a:solidFill>
              </a:rPr>
              <a:t>Leitidee: </a:t>
            </a:r>
            <a:pPr indent="0" marL="0">
              <a:buNone/>
            </a:pPr>
            <a:r>
              <a:rPr lang="en-US" sz="1400" dirty="0">
                <a:solidFill>
                  <a:schemeClr val="tx2"/>
                </a:solidFill>
              </a:rPr>
              <a:t>Die KI unterstützt die Werkstatt – sie ersetzt sie nicht. Keine Diagnose, keine Preise, keine Terminzusage.</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2 · ARCHITEKTUR</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Ein Hauptworkflow, zwei Subworkflows</a:t>
            </a:r>
            <a:endParaRPr lang="en-US" sz="3000" dirty="0"/>
          </a:p>
        </p:txBody>
      </p:sp>
      <p:sp>
        <p:nvSpPr>
          <p:cNvPr id="4" name="Block 1"/>
          <p:cNvSpPr/>
          <p:nvPr/>
        </p:nvSpPr>
        <p:spPr>
          <a:xfrm>
            <a:off x="457200" y="1417320"/>
            <a:ext cx="1243584" cy="1325880"/>
          </a:xfrm>
          <a:prstGeom prst="roundRect">
            <a:avLst>
              <a:gd name="adj" fmla="val 5882"/>
            </a:avLst>
          </a:prstGeom>
          <a:solidFill>
            <a:schemeClr val="accent4"/>
          </a:solidFill>
          <a:ln w="12700">
            <a:solidFill>
              <a:schemeClr val="accent4"/>
            </a:solidFill>
            <a:prstDash val="solid"/>
          </a:ln>
        </p:spPr>
      </p:sp>
      <p:sp>
        <p:nvSpPr>
          <p:cNvPr id="5" name="Text 3"/>
          <p:cNvSpPr txBox="1"/>
          <p:nvPr/>
        </p:nvSpPr>
        <p:spPr>
          <a:xfrm>
            <a:off x="548640" y="1508760"/>
            <a:ext cx="1060704" cy="457200"/>
          </a:xfrm>
          <a:prstGeom prst="rect">
            <a:avLst/>
          </a:prstGeom>
          <a:noFill/>
          <a:ln/>
        </p:spPr>
        <p:txBody>
          <a:bodyPr wrap="square" lIns="0" tIns="0" rIns="0" bIns="0" rtlCol="0" anchor="t"/>
          <a:lstStyle/>
          <a:p>
            <a:pPr indent="0" marL="0">
              <a:buNone/>
            </a:pPr>
            <a:r>
              <a:rPr lang="en-US" sz="1300" b="1" dirty="0">
                <a:solidFill>
                  <a:schemeClr val="bg1"/>
                </a:solidFill>
              </a:rPr>
              <a:t>① Eingang</a:t>
            </a:r>
            <a:endParaRPr lang="en-US" sz="1300" dirty="0"/>
          </a:p>
        </p:txBody>
      </p:sp>
      <p:sp>
        <p:nvSpPr>
          <p:cNvPr id="6" name="Text 4"/>
          <p:cNvSpPr txBox="1"/>
          <p:nvPr/>
        </p:nvSpPr>
        <p:spPr>
          <a:xfrm>
            <a:off x="548640" y="2011680"/>
            <a:ext cx="1060704" cy="685800"/>
          </a:xfrm>
          <a:prstGeom prst="rect">
            <a:avLst/>
          </a:prstGeom>
          <a:noFill/>
          <a:ln/>
        </p:spPr>
        <p:txBody>
          <a:bodyPr wrap="square" lIns="0" tIns="0" rIns="0" bIns="0" rtlCol="0" anchor="t"/>
          <a:lstStyle/>
          <a:p>
            <a:pPr indent="0" marL="0">
              <a:buNone/>
            </a:pPr>
            <a:r>
              <a:rPr lang="en-US" sz="1100" dirty="0">
                <a:solidFill>
                  <a:schemeClr val="bg1"/>
                </a:solidFill>
              </a:rPr>
              <a:t>Formular oder manueller Start</a:t>
            </a:r>
            <a:endParaRPr lang="en-US" sz="1100" dirty="0"/>
          </a:p>
        </p:txBody>
      </p:sp>
      <p:sp>
        <p:nvSpPr>
          <p:cNvPr id="7" name="Pfeil Block 1"/>
          <p:cNvSpPr/>
          <p:nvPr/>
        </p:nvSpPr>
        <p:spPr>
          <a:xfrm>
            <a:off x="1709928" y="2075688"/>
            <a:ext cx="128016" cy="0"/>
          </a:xfrm>
          <a:prstGeom prst="line">
            <a:avLst/>
          </a:prstGeom>
          <a:noFill/>
          <a:ln w="19050">
            <a:solidFill>
              <a:srgbClr val="14213D"/>
            </a:solidFill>
            <a:prstDash val="solid"/>
            <a:tailEnd type="triangle"/>
          </a:ln>
        </p:spPr>
      </p:sp>
      <p:sp>
        <p:nvSpPr>
          <p:cNvPr id="8" name="Block 2"/>
          <p:cNvSpPr/>
          <p:nvPr/>
        </p:nvSpPr>
        <p:spPr>
          <a:xfrm>
            <a:off x="1847088" y="1417320"/>
            <a:ext cx="1243584" cy="1325880"/>
          </a:xfrm>
          <a:prstGeom prst="roundRect">
            <a:avLst>
              <a:gd name="adj" fmla="val 5882"/>
            </a:avLst>
          </a:prstGeom>
          <a:solidFill>
            <a:schemeClr val="accent6"/>
          </a:solidFill>
          <a:ln w="12700">
            <a:solidFill>
              <a:schemeClr val="accent6"/>
            </a:solidFill>
            <a:prstDash val="solid"/>
          </a:ln>
        </p:spPr>
      </p:sp>
      <p:sp>
        <p:nvSpPr>
          <p:cNvPr id="9" name="Text 7"/>
          <p:cNvSpPr txBox="1"/>
          <p:nvPr/>
        </p:nvSpPr>
        <p:spPr>
          <a:xfrm>
            <a:off x="1938528" y="1508760"/>
            <a:ext cx="1060704" cy="457200"/>
          </a:xfrm>
          <a:prstGeom prst="rect">
            <a:avLst/>
          </a:prstGeom>
          <a:noFill/>
          <a:ln/>
        </p:spPr>
        <p:txBody>
          <a:bodyPr wrap="square" lIns="0" tIns="0" rIns="0" bIns="0" rtlCol="0" anchor="t"/>
          <a:lstStyle/>
          <a:p>
            <a:pPr indent="0" marL="0">
              <a:buNone/>
            </a:pPr>
            <a:r>
              <a:rPr lang="en-US" sz="1300" b="1" dirty="0">
                <a:solidFill>
                  <a:schemeClr val="bg1"/>
                </a:solidFill>
              </a:rPr>
              <a:t>② OBD2 + Prüfung</a:t>
            </a:r>
            <a:endParaRPr lang="en-US" sz="1300" dirty="0"/>
          </a:p>
        </p:txBody>
      </p:sp>
      <p:sp>
        <p:nvSpPr>
          <p:cNvPr id="10" name="Text 8"/>
          <p:cNvSpPr txBox="1"/>
          <p:nvPr/>
        </p:nvSpPr>
        <p:spPr>
          <a:xfrm>
            <a:off x="1938528" y="2011680"/>
            <a:ext cx="1060704" cy="685800"/>
          </a:xfrm>
          <a:prstGeom prst="rect">
            <a:avLst/>
          </a:prstGeom>
          <a:noFill/>
          <a:ln/>
        </p:spPr>
        <p:txBody>
          <a:bodyPr wrap="square" lIns="0" tIns="0" rIns="0" bIns="0" rtlCol="0" anchor="t"/>
          <a:lstStyle/>
          <a:p>
            <a:pPr indent="0" marL="0">
              <a:buNone/>
            </a:pPr>
            <a:r>
              <a:rPr lang="en-US" sz="1100" dirty="0">
                <a:solidFill>
                  <a:schemeClr val="bg1"/>
                </a:solidFill>
              </a:rPr>
              <a:t>Werte prüfen und normalisieren</a:t>
            </a:r>
            <a:endParaRPr lang="en-US" sz="1100" dirty="0"/>
          </a:p>
        </p:txBody>
      </p:sp>
      <p:sp>
        <p:nvSpPr>
          <p:cNvPr id="11" name="Pfeil Block 2"/>
          <p:cNvSpPr/>
          <p:nvPr/>
        </p:nvSpPr>
        <p:spPr>
          <a:xfrm>
            <a:off x="3099816" y="2075688"/>
            <a:ext cx="128016" cy="0"/>
          </a:xfrm>
          <a:prstGeom prst="line">
            <a:avLst/>
          </a:prstGeom>
          <a:noFill/>
          <a:ln w="19050">
            <a:solidFill>
              <a:srgbClr val="14213D"/>
            </a:solidFill>
            <a:prstDash val="solid"/>
            <a:tailEnd type="triangle"/>
          </a:ln>
        </p:spPr>
      </p:sp>
      <p:sp>
        <p:nvSpPr>
          <p:cNvPr id="12" name="Block 3"/>
          <p:cNvSpPr/>
          <p:nvPr/>
        </p:nvSpPr>
        <p:spPr>
          <a:xfrm>
            <a:off x="3236976" y="1417320"/>
            <a:ext cx="1243584" cy="1325880"/>
          </a:xfrm>
          <a:prstGeom prst="roundRect">
            <a:avLst>
              <a:gd name="adj" fmla="val 5882"/>
            </a:avLst>
          </a:prstGeom>
          <a:solidFill>
            <a:schemeClr val="accent2"/>
          </a:solidFill>
          <a:ln w="12700">
            <a:solidFill>
              <a:schemeClr val="accent2"/>
            </a:solidFill>
            <a:prstDash val="solid"/>
          </a:ln>
        </p:spPr>
      </p:sp>
      <p:sp>
        <p:nvSpPr>
          <p:cNvPr id="13" name="Text 11"/>
          <p:cNvSpPr txBox="1"/>
          <p:nvPr/>
        </p:nvSpPr>
        <p:spPr>
          <a:xfrm>
            <a:off x="3328416" y="1508760"/>
            <a:ext cx="1060704" cy="457200"/>
          </a:xfrm>
          <a:prstGeom prst="rect">
            <a:avLst/>
          </a:prstGeom>
          <a:noFill/>
          <a:ln/>
        </p:spPr>
        <p:txBody>
          <a:bodyPr wrap="square" lIns="0" tIns="0" rIns="0" bIns="0" rtlCol="0" anchor="t"/>
          <a:lstStyle/>
          <a:p>
            <a:pPr indent="0" marL="0">
              <a:buNone/>
            </a:pPr>
            <a:r>
              <a:rPr lang="en-US" sz="1300" b="1" dirty="0">
                <a:solidFill>
                  <a:schemeClr val="bg1"/>
                </a:solidFill>
              </a:rPr>
              <a:t>③ Fahrzeugdaten</a:t>
            </a:r>
            <a:endParaRPr lang="en-US" sz="1300" dirty="0"/>
          </a:p>
        </p:txBody>
      </p:sp>
      <p:sp>
        <p:nvSpPr>
          <p:cNvPr id="14" name="Text 12"/>
          <p:cNvSpPr txBox="1"/>
          <p:nvPr/>
        </p:nvSpPr>
        <p:spPr>
          <a:xfrm>
            <a:off x="3328416" y="2011680"/>
            <a:ext cx="1060704" cy="685800"/>
          </a:xfrm>
          <a:prstGeom prst="rect">
            <a:avLst/>
          </a:prstGeom>
          <a:noFill/>
          <a:ln/>
        </p:spPr>
        <p:txBody>
          <a:bodyPr wrap="square" lIns="0" tIns="0" rIns="0" bIns="0" rtlCol="0" anchor="t"/>
          <a:lstStyle/>
          <a:p>
            <a:pPr indent="0" marL="0">
              <a:buNone/>
            </a:pPr>
            <a:r>
              <a:rPr lang="en-US" sz="1100" dirty="0">
                <a:solidFill>
                  <a:schemeClr val="bg1"/>
                </a:solidFill>
              </a:rPr>
              <a:t>vPIC-API nur mit gesicherter FIN</a:t>
            </a:r>
            <a:endParaRPr lang="en-US" sz="1100" dirty="0"/>
          </a:p>
        </p:txBody>
      </p:sp>
      <p:sp>
        <p:nvSpPr>
          <p:cNvPr id="15" name="Pfeil Block 3"/>
          <p:cNvSpPr/>
          <p:nvPr/>
        </p:nvSpPr>
        <p:spPr>
          <a:xfrm>
            <a:off x="4489704" y="2075688"/>
            <a:ext cx="128016" cy="0"/>
          </a:xfrm>
          <a:prstGeom prst="line">
            <a:avLst/>
          </a:prstGeom>
          <a:noFill/>
          <a:ln w="19050">
            <a:solidFill>
              <a:srgbClr val="14213D"/>
            </a:solidFill>
            <a:prstDash val="solid"/>
            <a:tailEnd type="triangle"/>
          </a:ln>
        </p:spPr>
      </p:sp>
      <p:sp>
        <p:nvSpPr>
          <p:cNvPr id="16" name="Block 4"/>
          <p:cNvSpPr/>
          <p:nvPr/>
        </p:nvSpPr>
        <p:spPr>
          <a:xfrm>
            <a:off x="4626864" y="1417320"/>
            <a:ext cx="1243584" cy="1325880"/>
          </a:xfrm>
          <a:prstGeom prst="roundRect">
            <a:avLst>
              <a:gd name="adj" fmla="val 5882"/>
            </a:avLst>
          </a:prstGeom>
          <a:solidFill>
            <a:schemeClr val="accent1"/>
          </a:solidFill>
          <a:ln w="12700">
            <a:solidFill>
              <a:schemeClr val="accent1"/>
            </a:solidFill>
            <a:prstDash val="solid"/>
          </a:ln>
        </p:spPr>
      </p:sp>
      <p:sp>
        <p:nvSpPr>
          <p:cNvPr id="17" name="Text 15"/>
          <p:cNvSpPr txBox="1"/>
          <p:nvPr/>
        </p:nvSpPr>
        <p:spPr>
          <a:xfrm>
            <a:off x="4718304" y="1508760"/>
            <a:ext cx="1060704" cy="457200"/>
          </a:xfrm>
          <a:prstGeom prst="rect">
            <a:avLst/>
          </a:prstGeom>
          <a:noFill/>
          <a:ln/>
        </p:spPr>
        <p:txBody>
          <a:bodyPr wrap="square" lIns="0" tIns="0" rIns="0" bIns="0" rtlCol="0" anchor="t"/>
          <a:lstStyle/>
          <a:p>
            <a:pPr indent="0" marL="0">
              <a:buNone/>
            </a:pPr>
            <a:r>
              <a:rPr lang="en-US" sz="1300" b="1" dirty="0">
                <a:solidFill>
                  <a:schemeClr val="tx2"/>
                </a:solidFill>
              </a:rPr>
              <a:t>④ KI-Bericht</a:t>
            </a:r>
            <a:endParaRPr lang="en-US" sz="1300" dirty="0"/>
          </a:p>
        </p:txBody>
      </p:sp>
      <p:sp>
        <p:nvSpPr>
          <p:cNvPr id="18" name="Text 16"/>
          <p:cNvSpPr txBox="1"/>
          <p:nvPr/>
        </p:nvSpPr>
        <p:spPr>
          <a:xfrm>
            <a:off x="4718304" y="2011680"/>
            <a:ext cx="1060704" cy="685800"/>
          </a:xfrm>
          <a:prstGeom prst="rect">
            <a:avLst/>
          </a:prstGeom>
          <a:noFill/>
          <a:ln/>
        </p:spPr>
        <p:txBody>
          <a:bodyPr wrap="square" lIns="0" tIns="0" rIns="0" bIns="0" rtlCol="0" anchor="t"/>
          <a:lstStyle/>
          <a:p>
            <a:pPr indent="0" marL="0">
              <a:buNone/>
            </a:pPr>
            <a:r>
              <a:rPr lang="en-US" sz="1100" dirty="0">
                <a:solidFill>
                  <a:schemeClr val="tx2"/>
                </a:solidFill>
              </a:rPr>
              <a:t>OpenAI gpt-4.1-mini, festes JSON-Schema</a:t>
            </a:r>
            <a:endParaRPr lang="en-US" sz="1100" dirty="0"/>
          </a:p>
        </p:txBody>
      </p:sp>
      <p:sp>
        <p:nvSpPr>
          <p:cNvPr id="19" name="Pfeil Block 4"/>
          <p:cNvSpPr/>
          <p:nvPr/>
        </p:nvSpPr>
        <p:spPr>
          <a:xfrm>
            <a:off x="5879592" y="2075688"/>
            <a:ext cx="128016" cy="0"/>
          </a:xfrm>
          <a:prstGeom prst="line">
            <a:avLst/>
          </a:prstGeom>
          <a:noFill/>
          <a:ln w="19050">
            <a:solidFill>
              <a:srgbClr val="14213D"/>
            </a:solidFill>
            <a:prstDash val="solid"/>
            <a:tailEnd type="triangle"/>
          </a:ln>
        </p:spPr>
      </p:sp>
      <p:sp>
        <p:nvSpPr>
          <p:cNvPr id="20" name="Block 5"/>
          <p:cNvSpPr/>
          <p:nvPr/>
        </p:nvSpPr>
        <p:spPr>
          <a:xfrm>
            <a:off x="6016752" y="1417320"/>
            <a:ext cx="1243584" cy="1325880"/>
          </a:xfrm>
          <a:prstGeom prst="roundRect">
            <a:avLst>
              <a:gd name="adj" fmla="val 5882"/>
            </a:avLst>
          </a:prstGeom>
          <a:solidFill>
            <a:schemeClr val="accent5"/>
          </a:solidFill>
          <a:ln w="12700">
            <a:solidFill>
              <a:schemeClr val="accent5"/>
            </a:solidFill>
            <a:prstDash val="solid"/>
          </a:ln>
        </p:spPr>
      </p:sp>
      <p:sp>
        <p:nvSpPr>
          <p:cNvPr id="21" name="Text 19"/>
          <p:cNvSpPr txBox="1"/>
          <p:nvPr/>
        </p:nvSpPr>
        <p:spPr>
          <a:xfrm>
            <a:off x="6108192" y="1508760"/>
            <a:ext cx="1060704" cy="457200"/>
          </a:xfrm>
          <a:prstGeom prst="rect">
            <a:avLst/>
          </a:prstGeom>
          <a:noFill/>
          <a:ln/>
        </p:spPr>
        <p:txBody>
          <a:bodyPr wrap="square" lIns="0" tIns="0" rIns="0" bIns="0" rtlCol="0" anchor="t"/>
          <a:lstStyle/>
          <a:p>
            <a:pPr indent="0" marL="0">
              <a:buNone/>
            </a:pPr>
            <a:r>
              <a:rPr lang="en-US" sz="1300" b="1" dirty="0">
                <a:solidFill>
                  <a:schemeClr val="bg1"/>
                </a:solidFill>
              </a:rPr>
              <a:t>⑤ Speichern</a:t>
            </a:r>
            <a:endParaRPr lang="en-US" sz="1300" dirty="0"/>
          </a:p>
        </p:txBody>
      </p:sp>
      <p:sp>
        <p:nvSpPr>
          <p:cNvPr id="22" name="Text 20"/>
          <p:cNvSpPr txBox="1"/>
          <p:nvPr/>
        </p:nvSpPr>
        <p:spPr>
          <a:xfrm>
            <a:off x="6108192" y="2011680"/>
            <a:ext cx="1060704" cy="685800"/>
          </a:xfrm>
          <a:prstGeom prst="rect">
            <a:avLst/>
          </a:prstGeom>
          <a:noFill/>
          <a:ln/>
        </p:spPr>
        <p:txBody>
          <a:bodyPr wrap="square" lIns="0" tIns="0" rIns="0" bIns="0" rtlCol="0" anchor="t"/>
          <a:lstStyle/>
          <a:p>
            <a:pPr indent="0" marL="0">
              <a:buNone/>
            </a:pPr>
            <a:r>
              <a:rPr lang="en-US" sz="1100" dirty="0">
                <a:solidFill>
                  <a:schemeClr val="bg1"/>
                </a:solidFill>
              </a:rPr>
              <a:t>Bericht + Protokoll in Supabase</a:t>
            </a:r>
            <a:endParaRPr lang="en-US" sz="1100" dirty="0"/>
          </a:p>
        </p:txBody>
      </p:sp>
      <p:sp>
        <p:nvSpPr>
          <p:cNvPr id="23" name="Pfeil Block 5"/>
          <p:cNvSpPr/>
          <p:nvPr/>
        </p:nvSpPr>
        <p:spPr>
          <a:xfrm>
            <a:off x="7269480" y="2075688"/>
            <a:ext cx="128016" cy="0"/>
          </a:xfrm>
          <a:prstGeom prst="line">
            <a:avLst/>
          </a:prstGeom>
          <a:noFill/>
          <a:ln w="19050">
            <a:solidFill>
              <a:srgbClr val="14213D"/>
            </a:solidFill>
            <a:prstDash val="solid"/>
            <a:tailEnd type="triangle"/>
          </a:ln>
        </p:spPr>
      </p:sp>
      <p:sp>
        <p:nvSpPr>
          <p:cNvPr id="24" name="Block 6"/>
          <p:cNvSpPr/>
          <p:nvPr/>
        </p:nvSpPr>
        <p:spPr>
          <a:xfrm>
            <a:off x="7406640" y="1417320"/>
            <a:ext cx="1243584" cy="1325880"/>
          </a:xfrm>
          <a:prstGeom prst="roundRect">
            <a:avLst>
              <a:gd name="adj" fmla="val 5882"/>
            </a:avLst>
          </a:prstGeom>
          <a:solidFill>
            <a:schemeClr val="accent3"/>
          </a:solidFill>
          <a:ln w="12700">
            <a:solidFill>
              <a:schemeClr val="accent3"/>
            </a:solidFill>
            <a:prstDash val="solid"/>
          </a:ln>
        </p:spPr>
      </p:sp>
      <p:sp>
        <p:nvSpPr>
          <p:cNvPr id="25" name="Text 23"/>
          <p:cNvSpPr txBox="1"/>
          <p:nvPr/>
        </p:nvSpPr>
        <p:spPr>
          <a:xfrm>
            <a:off x="7498080" y="1508760"/>
            <a:ext cx="1060704" cy="457200"/>
          </a:xfrm>
          <a:prstGeom prst="rect">
            <a:avLst/>
          </a:prstGeom>
          <a:noFill/>
          <a:ln/>
        </p:spPr>
        <p:txBody>
          <a:bodyPr wrap="square" lIns="0" tIns="0" rIns="0" bIns="0" rtlCol="0" anchor="t"/>
          <a:lstStyle/>
          <a:p>
            <a:pPr indent="0" marL="0">
              <a:buNone/>
            </a:pPr>
            <a:r>
              <a:rPr lang="en-US" sz="1300" b="1" dirty="0">
                <a:solidFill>
                  <a:schemeClr val="bg1"/>
                </a:solidFill>
              </a:rPr>
              <a:t>⑥ Alert + Ergebnis</a:t>
            </a:r>
            <a:endParaRPr lang="en-US" sz="1300" dirty="0"/>
          </a:p>
        </p:txBody>
      </p:sp>
      <p:sp>
        <p:nvSpPr>
          <p:cNvPr id="26" name="Text 24"/>
          <p:cNvSpPr txBox="1"/>
          <p:nvPr/>
        </p:nvSpPr>
        <p:spPr>
          <a:xfrm>
            <a:off x="7498080" y="2011680"/>
            <a:ext cx="1060704" cy="685800"/>
          </a:xfrm>
          <a:prstGeom prst="rect">
            <a:avLst/>
          </a:prstGeom>
          <a:noFill/>
          <a:ln/>
        </p:spPr>
        <p:txBody>
          <a:bodyPr wrap="square" lIns="0" tIns="0" rIns="0" bIns="0" rtlCol="0" anchor="t"/>
          <a:lstStyle/>
          <a:p>
            <a:pPr indent="0" marL="0">
              <a:buNone/>
            </a:pPr>
            <a:r>
              <a:rPr lang="en-US" sz="1100" dirty="0">
                <a:solidFill>
                  <a:schemeClr val="bg1"/>
                </a:solidFill>
              </a:rPr>
              <a:t>Kritische Fehler melden</a:t>
            </a:r>
            <a:endParaRPr lang="en-US" sz="1100" dirty="0"/>
          </a:p>
        </p:txBody>
      </p:sp>
      <p:sp>
        <p:nvSpPr>
          <p:cNvPr id="27" name="Verbindung Sub 1"/>
          <p:cNvSpPr/>
          <p:nvPr/>
        </p:nvSpPr>
        <p:spPr>
          <a:xfrm>
            <a:off x="1078992" y="2743200"/>
            <a:ext cx="0" cy="274320"/>
          </a:xfrm>
          <a:prstGeom prst="line">
            <a:avLst/>
          </a:prstGeom>
          <a:noFill/>
          <a:ln w="15875">
            <a:solidFill>
              <a:srgbClr val="7A8599"/>
            </a:solidFill>
            <a:prstDash val="dash"/>
          </a:ln>
        </p:spPr>
      </p:sp>
      <p:sp>
        <p:nvSpPr>
          <p:cNvPr id="28" name="Subworkflow 1"/>
          <p:cNvSpPr/>
          <p:nvPr/>
        </p:nvSpPr>
        <p:spPr>
          <a:xfrm>
            <a:off x="457200" y="3017520"/>
            <a:ext cx="1243584" cy="1143000"/>
          </a:xfrm>
          <a:prstGeom prst="roundRect">
            <a:avLst>
              <a:gd name="adj" fmla="val 6400"/>
            </a:avLst>
          </a:prstGeom>
          <a:solidFill>
            <a:schemeClr val="bg2"/>
          </a:solidFill>
          <a:ln w="12700">
            <a:solidFill>
              <a:schemeClr val="bg2"/>
            </a:solidFill>
            <a:prstDash val="solid"/>
          </a:ln>
        </p:spPr>
      </p:sp>
      <p:sp>
        <p:nvSpPr>
          <p:cNvPr id="29" name="Text 27"/>
          <p:cNvSpPr txBox="1"/>
          <p:nvPr/>
        </p:nvSpPr>
        <p:spPr>
          <a:xfrm>
            <a:off x="548640" y="3090672"/>
            <a:ext cx="1097280" cy="274320"/>
          </a:xfrm>
          <a:prstGeom prst="rect">
            <a:avLst/>
          </a:prstGeom>
          <a:noFill/>
          <a:ln/>
        </p:spPr>
        <p:txBody>
          <a:bodyPr wrap="square" lIns="0" tIns="0" rIns="0" bIns="0" rtlCol="0" anchor="t"/>
          <a:lstStyle/>
          <a:p>
            <a:pPr indent="0" marL="0">
              <a:buNone/>
            </a:pPr>
            <a:r>
              <a:rPr lang="en-US" sz="1200" b="1" dirty="0">
                <a:solidFill>
                  <a:schemeClr val="tx2"/>
                </a:solidFill>
              </a:rPr>
              <a:t>Subworkflow 1</a:t>
            </a:r>
            <a:endParaRPr lang="en-US" sz="1200" dirty="0"/>
          </a:p>
        </p:txBody>
      </p:sp>
      <p:sp>
        <p:nvSpPr>
          <p:cNvPr id="30" name="Text 28"/>
          <p:cNvSpPr txBox="1"/>
          <p:nvPr/>
        </p:nvSpPr>
        <p:spPr>
          <a:xfrm>
            <a:off x="548640" y="3383280"/>
            <a:ext cx="1097280" cy="731520"/>
          </a:xfrm>
          <a:prstGeom prst="rect">
            <a:avLst/>
          </a:prstGeom>
          <a:noFill/>
          <a:ln/>
        </p:spPr>
        <p:txBody>
          <a:bodyPr wrap="square" lIns="0" tIns="0" rIns="0" bIns="0" rtlCol="0" anchor="t"/>
          <a:lstStyle/>
          <a:p>
            <a:pPr indent="0" marL="0">
              <a:buNone/>
            </a:pPr>
            <a:r>
              <a:rPr lang="en-US" sz="1050" dirty="0">
                <a:solidFill>
                  <a:schemeClr val="tx1"/>
                </a:solidFill>
              </a:rPr>
              <a:t>Eingabe prüfen + Fahrzeugschein-Foto per KI lesen</a:t>
            </a:r>
            <a:endParaRPr lang="en-US" sz="1050" dirty="0"/>
          </a:p>
        </p:txBody>
      </p:sp>
      <p:sp>
        <p:nvSpPr>
          <p:cNvPr id="31" name="Verbindung Sub 2"/>
          <p:cNvSpPr/>
          <p:nvPr/>
        </p:nvSpPr>
        <p:spPr>
          <a:xfrm>
            <a:off x="2468880" y="2743200"/>
            <a:ext cx="0" cy="274320"/>
          </a:xfrm>
          <a:prstGeom prst="line">
            <a:avLst/>
          </a:prstGeom>
          <a:noFill/>
          <a:ln w="15875">
            <a:solidFill>
              <a:srgbClr val="7A8599"/>
            </a:solidFill>
            <a:prstDash val="dash"/>
          </a:ln>
        </p:spPr>
      </p:sp>
      <p:sp>
        <p:nvSpPr>
          <p:cNvPr id="32" name="Subworkflow 2"/>
          <p:cNvSpPr/>
          <p:nvPr/>
        </p:nvSpPr>
        <p:spPr>
          <a:xfrm>
            <a:off x="1847088" y="3017520"/>
            <a:ext cx="1243584" cy="1143000"/>
          </a:xfrm>
          <a:prstGeom prst="roundRect">
            <a:avLst>
              <a:gd name="adj" fmla="val 6400"/>
            </a:avLst>
          </a:prstGeom>
          <a:solidFill>
            <a:schemeClr val="bg2"/>
          </a:solidFill>
          <a:ln w="12700">
            <a:solidFill>
              <a:schemeClr val="bg2"/>
            </a:solidFill>
            <a:prstDash val="solid"/>
          </a:ln>
        </p:spPr>
      </p:sp>
      <p:sp>
        <p:nvSpPr>
          <p:cNvPr id="33" name="Text 31"/>
          <p:cNvSpPr txBox="1"/>
          <p:nvPr/>
        </p:nvSpPr>
        <p:spPr>
          <a:xfrm>
            <a:off x="1938528" y="3090672"/>
            <a:ext cx="1097280" cy="274320"/>
          </a:xfrm>
          <a:prstGeom prst="rect">
            <a:avLst/>
          </a:prstGeom>
          <a:noFill/>
          <a:ln/>
        </p:spPr>
        <p:txBody>
          <a:bodyPr wrap="square" lIns="0" tIns="0" rIns="0" bIns="0" rtlCol="0" anchor="t"/>
          <a:lstStyle/>
          <a:p>
            <a:pPr indent="0" marL="0">
              <a:buNone/>
            </a:pPr>
            <a:r>
              <a:rPr lang="en-US" sz="1200" b="1" dirty="0">
                <a:solidFill>
                  <a:schemeClr val="tx2"/>
                </a:solidFill>
              </a:rPr>
              <a:t>Subworkflow 2</a:t>
            </a:r>
            <a:endParaRPr lang="en-US" sz="1200" dirty="0"/>
          </a:p>
        </p:txBody>
      </p:sp>
      <p:sp>
        <p:nvSpPr>
          <p:cNvPr id="34" name="Text 32"/>
          <p:cNvSpPr txBox="1"/>
          <p:nvPr/>
        </p:nvSpPr>
        <p:spPr>
          <a:xfrm>
            <a:off x="1938528" y="3383280"/>
            <a:ext cx="1097280" cy="731520"/>
          </a:xfrm>
          <a:prstGeom prst="rect">
            <a:avLst/>
          </a:prstGeom>
          <a:noFill/>
          <a:ln/>
        </p:spPr>
        <p:txBody>
          <a:bodyPr wrap="square" lIns="0" tIns="0" rIns="0" bIns="0" rtlCol="0" anchor="t"/>
          <a:lstStyle/>
          <a:p>
            <a:pPr indent="0" marL="0">
              <a:buNone/>
            </a:pPr>
            <a:r>
              <a:rPr lang="en-US" sz="1050" dirty="0">
                <a:solidFill>
                  <a:schemeClr val="tx1"/>
                </a:solidFill>
              </a:rPr>
              <a:t>OBD2-Simulator: 4 Testfälle, keine Kosten</a:t>
            </a:r>
            <a:endParaRPr lang="en-US" sz="1050" dirty="0"/>
          </a:p>
        </p:txBody>
      </p:sp>
      <p:sp>
        <p:nvSpPr>
          <p:cNvPr id="35" name="Technik"/>
          <p:cNvSpPr/>
          <p:nvPr/>
        </p:nvSpPr>
        <p:spPr>
          <a:xfrm>
            <a:off x="3236976" y="3017520"/>
            <a:ext cx="5449824" cy="1143000"/>
          </a:xfrm>
          <a:prstGeom prst="roundRect">
            <a:avLst>
              <a:gd name="adj" fmla="val 6400"/>
            </a:avLst>
          </a:prstGeom>
          <a:solidFill>
            <a:schemeClr val="bg2"/>
          </a:solidFill>
          <a:ln w="12700">
            <a:solidFill>
              <a:schemeClr val="bg2"/>
            </a:solidFill>
            <a:prstDash val="solid"/>
          </a:ln>
        </p:spPr>
      </p:sp>
      <p:sp>
        <p:nvSpPr>
          <p:cNvPr id="36" name="Text 34"/>
          <p:cNvSpPr txBox="1"/>
          <p:nvPr/>
        </p:nvSpPr>
        <p:spPr>
          <a:xfrm>
            <a:off x="3419856" y="3108960"/>
            <a:ext cx="5120640" cy="1005840"/>
          </a:xfrm>
          <a:prstGeom prst="rect">
            <a:avLst/>
          </a:prstGeom>
          <a:noFill/>
          <a:ln/>
        </p:spPr>
        <p:txBody>
          <a:bodyPr wrap="square" lIns="0" tIns="0" rIns="0" bIns="0" rtlCol="0" anchor="t"/>
          <a:lstStyle/>
          <a:p>
            <a:pPr indent="0" marL="0">
              <a:spcAft>
                <a:spcPts val="300"/>
              </a:spcAft>
              <a:buNone/>
            </a:pPr>
            <a:r>
              <a:rPr lang="en-US" sz="1300" b="1" dirty="0">
                <a:solidFill>
                  <a:schemeClr val="tx2"/>
                </a:solidFill>
              </a:rPr>
              <a:t>Technik</a:t>
            </a:r>
            <a:endParaRPr lang="en-US" sz="1300" dirty="0"/>
          </a:p>
          <a:p>
            <a:pPr indent="0" marL="0">
              <a:spcAft>
                <a:spcPts val="300"/>
              </a:spcAft>
              <a:buNone/>
            </a:pPr>
            <a:r>
              <a:rPr lang="en-US" sz="1300" dirty="0">
                <a:solidFill>
                  <a:schemeClr val="tx1"/>
                </a:solidFill>
              </a:rPr>
              <a:t>n8n · OpenAI (Bild + Text) · NHTSA vPIC · Supabase · Slack</a:t>
            </a:r>
            <a:endParaRPr lang="en-US" sz="1300" dirty="0"/>
          </a:p>
          <a:p>
            <a:pPr indent="0" marL="0">
              <a:spcAft>
                <a:spcPts val="300"/>
              </a:spcAft>
              <a:buNone/>
            </a:pPr>
            <a:r>
              <a:rPr lang="en-US" sz="1300" dirty="0">
                <a:solidFill>
                  <a:schemeClr val="tx1"/>
                </a:solidFill>
              </a:rPr>
              <a:t>Jeder Node ist im Workflow dokumentiert (Zweck, Eingang, Ausgang, Fehler).</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2 · DATENQUELLEN</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Jede Angabe zeigt, woher sie kommt</a:t>
            </a:r>
            <a:endParaRPr lang="en-US" sz="3000" dirty="0"/>
          </a:p>
        </p:txBody>
      </p:sp>
      <p:sp>
        <p:nvSpPr>
          <p:cNvPr id="4" name="Quelle Kundenangabe"/>
          <p:cNvSpPr/>
          <p:nvPr/>
        </p:nvSpPr>
        <p:spPr>
          <a:xfrm>
            <a:off x="457200" y="1371600"/>
            <a:ext cx="1956816" cy="2331720"/>
          </a:xfrm>
          <a:prstGeom prst="roundRect">
            <a:avLst>
              <a:gd name="adj" fmla="val 3738"/>
            </a:avLst>
          </a:prstGeom>
          <a:solidFill>
            <a:schemeClr val="bg2"/>
          </a:solidFill>
          <a:ln w="12700">
            <a:solidFill>
              <a:schemeClr val="bg2"/>
            </a:solidFill>
            <a:prstDash val="solid"/>
          </a:ln>
        </p:spPr>
      </p:sp>
      <p:sp>
        <p:nvSpPr>
          <p:cNvPr id="5" name="Kundenangabe Kreis"/>
          <p:cNvSpPr/>
          <p:nvPr/>
        </p:nvSpPr>
        <p:spPr>
          <a:xfrm>
            <a:off x="640080" y="1554480"/>
            <a:ext cx="548640" cy="548640"/>
          </a:xfrm>
          <a:prstGeom prst="ellipse">
            <a:avLst/>
          </a:prstGeom>
          <a:solidFill>
            <a:schemeClr val="accent4"/>
          </a:solidFill>
          <a:ln w="12700">
            <a:solidFill>
              <a:schemeClr val="accent4"/>
            </a:solidFill>
            <a:prstDash val="solid"/>
          </a:ln>
        </p:spPr>
      </p:sp>
      <p:pic>
        <p:nvPicPr>
          <p:cNvPr id="6" name="Kundenangabe Symbol" descr="Kundenangabe">    </p:cNvPr>
          <p:cNvPicPr>
            <a:picLocks noChangeAspect="1"/>
          </p:cNvPicPr>
          <p:nvPr/>
        </p:nvPicPr>
        <p:blipFill>
          <a:blip r:embed="rId1"/>
          <a:stretch>
            <a:fillRect/>
          </a:stretch>
        </p:blipFill>
        <p:spPr>
          <a:xfrm>
            <a:off x="777240" y="1691640"/>
            <a:ext cx="274320" cy="274320"/>
          </a:xfrm>
          <a:prstGeom prst="rect">
            <a:avLst/>
          </a:prstGeom>
        </p:spPr>
      </p:pic>
      <p:sp>
        <p:nvSpPr>
          <p:cNvPr id="7" name="Text 4"/>
          <p:cNvSpPr txBox="1"/>
          <p:nvPr/>
        </p:nvSpPr>
        <p:spPr>
          <a:xfrm>
            <a:off x="640080" y="2240280"/>
            <a:ext cx="1645920" cy="320040"/>
          </a:xfrm>
          <a:prstGeom prst="rect">
            <a:avLst/>
          </a:prstGeom>
          <a:noFill/>
          <a:ln/>
        </p:spPr>
        <p:txBody>
          <a:bodyPr wrap="square" lIns="0" tIns="0" rIns="0" bIns="0" rtlCol="0" anchor="t"/>
          <a:lstStyle/>
          <a:p>
            <a:pPr indent="0" marL="0">
              <a:buNone/>
            </a:pPr>
            <a:r>
              <a:rPr lang="en-US" sz="1600" b="1" dirty="0">
                <a:solidFill>
                  <a:schemeClr val="tx2"/>
                </a:solidFill>
              </a:rPr>
              <a:t>Kundenangabe</a:t>
            </a:r>
            <a:endParaRPr lang="en-US" sz="1600" dirty="0"/>
          </a:p>
        </p:txBody>
      </p:sp>
      <p:sp>
        <p:nvSpPr>
          <p:cNvPr id="8" name="Text 5"/>
          <p:cNvSpPr txBox="1"/>
          <p:nvPr/>
        </p:nvSpPr>
        <p:spPr>
          <a:xfrm>
            <a:off x="640080" y="2606040"/>
            <a:ext cx="1645920" cy="594360"/>
          </a:xfrm>
          <a:prstGeom prst="rect">
            <a:avLst/>
          </a:prstGeom>
          <a:noFill/>
          <a:ln/>
        </p:spPr>
        <p:txBody>
          <a:bodyPr wrap="square" lIns="0" tIns="0" rIns="0" bIns="0" rtlCol="0" anchor="t"/>
          <a:lstStyle/>
          <a:p>
            <a:pPr indent="0" marL="0">
              <a:buNone/>
            </a:pPr>
            <a:r>
              <a:rPr lang="en-US" sz="1250" dirty="0">
                <a:solidFill>
                  <a:schemeClr val="tx1"/>
                </a:solidFill>
              </a:rPr>
              <a:t>Text und manuelle Werte</a:t>
            </a:r>
            <a:endParaRPr lang="en-US" sz="1250" dirty="0"/>
          </a:p>
        </p:txBody>
      </p:sp>
      <p:sp>
        <p:nvSpPr>
          <p:cNvPr id="9" name="Etikett Kundenangabe"/>
          <p:cNvSpPr/>
          <p:nvPr/>
        </p:nvSpPr>
        <p:spPr>
          <a:xfrm>
            <a:off x="640080" y="3246120"/>
            <a:ext cx="1591056" cy="310896"/>
          </a:xfrm>
          <a:prstGeom prst="roundRect">
            <a:avLst>
              <a:gd name="adj" fmla="val 50000"/>
            </a:avLst>
          </a:prstGeom>
          <a:solidFill>
            <a:schemeClr val="accent4"/>
          </a:solidFill>
          <a:ln w="12700">
            <a:solidFill>
              <a:schemeClr val="accent4"/>
            </a:solidFill>
            <a:prstDash val="solid"/>
          </a:ln>
        </p:spPr>
      </p:sp>
      <p:sp>
        <p:nvSpPr>
          <p:cNvPr id="10" name="Text 7"/>
          <p:cNvSpPr txBox="1"/>
          <p:nvPr/>
        </p:nvSpPr>
        <p:spPr>
          <a:xfrm>
            <a:off x="640080" y="3246120"/>
            <a:ext cx="1591056" cy="310896"/>
          </a:xfrm>
          <a:prstGeom prst="rect">
            <a:avLst/>
          </a:prstGeom>
          <a:noFill/>
          <a:ln/>
        </p:spPr>
        <p:txBody>
          <a:bodyPr wrap="square" lIns="0" tIns="0" rIns="0" bIns="0" rtlCol="0" anchor="ctr"/>
          <a:lstStyle/>
          <a:p>
            <a:pPr algn="ctr" indent="0" marL="0">
              <a:buNone/>
            </a:pPr>
            <a:r>
              <a:rPr lang="en-US" sz="1200" b="1" dirty="0">
                <a:solidFill>
                  <a:schemeClr val="bg1"/>
                </a:solidFill>
              </a:rPr>
              <a:t>„vom Kunden“</a:t>
            </a:r>
            <a:endParaRPr lang="en-US" sz="1200" dirty="0"/>
          </a:p>
        </p:txBody>
      </p:sp>
      <p:sp>
        <p:nvSpPr>
          <p:cNvPr id="11" name="Quelle Foto"/>
          <p:cNvSpPr/>
          <p:nvPr/>
        </p:nvSpPr>
        <p:spPr>
          <a:xfrm>
            <a:off x="2578608" y="1371600"/>
            <a:ext cx="1956816" cy="2331720"/>
          </a:xfrm>
          <a:prstGeom prst="roundRect">
            <a:avLst>
              <a:gd name="adj" fmla="val 3738"/>
            </a:avLst>
          </a:prstGeom>
          <a:solidFill>
            <a:schemeClr val="bg2"/>
          </a:solidFill>
          <a:ln w="12700">
            <a:solidFill>
              <a:schemeClr val="bg2"/>
            </a:solidFill>
            <a:prstDash val="solid"/>
          </a:ln>
        </p:spPr>
      </p:sp>
      <p:sp>
        <p:nvSpPr>
          <p:cNvPr id="12" name="Foto Kreis"/>
          <p:cNvSpPr/>
          <p:nvPr/>
        </p:nvSpPr>
        <p:spPr>
          <a:xfrm>
            <a:off x="2761488" y="1554480"/>
            <a:ext cx="548640" cy="548640"/>
          </a:xfrm>
          <a:prstGeom prst="ellipse">
            <a:avLst/>
          </a:prstGeom>
          <a:solidFill>
            <a:schemeClr val="accent6"/>
          </a:solidFill>
          <a:ln w="12700">
            <a:solidFill>
              <a:schemeClr val="accent6"/>
            </a:solidFill>
            <a:prstDash val="solid"/>
          </a:ln>
        </p:spPr>
      </p:sp>
      <p:pic>
        <p:nvPicPr>
          <p:cNvPr id="13" name="Foto Symbol" descr="Foto">    </p:cNvPr>
          <p:cNvPicPr>
            <a:picLocks noChangeAspect="1"/>
          </p:cNvPicPr>
          <p:nvPr/>
        </p:nvPicPr>
        <p:blipFill>
          <a:blip r:embed="rId2"/>
          <a:stretch>
            <a:fillRect/>
          </a:stretch>
        </p:blipFill>
        <p:spPr>
          <a:xfrm>
            <a:off x="2898648" y="1691640"/>
            <a:ext cx="274320" cy="274320"/>
          </a:xfrm>
          <a:prstGeom prst="rect">
            <a:avLst/>
          </a:prstGeom>
        </p:spPr>
      </p:pic>
      <p:sp>
        <p:nvSpPr>
          <p:cNvPr id="14" name="Text 10"/>
          <p:cNvSpPr txBox="1"/>
          <p:nvPr/>
        </p:nvSpPr>
        <p:spPr>
          <a:xfrm>
            <a:off x="2761488" y="2240280"/>
            <a:ext cx="1645920" cy="320040"/>
          </a:xfrm>
          <a:prstGeom prst="rect">
            <a:avLst/>
          </a:prstGeom>
          <a:noFill/>
          <a:ln/>
        </p:spPr>
        <p:txBody>
          <a:bodyPr wrap="square" lIns="0" tIns="0" rIns="0" bIns="0" rtlCol="0" anchor="t"/>
          <a:lstStyle/>
          <a:p>
            <a:pPr indent="0" marL="0">
              <a:buNone/>
            </a:pPr>
            <a:r>
              <a:rPr lang="en-US" sz="1600" b="1" dirty="0">
                <a:solidFill>
                  <a:schemeClr val="tx2"/>
                </a:solidFill>
              </a:rPr>
              <a:t>Foto</a:t>
            </a:r>
            <a:endParaRPr lang="en-US" sz="1600" dirty="0"/>
          </a:p>
        </p:txBody>
      </p:sp>
      <p:sp>
        <p:nvSpPr>
          <p:cNvPr id="15" name="Text 11"/>
          <p:cNvSpPr txBox="1"/>
          <p:nvPr/>
        </p:nvSpPr>
        <p:spPr>
          <a:xfrm>
            <a:off x="2761488" y="2606040"/>
            <a:ext cx="1645920" cy="594360"/>
          </a:xfrm>
          <a:prstGeom prst="rect">
            <a:avLst/>
          </a:prstGeom>
          <a:noFill/>
          <a:ln/>
        </p:spPr>
        <p:txBody>
          <a:bodyPr wrap="square" lIns="0" tIns="0" rIns="0" bIns="0" rtlCol="0" anchor="t"/>
          <a:lstStyle/>
          <a:p>
            <a:pPr indent="0" marL="0">
              <a:buNone/>
            </a:pPr>
            <a:r>
              <a:rPr lang="en-US" sz="1250" dirty="0">
                <a:solidFill>
                  <a:schemeClr val="tx1"/>
                </a:solidFill>
              </a:rPr>
              <a:t>Marke, Modell, FIN aus dem Fahrzeugschein</a:t>
            </a:r>
            <a:endParaRPr lang="en-US" sz="1250" dirty="0"/>
          </a:p>
        </p:txBody>
      </p:sp>
      <p:sp>
        <p:nvSpPr>
          <p:cNvPr id="16" name="Etikett Foto"/>
          <p:cNvSpPr/>
          <p:nvPr/>
        </p:nvSpPr>
        <p:spPr>
          <a:xfrm>
            <a:off x="2761488" y="3246120"/>
            <a:ext cx="1591056" cy="310896"/>
          </a:xfrm>
          <a:prstGeom prst="roundRect">
            <a:avLst>
              <a:gd name="adj" fmla="val 50000"/>
            </a:avLst>
          </a:prstGeom>
          <a:solidFill>
            <a:schemeClr val="accent6"/>
          </a:solidFill>
          <a:ln w="12700">
            <a:solidFill>
              <a:schemeClr val="accent6"/>
            </a:solidFill>
            <a:prstDash val="solid"/>
          </a:ln>
        </p:spPr>
      </p:sp>
      <p:sp>
        <p:nvSpPr>
          <p:cNvPr id="17" name="Text 13"/>
          <p:cNvSpPr txBox="1"/>
          <p:nvPr/>
        </p:nvSpPr>
        <p:spPr>
          <a:xfrm>
            <a:off x="2761488" y="3246120"/>
            <a:ext cx="1591056" cy="310896"/>
          </a:xfrm>
          <a:prstGeom prst="rect">
            <a:avLst/>
          </a:prstGeom>
          <a:noFill/>
          <a:ln/>
        </p:spPr>
        <p:txBody>
          <a:bodyPr wrap="square" lIns="0" tIns="0" rIns="0" bIns="0" rtlCol="0" anchor="ctr"/>
          <a:lstStyle/>
          <a:p>
            <a:pPr algn="ctr" indent="0" marL="0">
              <a:buNone/>
            </a:pPr>
            <a:r>
              <a:rPr lang="en-US" sz="1200" b="1" dirty="0">
                <a:solidFill>
                  <a:schemeClr val="bg1"/>
                </a:solidFill>
              </a:rPr>
              <a:t>„unbestätigt“</a:t>
            </a:r>
            <a:endParaRPr lang="en-US" sz="1200" dirty="0"/>
          </a:p>
        </p:txBody>
      </p:sp>
      <p:sp>
        <p:nvSpPr>
          <p:cNvPr id="18" name="Quelle OBD2"/>
          <p:cNvSpPr/>
          <p:nvPr/>
        </p:nvSpPr>
        <p:spPr>
          <a:xfrm>
            <a:off x="4700016" y="1371600"/>
            <a:ext cx="1956816" cy="2331720"/>
          </a:xfrm>
          <a:prstGeom prst="roundRect">
            <a:avLst>
              <a:gd name="adj" fmla="val 3738"/>
            </a:avLst>
          </a:prstGeom>
          <a:solidFill>
            <a:schemeClr val="bg2"/>
          </a:solidFill>
          <a:ln w="12700">
            <a:solidFill>
              <a:schemeClr val="bg2"/>
            </a:solidFill>
            <a:prstDash val="solid"/>
          </a:ln>
        </p:spPr>
      </p:sp>
      <p:sp>
        <p:nvSpPr>
          <p:cNvPr id="19" name="OBD2 Kreis"/>
          <p:cNvSpPr/>
          <p:nvPr/>
        </p:nvSpPr>
        <p:spPr>
          <a:xfrm>
            <a:off x="4882896" y="1554480"/>
            <a:ext cx="548640" cy="548640"/>
          </a:xfrm>
          <a:prstGeom prst="ellipse">
            <a:avLst/>
          </a:prstGeom>
          <a:solidFill>
            <a:schemeClr val="accent1"/>
          </a:solidFill>
          <a:ln w="12700">
            <a:solidFill>
              <a:schemeClr val="accent1"/>
            </a:solidFill>
            <a:prstDash val="solid"/>
          </a:ln>
        </p:spPr>
      </p:sp>
      <p:pic>
        <p:nvPicPr>
          <p:cNvPr id="20" name="OBD2 Symbol" descr="OBD2">    </p:cNvPr>
          <p:cNvPicPr>
            <a:picLocks noChangeAspect="1"/>
          </p:cNvPicPr>
          <p:nvPr/>
        </p:nvPicPr>
        <p:blipFill>
          <a:blip r:embed="rId3"/>
          <a:stretch>
            <a:fillRect/>
          </a:stretch>
        </p:blipFill>
        <p:spPr>
          <a:xfrm>
            <a:off x="5020056" y="1691640"/>
            <a:ext cx="274320" cy="274320"/>
          </a:xfrm>
          <a:prstGeom prst="rect">
            <a:avLst/>
          </a:prstGeom>
        </p:spPr>
      </p:pic>
      <p:sp>
        <p:nvSpPr>
          <p:cNvPr id="21" name="Text 16"/>
          <p:cNvSpPr txBox="1"/>
          <p:nvPr/>
        </p:nvSpPr>
        <p:spPr>
          <a:xfrm>
            <a:off x="4882896" y="2240280"/>
            <a:ext cx="1645920" cy="320040"/>
          </a:xfrm>
          <a:prstGeom prst="rect">
            <a:avLst/>
          </a:prstGeom>
          <a:noFill/>
          <a:ln/>
        </p:spPr>
        <p:txBody>
          <a:bodyPr wrap="square" lIns="0" tIns="0" rIns="0" bIns="0" rtlCol="0" anchor="t"/>
          <a:lstStyle/>
          <a:p>
            <a:pPr indent="0" marL="0">
              <a:buNone/>
            </a:pPr>
            <a:r>
              <a:rPr lang="en-US" sz="1600" b="1" dirty="0">
                <a:solidFill>
                  <a:schemeClr val="tx2"/>
                </a:solidFill>
              </a:rPr>
              <a:t>OBD2</a:t>
            </a:r>
            <a:endParaRPr lang="en-US" sz="1600" dirty="0"/>
          </a:p>
        </p:txBody>
      </p:sp>
      <p:sp>
        <p:nvSpPr>
          <p:cNvPr id="22" name="Text 17"/>
          <p:cNvSpPr txBox="1"/>
          <p:nvPr/>
        </p:nvSpPr>
        <p:spPr>
          <a:xfrm>
            <a:off x="4882896" y="2606040"/>
            <a:ext cx="1645920" cy="594360"/>
          </a:xfrm>
          <a:prstGeom prst="rect">
            <a:avLst/>
          </a:prstGeom>
          <a:noFill/>
          <a:ln/>
        </p:spPr>
        <p:txBody>
          <a:bodyPr wrap="square" lIns="0" tIns="0" rIns="0" bIns="0" rtlCol="0" anchor="t"/>
          <a:lstStyle/>
          <a:p>
            <a:pPr indent="0" marL="0">
              <a:buNone/>
            </a:pPr>
            <a:r>
              <a:rPr lang="en-US" sz="1250" dirty="0">
                <a:solidFill>
                  <a:schemeClr val="tx1"/>
                </a:solidFill>
              </a:rPr>
              <a:t>Fehlercodes und Messwerte</a:t>
            </a:r>
            <a:endParaRPr lang="en-US" sz="1250" dirty="0"/>
          </a:p>
        </p:txBody>
      </p:sp>
      <p:sp>
        <p:nvSpPr>
          <p:cNvPr id="23" name="Etikett OBD2"/>
          <p:cNvSpPr/>
          <p:nvPr/>
        </p:nvSpPr>
        <p:spPr>
          <a:xfrm>
            <a:off x="4882896" y="3246120"/>
            <a:ext cx="1591056" cy="310896"/>
          </a:xfrm>
          <a:prstGeom prst="roundRect">
            <a:avLst>
              <a:gd name="adj" fmla="val 50000"/>
            </a:avLst>
          </a:prstGeom>
          <a:solidFill>
            <a:schemeClr val="accent1"/>
          </a:solidFill>
          <a:ln w="12700">
            <a:solidFill>
              <a:schemeClr val="accent1"/>
            </a:solidFill>
            <a:prstDash val="solid"/>
          </a:ln>
        </p:spPr>
      </p:sp>
      <p:sp>
        <p:nvSpPr>
          <p:cNvPr id="24" name="Text 19"/>
          <p:cNvSpPr txBox="1"/>
          <p:nvPr/>
        </p:nvSpPr>
        <p:spPr>
          <a:xfrm>
            <a:off x="4882896" y="3246120"/>
            <a:ext cx="1591056" cy="310896"/>
          </a:xfrm>
          <a:prstGeom prst="rect">
            <a:avLst/>
          </a:prstGeom>
          <a:noFill/>
          <a:ln/>
        </p:spPr>
        <p:txBody>
          <a:bodyPr wrap="square" lIns="0" tIns="0" rIns="0" bIns="0" rtlCol="0" anchor="ctr"/>
          <a:lstStyle/>
          <a:p>
            <a:pPr algn="ctr" indent="0" marL="0">
              <a:buNone/>
            </a:pPr>
            <a:r>
              <a:rPr lang="en-US" sz="1200" b="1" dirty="0">
                <a:solidFill>
                  <a:schemeClr val="bg1"/>
                </a:solidFill>
              </a:rPr>
              <a:t>„Simulation“</a:t>
            </a:r>
            <a:endParaRPr lang="en-US" sz="1200" dirty="0"/>
          </a:p>
        </p:txBody>
      </p:sp>
      <p:sp>
        <p:nvSpPr>
          <p:cNvPr id="25" name="Quelle Fahrzeug-API"/>
          <p:cNvSpPr/>
          <p:nvPr/>
        </p:nvSpPr>
        <p:spPr>
          <a:xfrm>
            <a:off x="6821424" y="1371600"/>
            <a:ext cx="1956816" cy="2331720"/>
          </a:xfrm>
          <a:prstGeom prst="roundRect">
            <a:avLst>
              <a:gd name="adj" fmla="val 3738"/>
            </a:avLst>
          </a:prstGeom>
          <a:solidFill>
            <a:schemeClr val="bg2"/>
          </a:solidFill>
          <a:ln w="12700">
            <a:solidFill>
              <a:schemeClr val="bg2"/>
            </a:solidFill>
            <a:prstDash val="solid"/>
          </a:ln>
        </p:spPr>
      </p:sp>
      <p:sp>
        <p:nvSpPr>
          <p:cNvPr id="26" name="Fahrzeug-API Kreis"/>
          <p:cNvSpPr/>
          <p:nvPr/>
        </p:nvSpPr>
        <p:spPr>
          <a:xfrm>
            <a:off x="7004304" y="1554480"/>
            <a:ext cx="548640" cy="548640"/>
          </a:xfrm>
          <a:prstGeom prst="ellipse">
            <a:avLst/>
          </a:prstGeom>
          <a:solidFill>
            <a:schemeClr val="accent2"/>
          </a:solidFill>
          <a:ln w="12700">
            <a:solidFill>
              <a:schemeClr val="accent2"/>
            </a:solidFill>
            <a:prstDash val="solid"/>
          </a:ln>
        </p:spPr>
      </p:sp>
      <p:pic>
        <p:nvPicPr>
          <p:cNvPr id="27" name="Fahrzeug-API Symbol" descr="Fahrzeug-API">    </p:cNvPr>
          <p:cNvPicPr>
            <a:picLocks noChangeAspect="1"/>
          </p:cNvPicPr>
          <p:nvPr/>
        </p:nvPicPr>
        <p:blipFill>
          <a:blip r:embed="rId4"/>
          <a:stretch>
            <a:fillRect/>
          </a:stretch>
        </p:blipFill>
        <p:spPr>
          <a:xfrm>
            <a:off x="7141464" y="1691640"/>
            <a:ext cx="274320" cy="274320"/>
          </a:xfrm>
          <a:prstGeom prst="rect">
            <a:avLst/>
          </a:prstGeom>
        </p:spPr>
      </p:pic>
      <p:sp>
        <p:nvSpPr>
          <p:cNvPr id="28" name="Text 22"/>
          <p:cNvSpPr txBox="1"/>
          <p:nvPr/>
        </p:nvSpPr>
        <p:spPr>
          <a:xfrm>
            <a:off x="7004304" y="2240280"/>
            <a:ext cx="1645920" cy="320040"/>
          </a:xfrm>
          <a:prstGeom prst="rect">
            <a:avLst/>
          </a:prstGeom>
          <a:noFill/>
          <a:ln/>
        </p:spPr>
        <p:txBody>
          <a:bodyPr wrap="square" lIns="0" tIns="0" rIns="0" bIns="0" rtlCol="0" anchor="t"/>
          <a:lstStyle/>
          <a:p>
            <a:pPr indent="0" marL="0">
              <a:buNone/>
            </a:pPr>
            <a:r>
              <a:rPr lang="en-US" sz="1600" b="1" dirty="0">
                <a:solidFill>
                  <a:schemeClr val="tx2"/>
                </a:solidFill>
              </a:rPr>
              <a:t>Fahrzeug-API</a:t>
            </a:r>
            <a:endParaRPr lang="en-US" sz="1600" dirty="0"/>
          </a:p>
        </p:txBody>
      </p:sp>
      <p:sp>
        <p:nvSpPr>
          <p:cNvPr id="29" name="Text 23"/>
          <p:cNvSpPr txBox="1"/>
          <p:nvPr/>
        </p:nvSpPr>
        <p:spPr>
          <a:xfrm>
            <a:off x="7004304" y="2606040"/>
            <a:ext cx="1645920" cy="594360"/>
          </a:xfrm>
          <a:prstGeom prst="rect">
            <a:avLst/>
          </a:prstGeom>
          <a:noFill/>
          <a:ln/>
        </p:spPr>
        <p:txBody>
          <a:bodyPr wrap="square" lIns="0" tIns="0" rIns="0" bIns="0" rtlCol="0" anchor="t"/>
          <a:lstStyle/>
          <a:p>
            <a:pPr indent="0" marL="0">
              <a:buNone/>
            </a:pPr>
            <a:r>
              <a:rPr lang="en-US" sz="1250" dirty="0">
                <a:solidFill>
                  <a:schemeClr val="tx1"/>
                </a:solidFill>
              </a:rPr>
              <a:t>Daten der NHTSA vPIC</a:t>
            </a:r>
            <a:endParaRPr lang="en-US" sz="1250" dirty="0"/>
          </a:p>
        </p:txBody>
      </p:sp>
      <p:sp>
        <p:nvSpPr>
          <p:cNvPr id="30" name="Etikett Fahrzeug-API"/>
          <p:cNvSpPr/>
          <p:nvPr/>
        </p:nvSpPr>
        <p:spPr>
          <a:xfrm>
            <a:off x="7004304" y="3246120"/>
            <a:ext cx="1591056" cy="310896"/>
          </a:xfrm>
          <a:prstGeom prst="roundRect">
            <a:avLst>
              <a:gd name="adj" fmla="val 50000"/>
            </a:avLst>
          </a:prstGeom>
          <a:solidFill>
            <a:schemeClr val="accent2"/>
          </a:solidFill>
          <a:ln w="12700">
            <a:solidFill>
              <a:schemeClr val="accent2"/>
            </a:solidFill>
            <a:prstDash val="solid"/>
          </a:ln>
        </p:spPr>
      </p:sp>
      <p:sp>
        <p:nvSpPr>
          <p:cNvPr id="31" name="Text 25"/>
          <p:cNvSpPr txBox="1"/>
          <p:nvPr/>
        </p:nvSpPr>
        <p:spPr>
          <a:xfrm>
            <a:off x="7004304" y="3246120"/>
            <a:ext cx="1591056" cy="310896"/>
          </a:xfrm>
          <a:prstGeom prst="rect">
            <a:avLst/>
          </a:prstGeom>
          <a:noFill/>
          <a:ln/>
        </p:spPr>
        <p:txBody>
          <a:bodyPr wrap="square" lIns="0" tIns="0" rIns="0" bIns="0" rtlCol="0" anchor="ctr"/>
          <a:lstStyle/>
          <a:p>
            <a:pPr algn="ctr" indent="0" marL="0">
              <a:buNone/>
            </a:pPr>
            <a:r>
              <a:rPr lang="en-US" sz="1200" b="1" dirty="0">
                <a:solidFill>
                  <a:schemeClr val="bg1"/>
                </a:solidFill>
              </a:rPr>
              <a:t>„API-Daten“</a:t>
            </a:r>
            <a:endParaRPr lang="en-US" sz="1200" dirty="0"/>
          </a:p>
        </p:txBody>
      </p:sp>
      <p:sp>
        <p:nvSpPr>
          <p:cNvPr id="32" name="Text 26"/>
          <p:cNvSpPr txBox="1"/>
          <p:nvPr/>
        </p:nvSpPr>
        <p:spPr>
          <a:xfrm>
            <a:off x="457200" y="3931920"/>
            <a:ext cx="8229600" cy="640080"/>
          </a:xfrm>
          <a:prstGeom prst="rect">
            <a:avLst/>
          </a:prstGeom>
          <a:noFill/>
          <a:ln/>
        </p:spPr>
        <p:txBody>
          <a:bodyPr wrap="square" lIns="0" tIns="0" rIns="0" bIns="0" rtlCol="0" anchor="t"/>
          <a:lstStyle/>
          <a:p>
            <a:pPr indent="0" marL="0">
              <a:buNone/>
            </a:pPr>
            <a:r>
              <a:rPr lang="en-US" sz="1300" b="1" dirty="0">
                <a:solidFill>
                  <a:schemeClr val="accent3"/>
                </a:solidFill>
              </a:rPr>
              <a:t>Beispiel: </a:t>
            </a:r>
            <a:pPr indent="0" marL="0">
              <a:buNone/>
            </a:pPr>
            <a:r>
              <a:rPr lang="en-US" sz="1300" dirty="0">
                <a:solidFill>
                  <a:schemeClr val="tx1"/>
                </a:solidFill>
              </a:rPr>
              <a:t>Feld 6 im Fahrzeugschein ist ein Genehmigungsdatum, kein Baujahr. AutoScan nutzt es nur als gekennzeichneten Ersatzwert. Ein leerer Fehlerspeicher beweist kein fehlerfreies Auto.</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2 · QUALITÄT</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Warum man dem Workflow vertrauen kann</a:t>
            </a:r>
            <a:endParaRPr lang="en-US" sz="3000" dirty="0"/>
          </a:p>
        </p:txBody>
      </p:sp>
      <p:sp>
        <p:nvSpPr>
          <p:cNvPr id="4" name="Nichts erfinden Kreis"/>
          <p:cNvSpPr/>
          <p:nvPr/>
        </p:nvSpPr>
        <p:spPr>
          <a:xfrm>
            <a:off x="457200" y="1417320"/>
            <a:ext cx="548640" cy="548640"/>
          </a:xfrm>
          <a:prstGeom prst="ellipse">
            <a:avLst/>
          </a:prstGeom>
          <a:solidFill>
            <a:schemeClr val="accent3"/>
          </a:solidFill>
          <a:ln w="12700">
            <a:solidFill>
              <a:schemeClr val="accent3"/>
            </a:solidFill>
            <a:prstDash val="solid"/>
          </a:ln>
        </p:spPr>
      </p:sp>
      <p:pic>
        <p:nvPicPr>
          <p:cNvPr id="5" name="Nichts erfinden Symbol" descr="Nichts erfinden">    </p:cNvPr>
          <p:cNvPicPr>
            <a:picLocks noChangeAspect="1"/>
          </p:cNvPicPr>
          <p:nvPr/>
        </p:nvPicPr>
        <p:blipFill>
          <a:blip r:embed="rId1"/>
          <a:stretch>
            <a:fillRect/>
          </a:stretch>
        </p:blipFill>
        <p:spPr>
          <a:xfrm>
            <a:off x="594360" y="1554480"/>
            <a:ext cx="274320" cy="274320"/>
          </a:xfrm>
          <a:prstGeom prst="rect">
            <a:avLst/>
          </a:prstGeom>
        </p:spPr>
      </p:pic>
      <p:sp>
        <p:nvSpPr>
          <p:cNvPr id="6" name="Text 3"/>
          <p:cNvSpPr txBox="1"/>
          <p:nvPr/>
        </p:nvSpPr>
        <p:spPr>
          <a:xfrm>
            <a:off x="1188720" y="1371600"/>
            <a:ext cx="3291840" cy="320040"/>
          </a:xfrm>
          <a:prstGeom prst="rect">
            <a:avLst/>
          </a:prstGeom>
          <a:noFill/>
          <a:ln/>
        </p:spPr>
        <p:txBody>
          <a:bodyPr wrap="square" lIns="0" tIns="0" rIns="0" bIns="0" rtlCol="0" anchor="t"/>
          <a:lstStyle/>
          <a:p>
            <a:pPr indent="0" marL="0">
              <a:buNone/>
            </a:pPr>
            <a:r>
              <a:rPr lang="en-US" sz="1600" b="1" dirty="0">
                <a:solidFill>
                  <a:schemeClr val="tx2"/>
                </a:solidFill>
              </a:rPr>
              <a:t>Nichts erfinden</a:t>
            </a:r>
            <a:endParaRPr lang="en-US" sz="1600" dirty="0"/>
          </a:p>
        </p:txBody>
      </p:sp>
      <p:sp>
        <p:nvSpPr>
          <p:cNvPr id="7" name="Text 4"/>
          <p:cNvSpPr txBox="1"/>
          <p:nvPr/>
        </p:nvSpPr>
        <p:spPr>
          <a:xfrm>
            <a:off x="1188720" y="1700784"/>
            <a:ext cx="3291840" cy="594360"/>
          </a:xfrm>
          <a:prstGeom prst="rect">
            <a:avLst/>
          </a:prstGeom>
          <a:noFill/>
          <a:ln/>
        </p:spPr>
        <p:txBody>
          <a:bodyPr wrap="square" lIns="0" tIns="0" rIns="0" bIns="0" rtlCol="0" anchor="t"/>
          <a:lstStyle/>
          <a:p>
            <a:pPr indent="0" marL="0">
              <a:buNone/>
            </a:pPr>
            <a:r>
              <a:rPr lang="en-US" sz="1300" dirty="0">
                <a:solidFill>
                  <a:schemeClr val="tx1"/>
                </a:solidFill>
              </a:rPr>
              <a:t>Keine Diagnose, Preise oder Termine. Die KI antwortet nur im festen JSON-Schema.</a:t>
            </a:r>
            <a:endParaRPr lang="en-US" sz="1300" dirty="0"/>
          </a:p>
        </p:txBody>
      </p:sp>
      <p:sp>
        <p:nvSpPr>
          <p:cNvPr id="8" name="Quellen trennen Kreis"/>
          <p:cNvSpPr/>
          <p:nvPr/>
        </p:nvSpPr>
        <p:spPr>
          <a:xfrm>
            <a:off x="457200" y="2468880"/>
            <a:ext cx="548640" cy="548640"/>
          </a:xfrm>
          <a:prstGeom prst="ellipse">
            <a:avLst/>
          </a:prstGeom>
          <a:solidFill>
            <a:schemeClr val="accent4"/>
          </a:solidFill>
          <a:ln w="12700">
            <a:solidFill>
              <a:schemeClr val="accent4"/>
            </a:solidFill>
            <a:prstDash val="solid"/>
          </a:ln>
        </p:spPr>
      </p:sp>
      <p:pic>
        <p:nvPicPr>
          <p:cNvPr id="9" name="Quellen trennen Symbol" descr="Quellen trennen">    </p:cNvPr>
          <p:cNvPicPr>
            <a:picLocks noChangeAspect="1"/>
          </p:cNvPicPr>
          <p:nvPr/>
        </p:nvPicPr>
        <p:blipFill>
          <a:blip r:embed="rId2"/>
          <a:stretch>
            <a:fillRect/>
          </a:stretch>
        </p:blipFill>
        <p:spPr>
          <a:xfrm>
            <a:off x="594360" y="2606040"/>
            <a:ext cx="274320" cy="274320"/>
          </a:xfrm>
          <a:prstGeom prst="rect">
            <a:avLst/>
          </a:prstGeom>
        </p:spPr>
      </p:pic>
      <p:sp>
        <p:nvSpPr>
          <p:cNvPr id="10" name="Text 6"/>
          <p:cNvSpPr txBox="1"/>
          <p:nvPr/>
        </p:nvSpPr>
        <p:spPr>
          <a:xfrm>
            <a:off x="1188720" y="2423160"/>
            <a:ext cx="3291840" cy="320040"/>
          </a:xfrm>
          <a:prstGeom prst="rect">
            <a:avLst/>
          </a:prstGeom>
          <a:noFill/>
          <a:ln/>
        </p:spPr>
        <p:txBody>
          <a:bodyPr wrap="square" lIns="0" tIns="0" rIns="0" bIns="0" rtlCol="0" anchor="t"/>
          <a:lstStyle/>
          <a:p>
            <a:pPr indent="0" marL="0">
              <a:buNone/>
            </a:pPr>
            <a:r>
              <a:rPr lang="en-US" sz="1600" b="1" dirty="0">
                <a:solidFill>
                  <a:schemeClr val="tx2"/>
                </a:solidFill>
              </a:rPr>
              <a:t>Quellen trennen</a:t>
            </a:r>
            <a:endParaRPr lang="en-US" sz="1600" dirty="0"/>
          </a:p>
        </p:txBody>
      </p:sp>
      <p:sp>
        <p:nvSpPr>
          <p:cNvPr id="11" name="Text 7"/>
          <p:cNvSpPr txBox="1"/>
          <p:nvPr/>
        </p:nvSpPr>
        <p:spPr>
          <a:xfrm>
            <a:off x="1188720" y="2752344"/>
            <a:ext cx="3291840" cy="594360"/>
          </a:xfrm>
          <a:prstGeom prst="rect">
            <a:avLst/>
          </a:prstGeom>
          <a:noFill/>
          <a:ln/>
        </p:spPr>
        <p:txBody>
          <a:bodyPr wrap="square" lIns="0" tIns="0" rIns="0" bIns="0" rtlCol="0" anchor="t"/>
          <a:lstStyle/>
          <a:p>
            <a:pPr indent="0" marL="0">
              <a:buNone/>
            </a:pPr>
            <a:r>
              <a:rPr lang="en-US" sz="1300" dirty="0">
                <a:solidFill>
                  <a:schemeClr val="tx1"/>
                </a:solidFill>
              </a:rPr>
              <a:t>Kunde, Foto, Simulation und API bleiben getrennt gekennzeichnet.</a:t>
            </a:r>
            <a:endParaRPr lang="en-US" sz="1300" dirty="0"/>
          </a:p>
        </p:txBody>
      </p:sp>
      <p:sp>
        <p:nvSpPr>
          <p:cNvPr id="12" name="Fallbacks Kreis"/>
          <p:cNvSpPr/>
          <p:nvPr/>
        </p:nvSpPr>
        <p:spPr>
          <a:xfrm>
            <a:off x="457200" y="3520440"/>
            <a:ext cx="548640" cy="548640"/>
          </a:xfrm>
          <a:prstGeom prst="ellipse">
            <a:avLst/>
          </a:prstGeom>
          <a:solidFill>
            <a:schemeClr val="accent2"/>
          </a:solidFill>
          <a:ln w="12700">
            <a:solidFill>
              <a:schemeClr val="accent2"/>
            </a:solidFill>
            <a:prstDash val="solid"/>
          </a:ln>
        </p:spPr>
      </p:sp>
      <p:pic>
        <p:nvPicPr>
          <p:cNvPr id="13" name="Fallbacks Symbol" descr="Fallbacks">    </p:cNvPr>
          <p:cNvPicPr>
            <a:picLocks noChangeAspect="1"/>
          </p:cNvPicPr>
          <p:nvPr/>
        </p:nvPicPr>
        <p:blipFill>
          <a:blip r:embed="rId3"/>
          <a:stretch>
            <a:fillRect/>
          </a:stretch>
        </p:blipFill>
        <p:spPr>
          <a:xfrm>
            <a:off x="594360" y="3657600"/>
            <a:ext cx="274320" cy="274320"/>
          </a:xfrm>
          <a:prstGeom prst="rect">
            <a:avLst/>
          </a:prstGeom>
        </p:spPr>
      </p:pic>
      <p:sp>
        <p:nvSpPr>
          <p:cNvPr id="14" name="Text 9"/>
          <p:cNvSpPr txBox="1"/>
          <p:nvPr/>
        </p:nvSpPr>
        <p:spPr>
          <a:xfrm>
            <a:off x="1188720" y="3474720"/>
            <a:ext cx="3291840" cy="320040"/>
          </a:xfrm>
          <a:prstGeom prst="rect">
            <a:avLst/>
          </a:prstGeom>
          <a:noFill/>
          <a:ln/>
        </p:spPr>
        <p:txBody>
          <a:bodyPr wrap="square" lIns="0" tIns="0" rIns="0" bIns="0" rtlCol="0" anchor="t"/>
          <a:lstStyle/>
          <a:p>
            <a:pPr indent="0" marL="0">
              <a:buNone/>
            </a:pPr>
            <a:r>
              <a:rPr lang="en-US" sz="1600" b="1" dirty="0">
                <a:solidFill>
                  <a:schemeClr val="tx2"/>
                </a:solidFill>
              </a:rPr>
              <a:t>Fallbacks</a:t>
            </a:r>
            <a:endParaRPr lang="en-US" sz="1600" dirty="0"/>
          </a:p>
        </p:txBody>
      </p:sp>
      <p:sp>
        <p:nvSpPr>
          <p:cNvPr id="15" name="Text 10"/>
          <p:cNvSpPr txBox="1"/>
          <p:nvPr/>
        </p:nvSpPr>
        <p:spPr>
          <a:xfrm>
            <a:off x="1188720" y="3803904"/>
            <a:ext cx="3291840" cy="594360"/>
          </a:xfrm>
          <a:prstGeom prst="rect">
            <a:avLst/>
          </a:prstGeom>
          <a:noFill/>
          <a:ln/>
        </p:spPr>
        <p:txBody>
          <a:bodyPr wrap="square" lIns="0" tIns="0" rIns="0" bIns="0" rtlCol="0" anchor="t"/>
          <a:lstStyle/>
          <a:p>
            <a:pPr indent="0" marL="0">
              <a:buNone/>
            </a:pPr>
            <a:r>
              <a:rPr lang="en-US" sz="1300" dirty="0">
                <a:solidFill>
                  <a:schemeClr val="tx1"/>
                </a:solidFill>
              </a:rPr>
              <a:t>Fällt eine API aus, entsteht ein sichtbarer Teilbericht statt eines Absturzes.</a:t>
            </a:r>
            <a:endParaRPr lang="en-US" sz="1300" dirty="0"/>
          </a:p>
        </p:txBody>
      </p:sp>
      <p:sp>
        <p:nvSpPr>
          <p:cNvPr id="16" name="Messbar Kreis"/>
          <p:cNvSpPr/>
          <p:nvPr/>
        </p:nvSpPr>
        <p:spPr>
          <a:xfrm>
            <a:off x="4709160" y="1417320"/>
            <a:ext cx="548640" cy="548640"/>
          </a:xfrm>
          <a:prstGeom prst="ellipse">
            <a:avLst/>
          </a:prstGeom>
          <a:solidFill>
            <a:schemeClr val="accent1"/>
          </a:solidFill>
          <a:ln w="12700">
            <a:solidFill>
              <a:schemeClr val="accent1"/>
            </a:solidFill>
            <a:prstDash val="solid"/>
          </a:ln>
        </p:spPr>
      </p:sp>
      <p:pic>
        <p:nvPicPr>
          <p:cNvPr id="17" name="Messbar Symbol" descr="Messbar">    </p:cNvPr>
          <p:cNvPicPr>
            <a:picLocks noChangeAspect="1"/>
          </p:cNvPicPr>
          <p:nvPr/>
        </p:nvPicPr>
        <p:blipFill>
          <a:blip r:embed="rId4"/>
          <a:stretch>
            <a:fillRect/>
          </a:stretch>
        </p:blipFill>
        <p:spPr>
          <a:xfrm>
            <a:off x="4846320" y="1554480"/>
            <a:ext cx="274320" cy="274320"/>
          </a:xfrm>
          <a:prstGeom prst="rect">
            <a:avLst/>
          </a:prstGeom>
        </p:spPr>
      </p:pic>
      <p:sp>
        <p:nvSpPr>
          <p:cNvPr id="18" name="Text 12"/>
          <p:cNvSpPr txBox="1"/>
          <p:nvPr/>
        </p:nvSpPr>
        <p:spPr>
          <a:xfrm>
            <a:off x="5440680" y="1371600"/>
            <a:ext cx="3291840" cy="320040"/>
          </a:xfrm>
          <a:prstGeom prst="rect">
            <a:avLst/>
          </a:prstGeom>
          <a:noFill/>
          <a:ln/>
        </p:spPr>
        <p:txBody>
          <a:bodyPr wrap="square" lIns="0" tIns="0" rIns="0" bIns="0" rtlCol="0" anchor="t"/>
          <a:lstStyle/>
          <a:p>
            <a:pPr indent="0" marL="0">
              <a:buNone/>
            </a:pPr>
            <a:r>
              <a:rPr lang="en-US" sz="1600" b="1" dirty="0">
                <a:solidFill>
                  <a:schemeClr val="tx2"/>
                </a:solidFill>
              </a:rPr>
              <a:t>Messbar</a:t>
            </a:r>
            <a:endParaRPr lang="en-US" sz="1600" dirty="0"/>
          </a:p>
        </p:txBody>
      </p:sp>
      <p:sp>
        <p:nvSpPr>
          <p:cNvPr id="19" name="Text 13"/>
          <p:cNvSpPr txBox="1"/>
          <p:nvPr/>
        </p:nvSpPr>
        <p:spPr>
          <a:xfrm>
            <a:off x="5440680" y="1700784"/>
            <a:ext cx="3291840" cy="594360"/>
          </a:xfrm>
          <a:prstGeom prst="rect">
            <a:avLst/>
          </a:prstGeom>
          <a:noFill/>
          <a:ln/>
        </p:spPr>
        <p:txBody>
          <a:bodyPr wrap="square" lIns="0" tIns="0" rIns="0" bIns="0" rtlCol="0" anchor="t"/>
          <a:lstStyle/>
          <a:p>
            <a:pPr indent="0" marL="0">
              <a:buNone/>
            </a:pPr>
            <a:r>
              <a:rPr lang="en-US" sz="1300" dirty="0">
                <a:solidFill>
                  <a:schemeClr val="tx1"/>
                </a:solidFill>
              </a:rPr>
              <a:t>Tokens, Kosten und Laufzeit werden bei jedem Lauf protokolliert.</a:t>
            </a:r>
            <a:endParaRPr lang="en-US" sz="1300" dirty="0"/>
          </a:p>
        </p:txBody>
      </p:sp>
      <p:sp>
        <p:nvSpPr>
          <p:cNvPr id="20" name="Sicher Kreis"/>
          <p:cNvSpPr/>
          <p:nvPr/>
        </p:nvSpPr>
        <p:spPr>
          <a:xfrm>
            <a:off x="4709160" y="2468880"/>
            <a:ext cx="548640" cy="548640"/>
          </a:xfrm>
          <a:prstGeom prst="ellipse">
            <a:avLst/>
          </a:prstGeom>
          <a:solidFill>
            <a:schemeClr val="accent6"/>
          </a:solidFill>
          <a:ln w="12700">
            <a:solidFill>
              <a:schemeClr val="accent6"/>
            </a:solidFill>
            <a:prstDash val="solid"/>
          </a:ln>
        </p:spPr>
      </p:sp>
      <p:pic>
        <p:nvPicPr>
          <p:cNvPr id="21" name="Sicher Symbol" descr="Sicher">    </p:cNvPr>
          <p:cNvPicPr>
            <a:picLocks noChangeAspect="1"/>
          </p:cNvPicPr>
          <p:nvPr/>
        </p:nvPicPr>
        <p:blipFill>
          <a:blip r:embed="rId5"/>
          <a:stretch>
            <a:fillRect/>
          </a:stretch>
        </p:blipFill>
        <p:spPr>
          <a:xfrm>
            <a:off x="4846320" y="2606040"/>
            <a:ext cx="274320" cy="274320"/>
          </a:xfrm>
          <a:prstGeom prst="rect">
            <a:avLst/>
          </a:prstGeom>
        </p:spPr>
      </p:pic>
      <p:sp>
        <p:nvSpPr>
          <p:cNvPr id="22" name="Text 15"/>
          <p:cNvSpPr txBox="1"/>
          <p:nvPr/>
        </p:nvSpPr>
        <p:spPr>
          <a:xfrm>
            <a:off x="5440680" y="2423160"/>
            <a:ext cx="3291840" cy="320040"/>
          </a:xfrm>
          <a:prstGeom prst="rect">
            <a:avLst/>
          </a:prstGeom>
          <a:noFill/>
          <a:ln/>
        </p:spPr>
        <p:txBody>
          <a:bodyPr wrap="square" lIns="0" tIns="0" rIns="0" bIns="0" rtlCol="0" anchor="t"/>
          <a:lstStyle/>
          <a:p>
            <a:pPr indent="0" marL="0">
              <a:buNone/>
            </a:pPr>
            <a:r>
              <a:rPr lang="en-US" sz="1600" b="1" dirty="0">
                <a:solidFill>
                  <a:schemeClr val="tx2"/>
                </a:solidFill>
              </a:rPr>
              <a:t>Sicher</a:t>
            </a:r>
            <a:endParaRPr lang="en-US" sz="1600" dirty="0"/>
          </a:p>
        </p:txBody>
      </p:sp>
      <p:sp>
        <p:nvSpPr>
          <p:cNvPr id="23" name="Text 16"/>
          <p:cNvSpPr txBox="1"/>
          <p:nvPr/>
        </p:nvSpPr>
        <p:spPr>
          <a:xfrm>
            <a:off x="5440680" y="2752344"/>
            <a:ext cx="3291840" cy="594360"/>
          </a:xfrm>
          <a:prstGeom prst="rect">
            <a:avLst/>
          </a:prstGeom>
          <a:noFill/>
          <a:ln/>
        </p:spPr>
        <p:txBody>
          <a:bodyPr wrap="square" lIns="0" tIns="0" rIns="0" bIns="0" rtlCol="0" anchor="t"/>
          <a:lstStyle/>
          <a:p>
            <a:pPr indent="0" marL="0">
              <a:buNone/>
            </a:pPr>
            <a:r>
              <a:rPr lang="en-US" sz="1300" dirty="0">
                <a:solidFill>
                  <a:schemeClr val="tx1"/>
                </a:solidFill>
              </a:rPr>
              <a:t>Kundentext ist Daten, keine Anweisung. Die FIN geht nicht an die KI.</a:t>
            </a:r>
            <a:endParaRPr lang="en-US" sz="1300" dirty="0"/>
          </a:p>
        </p:txBody>
      </p:sp>
      <p:sp>
        <p:nvSpPr>
          <p:cNvPr id="24" name="Merksatz"/>
          <p:cNvSpPr/>
          <p:nvPr/>
        </p:nvSpPr>
        <p:spPr>
          <a:xfrm>
            <a:off x="4709160" y="3474720"/>
            <a:ext cx="3977640" cy="1005840"/>
          </a:xfrm>
          <a:prstGeom prst="roundRect">
            <a:avLst>
              <a:gd name="adj" fmla="val 7273"/>
            </a:avLst>
          </a:prstGeom>
          <a:solidFill>
            <a:schemeClr val="tx2"/>
          </a:solidFill>
          <a:ln w="12700">
            <a:solidFill>
              <a:schemeClr val="tx2"/>
            </a:solidFill>
            <a:prstDash val="solid"/>
          </a:ln>
        </p:spPr>
      </p:sp>
      <p:sp>
        <p:nvSpPr>
          <p:cNvPr id="25" name="Text 18"/>
          <p:cNvSpPr txBox="1"/>
          <p:nvPr/>
        </p:nvSpPr>
        <p:spPr>
          <a:xfrm>
            <a:off x="4892040" y="3474720"/>
            <a:ext cx="3611880" cy="1005840"/>
          </a:xfrm>
          <a:prstGeom prst="rect">
            <a:avLst/>
          </a:prstGeom>
          <a:noFill/>
          <a:ln/>
        </p:spPr>
        <p:txBody>
          <a:bodyPr wrap="square" lIns="0" tIns="0" rIns="0" bIns="0" rtlCol="0" anchor="ctr"/>
          <a:lstStyle/>
          <a:p>
            <a:pPr indent="0" marL="0">
              <a:buNone/>
            </a:pPr>
            <a:r>
              <a:rPr lang="en-US" sz="1400" b="1" i="1" dirty="0">
                <a:solidFill>
                  <a:schemeClr val="bg1"/>
                </a:solidFill>
              </a:rPr>
              <a:t>Größer heißt nicht besser – ein guter Workflow ist einer, dem man vertrauen kann.</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1"/>
                </a:solidFill>
              </a:rPr>
              <a:t>3 · LIVE-DEMO</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bg1"/>
                </a:solidFill>
              </a:rPr>
              <a:t>Ein Durchlauf von der Anfrage zum Bericht</a:t>
            </a:r>
            <a:endParaRPr lang="en-US" sz="3000" dirty="0"/>
          </a:p>
        </p:txBody>
      </p:sp>
      <p:sp>
        <p:nvSpPr>
          <p:cNvPr id="4" name="Schritt 1"/>
          <p:cNvSpPr/>
          <p:nvPr/>
        </p:nvSpPr>
        <p:spPr>
          <a:xfrm>
            <a:off x="457200" y="137160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457200" y="137160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1</a:t>
            </a:r>
            <a:endParaRPr lang="en-US" sz="2000" dirty="0"/>
          </a:p>
        </p:txBody>
      </p:sp>
      <p:sp>
        <p:nvSpPr>
          <p:cNvPr id="6" name="Text 4"/>
          <p:cNvSpPr txBox="1"/>
          <p:nvPr/>
        </p:nvSpPr>
        <p:spPr>
          <a:xfrm>
            <a:off x="1188720" y="1353312"/>
            <a:ext cx="3657600" cy="292608"/>
          </a:xfrm>
          <a:prstGeom prst="rect">
            <a:avLst/>
          </a:prstGeom>
          <a:noFill/>
          <a:ln/>
        </p:spPr>
        <p:txBody>
          <a:bodyPr wrap="square" lIns="0" tIns="0" rIns="0" bIns="0" rtlCol="0" anchor="t"/>
          <a:lstStyle/>
          <a:p>
            <a:pPr indent="0" marL="0">
              <a:buNone/>
            </a:pPr>
            <a:r>
              <a:rPr lang="en-US" sz="1600" b="1" dirty="0">
                <a:solidFill>
                  <a:schemeClr val="bg1"/>
                </a:solidFill>
              </a:rPr>
              <a:t>Anfrage erfassen</a:t>
            </a:r>
            <a:endParaRPr lang="en-US" sz="1600" dirty="0"/>
          </a:p>
        </p:txBody>
      </p:sp>
      <p:sp>
        <p:nvSpPr>
          <p:cNvPr id="7" name="Text 5"/>
          <p:cNvSpPr txBox="1"/>
          <p:nvPr/>
        </p:nvSpPr>
        <p:spPr>
          <a:xfrm>
            <a:off x="1188720" y="1645920"/>
            <a:ext cx="3840480" cy="320040"/>
          </a:xfrm>
          <a:prstGeom prst="rect">
            <a:avLst/>
          </a:prstGeom>
          <a:noFill/>
          <a:ln/>
        </p:spPr>
        <p:txBody>
          <a:bodyPr wrap="square" lIns="0" tIns="0" rIns="0" bIns="0" rtlCol="0" anchor="t"/>
          <a:lstStyle/>
          <a:p>
            <a:pPr indent="0" marL="0">
              <a:buNone/>
            </a:pPr>
            <a:r>
              <a:rPr lang="en-US" sz="1250" dirty="0">
                <a:solidFill>
                  <a:schemeClr val="bg2"/>
                </a:solidFill>
              </a:rPr>
              <a:t>Anonymisierter Fahrzeugschein + „Motor ruckelt beim Start“</a:t>
            </a:r>
            <a:endParaRPr lang="en-US" sz="1250" dirty="0"/>
          </a:p>
        </p:txBody>
      </p:sp>
      <p:sp>
        <p:nvSpPr>
          <p:cNvPr id="8" name="Schritt 2"/>
          <p:cNvSpPr/>
          <p:nvPr/>
        </p:nvSpPr>
        <p:spPr>
          <a:xfrm>
            <a:off x="457200" y="2194560"/>
            <a:ext cx="548640" cy="548640"/>
          </a:xfrm>
          <a:prstGeom prst="ellipse">
            <a:avLst/>
          </a:prstGeom>
          <a:solidFill>
            <a:schemeClr val="accent1"/>
          </a:solidFill>
          <a:ln w="12700">
            <a:solidFill>
              <a:schemeClr val="accent1"/>
            </a:solidFill>
            <a:prstDash val="solid"/>
          </a:ln>
        </p:spPr>
      </p:sp>
      <p:sp>
        <p:nvSpPr>
          <p:cNvPr id="9" name="Text 7"/>
          <p:cNvSpPr txBox="1"/>
          <p:nvPr/>
        </p:nvSpPr>
        <p:spPr>
          <a:xfrm>
            <a:off x="457200" y="219456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2</a:t>
            </a:r>
            <a:endParaRPr lang="en-US" sz="2000" dirty="0"/>
          </a:p>
        </p:txBody>
      </p:sp>
      <p:sp>
        <p:nvSpPr>
          <p:cNvPr id="10" name="Text 8"/>
          <p:cNvSpPr txBox="1"/>
          <p:nvPr/>
        </p:nvSpPr>
        <p:spPr>
          <a:xfrm>
            <a:off x="1188720" y="2176272"/>
            <a:ext cx="3657600" cy="292608"/>
          </a:xfrm>
          <a:prstGeom prst="rect">
            <a:avLst/>
          </a:prstGeom>
          <a:noFill/>
          <a:ln/>
        </p:spPr>
        <p:txBody>
          <a:bodyPr wrap="square" lIns="0" tIns="0" rIns="0" bIns="0" rtlCol="0" anchor="t"/>
          <a:lstStyle/>
          <a:p>
            <a:pPr indent="0" marL="0">
              <a:buNone/>
            </a:pPr>
            <a:r>
              <a:rPr lang="en-US" sz="1600" b="1" dirty="0">
                <a:solidFill>
                  <a:schemeClr val="bg1"/>
                </a:solidFill>
              </a:rPr>
              <a:t>OBD2-Testfall wählen</a:t>
            </a:r>
            <a:endParaRPr lang="en-US" sz="1600" dirty="0"/>
          </a:p>
        </p:txBody>
      </p:sp>
      <p:sp>
        <p:nvSpPr>
          <p:cNvPr id="11" name="Text 9"/>
          <p:cNvSpPr txBox="1"/>
          <p:nvPr/>
        </p:nvSpPr>
        <p:spPr>
          <a:xfrm>
            <a:off x="1188720" y="2468880"/>
            <a:ext cx="3840480" cy="320040"/>
          </a:xfrm>
          <a:prstGeom prst="rect">
            <a:avLst/>
          </a:prstGeom>
          <a:noFill/>
          <a:ln/>
        </p:spPr>
        <p:txBody>
          <a:bodyPr wrap="square" lIns="0" tIns="0" rIns="0" bIns="0" rtlCol="0" anchor="t"/>
          <a:lstStyle/>
          <a:p>
            <a:pPr indent="0" marL="0">
              <a:buNone/>
            </a:pPr>
            <a:r>
              <a:rPr lang="en-US" sz="1250" dirty="0">
                <a:solidFill>
                  <a:schemeClr val="bg2"/>
                </a:solidFill>
              </a:rPr>
              <a:t>p0300 – simulierte Verbrennungsaussetzer</a:t>
            </a:r>
            <a:endParaRPr lang="en-US" sz="1250" dirty="0"/>
          </a:p>
        </p:txBody>
      </p:sp>
      <p:sp>
        <p:nvSpPr>
          <p:cNvPr id="12" name="Schritt 3"/>
          <p:cNvSpPr/>
          <p:nvPr/>
        </p:nvSpPr>
        <p:spPr>
          <a:xfrm>
            <a:off x="457200" y="3017520"/>
            <a:ext cx="548640" cy="548640"/>
          </a:xfrm>
          <a:prstGeom prst="ellipse">
            <a:avLst/>
          </a:prstGeom>
          <a:solidFill>
            <a:schemeClr val="accent1"/>
          </a:solidFill>
          <a:ln w="12700">
            <a:solidFill>
              <a:schemeClr val="accent1"/>
            </a:solidFill>
            <a:prstDash val="solid"/>
          </a:ln>
        </p:spPr>
      </p:sp>
      <p:sp>
        <p:nvSpPr>
          <p:cNvPr id="13" name="Text 11"/>
          <p:cNvSpPr txBox="1"/>
          <p:nvPr/>
        </p:nvSpPr>
        <p:spPr>
          <a:xfrm>
            <a:off x="457200" y="301752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14" name="Text 12"/>
          <p:cNvSpPr txBox="1"/>
          <p:nvPr/>
        </p:nvSpPr>
        <p:spPr>
          <a:xfrm>
            <a:off x="1188720" y="2999232"/>
            <a:ext cx="3657600" cy="292608"/>
          </a:xfrm>
          <a:prstGeom prst="rect">
            <a:avLst/>
          </a:prstGeom>
          <a:noFill/>
          <a:ln/>
        </p:spPr>
        <p:txBody>
          <a:bodyPr wrap="square" lIns="0" tIns="0" rIns="0" bIns="0" rtlCol="0" anchor="t"/>
          <a:lstStyle/>
          <a:p>
            <a:pPr indent="0" marL="0">
              <a:buNone/>
            </a:pPr>
            <a:r>
              <a:rPr lang="en-US" sz="1600" b="1" dirty="0">
                <a:solidFill>
                  <a:schemeClr val="bg1"/>
                </a:solidFill>
              </a:rPr>
              <a:t>Ergebnis zeigen</a:t>
            </a:r>
            <a:endParaRPr lang="en-US" sz="1600" dirty="0"/>
          </a:p>
        </p:txBody>
      </p:sp>
      <p:sp>
        <p:nvSpPr>
          <p:cNvPr id="15" name="Text 13"/>
          <p:cNvSpPr txBox="1"/>
          <p:nvPr/>
        </p:nvSpPr>
        <p:spPr>
          <a:xfrm>
            <a:off x="1188720" y="3291840"/>
            <a:ext cx="3840480" cy="320040"/>
          </a:xfrm>
          <a:prstGeom prst="rect">
            <a:avLst/>
          </a:prstGeom>
          <a:noFill/>
          <a:ln/>
        </p:spPr>
        <p:txBody>
          <a:bodyPr wrap="square" lIns="0" tIns="0" rIns="0" bIns="0" rtlCol="0" anchor="t"/>
          <a:lstStyle/>
          <a:p>
            <a:pPr indent="0" marL="0">
              <a:buNone/>
            </a:pPr>
            <a:r>
              <a:rPr lang="en-US" sz="1250" dirty="0">
                <a:solidFill>
                  <a:schemeClr val="bg2"/>
                </a:solidFill>
              </a:rPr>
              <a:t>Node 19: Bericht, Quellen, Tokens, Kosten, Speicherstatus</a:t>
            </a:r>
            <a:endParaRPr lang="en-US" sz="1250" dirty="0"/>
          </a:p>
        </p:txBody>
      </p:sp>
      <p:sp>
        <p:nvSpPr>
          <p:cNvPr id="16" name="Erwartet Karte"/>
          <p:cNvSpPr/>
          <p:nvPr/>
        </p:nvSpPr>
        <p:spPr>
          <a:xfrm>
            <a:off x="5394960" y="1371600"/>
            <a:ext cx="3291840" cy="2377440"/>
          </a:xfrm>
          <a:prstGeom prst="roundRect">
            <a:avLst>
              <a:gd name="adj" fmla="val 3077"/>
            </a:avLst>
          </a:prstGeom>
          <a:solidFill>
            <a:srgbClr val="22325A"/>
          </a:solidFill>
          <a:ln w="12700">
            <a:solidFill>
              <a:srgbClr val="22325A"/>
            </a:solidFill>
            <a:prstDash val="solid"/>
          </a:ln>
        </p:spPr>
      </p:sp>
      <p:sp>
        <p:nvSpPr>
          <p:cNvPr id="17" name="Text 15"/>
          <p:cNvSpPr txBox="1"/>
          <p:nvPr/>
        </p:nvSpPr>
        <p:spPr>
          <a:xfrm>
            <a:off x="5577840" y="1508760"/>
            <a:ext cx="2971800" cy="2194560"/>
          </a:xfrm>
          <a:prstGeom prst="rect">
            <a:avLst/>
          </a:prstGeom>
          <a:noFill/>
          <a:ln/>
        </p:spPr>
        <p:txBody>
          <a:bodyPr wrap="square" lIns="0" tIns="0" rIns="0" bIns="0" rtlCol="0" anchor="t"/>
          <a:lstStyle/>
          <a:p>
            <a:pPr indent="0" marL="0">
              <a:spcAft>
                <a:spcPts val="400"/>
              </a:spcAft>
              <a:buNone/>
            </a:pPr>
            <a:r>
              <a:rPr lang="en-US" sz="1500" b="1" dirty="0">
                <a:solidFill>
                  <a:schemeClr val="accent1"/>
                </a:solidFill>
              </a:rPr>
              <a:t>Was man sehen wird</a:t>
            </a:r>
            <a:endParaRPr lang="en-US" sz="1250" dirty="0"/>
          </a:p>
          <a:p>
            <a:pPr marL="342900" indent="-342900">
              <a:spcAft>
                <a:spcPts val="400"/>
              </a:spcAft>
              <a:buSzPct val="100000"/>
              <a:buChar char="•"/>
            </a:pPr>
            <a:r>
              <a:rPr lang="en-US" sz="1250" dirty="0">
                <a:solidFill>
                  <a:schemeClr val="bg1"/>
                </a:solidFill>
              </a:rPr>
              <a:t>Marke und Modell aus dem Foto</a:t>
            </a:r>
            <a:endParaRPr lang="en-US" sz="1250" dirty="0"/>
          </a:p>
          <a:p>
            <a:pPr marL="342900" indent="-342900">
              <a:spcAft>
                <a:spcPts val="400"/>
              </a:spcAft>
              <a:buSzPct val="100000"/>
              <a:buChar char="•"/>
            </a:pPr>
            <a:r>
              <a:rPr lang="en-US" sz="1250" dirty="0">
                <a:solidFill>
                  <a:schemeClr val="bg1"/>
                </a:solidFill>
              </a:rPr>
              <a:t>P0300 als Simulation gekennzeichnet</a:t>
            </a:r>
            <a:endParaRPr lang="en-US" sz="1250" dirty="0"/>
          </a:p>
          <a:p>
            <a:pPr marL="342900" indent="-342900">
              <a:spcAft>
                <a:spcPts val="400"/>
              </a:spcAft>
              <a:buSzPct val="100000"/>
              <a:buChar char="•"/>
            </a:pPr>
            <a:r>
              <a:rPr lang="en-US" sz="1250" dirty="0">
                <a:solidFill>
                  <a:schemeClr val="bg1"/>
                </a:solidFill>
              </a:rPr>
              <a:t>Rückfragen + Antwortentwurf</a:t>
            </a:r>
            <a:endParaRPr lang="en-US" sz="1250" dirty="0"/>
          </a:p>
          <a:p>
            <a:pPr marL="342900" indent="-342900">
              <a:spcAft>
                <a:spcPts val="400"/>
              </a:spcAft>
              <a:buSzPct val="100000"/>
              <a:buChar char="•"/>
            </a:pPr>
            <a:r>
              <a:rPr lang="en-US" sz="1250" dirty="0">
                <a:solidFill>
                  <a:schemeClr val="bg1"/>
                </a:solidFill>
              </a:rPr>
              <a:t>Kein Termin, keine Diagnose</a:t>
            </a:r>
            <a:endParaRPr lang="en-US" sz="1250" dirty="0"/>
          </a:p>
          <a:p>
            <a:pPr marL="342900" indent="-342900">
              <a:spcAft>
                <a:spcPts val="400"/>
              </a:spcAft>
              <a:buSzPct val="100000"/>
              <a:buChar char="•"/>
            </a:pPr>
            <a:r>
              <a:rPr lang="en-US" sz="1250" dirty="0">
                <a:solidFill>
                  <a:schemeClr val="bg1"/>
                </a:solidFill>
              </a:rPr>
              <a:t>Status „Prüfung erforderlich“, weil Fotowerte noch unbestätigt sind</a:t>
            </a:r>
            <a:endParaRPr lang="en-US" sz="1250" dirty="0"/>
          </a:p>
        </p:txBody>
      </p:sp>
      <p:sp>
        <p:nvSpPr>
          <p:cNvPr id="18" name="Text 16"/>
          <p:cNvSpPr txBox="1"/>
          <p:nvPr/>
        </p:nvSpPr>
        <p:spPr>
          <a:xfrm>
            <a:off x="457200" y="4023360"/>
            <a:ext cx="8229600" cy="365760"/>
          </a:xfrm>
          <a:prstGeom prst="rect">
            <a:avLst/>
          </a:prstGeom>
          <a:noFill/>
          <a:ln/>
        </p:spPr>
        <p:txBody>
          <a:bodyPr wrap="square" lIns="0" tIns="0" rIns="0" bIns="0" rtlCol="0" anchor="t"/>
          <a:lstStyle/>
          <a:p>
            <a:pPr indent="0" marL="0">
              <a:buNone/>
            </a:pPr>
            <a:r>
              <a:rPr lang="en-US" sz="1200" i="1" dirty="0">
                <a:solidFill>
                  <a:schemeClr val="bg2"/>
                </a:solidFill>
              </a:rPr>
              <a:t>Falls die Live-Demo hängt: vorbereiteter echter Lauf in den n8n-Executions.</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F2F4F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4 · TESTING</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Vier OBD2-Szenarien, zwölf Testfälle</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120640" cy="914400"/>
        </p:xfrm>
        <a:graphic>
          <a:graphicData uri="http://schemas.openxmlformats.org/drawingml/2006/table">
            <a:tbl>
              <a:tblPr/>
              <a:tblGrid>
                <a:gridCol w="1371600"/>
                <a:gridCol w="2377440"/>
                <a:gridCol w="1371600"/>
              </a:tblGrid>
              <a:tr h="384048">
                <a:tc>
                  <a:txBody>
                    <a:bodyPr/>
                    <a:lstStyle/>
                    <a:p>
                      <a:pPr indent="0" marL="0">
                        <a:buNone/>
                      </a:pPr>
                      <a:r>
                        <a:rPr lang="en-US" sz="1200" b="1" dirty="0">
                          <a:solidFill>
                            <a:schemeClr val="bg1"/>
                          </a:solidFill>
                        </a:rPr>
                        <a:t>Testfall</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Erwartetes Ergebnis</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Stand</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r>
              <a:tr h="384048">
                <a:tc>
                  <a:txBody>
                    <a:bodyPr/>
                    <a:lstStyle/>
                    <a:p>
                      <a:pPr indent="0" marL="0">
                        <a:buNone/>
                      </a:pPr>
                      <a:r>
                        <a:rPr lang="en-US" sz="1200" dirty="0">
                          <a:solidFill>
                            <a:schemeClr val="tx1"/>
                          </a:solidFill>
                        </a:rPr>
                        <a:t>P0300</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Simulierter Code im Bericht</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Code-Prüfung bestanden</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P0420</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Anderer Code, gleiche Quellenregeln</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Code-Prüfung bestanden</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r h="384048">
                <a:tc>
                  <a:txBody>
                    <a:bodyPr/>
                    <a:lstStyle/>
                    <a:p>
                      <a:pPr indent="0" marL="0">
                        <a:buNone/>
                      </a:pPr>
                      <a:r>
                        <a:rPr lang="en-US" sz="1200" dirty="0">
                          <a:solidFill>
                            <a:schemeClr val="tx1"/>
                          </a:solidFill>
                        </a:rPr>
                        <a:t>Ohne Fehler</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Codes leer – keine Fehlerfreiheit ableiten</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Code-Prüfung bestanden</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Verbindungsfehler</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Daten unbekannt, sichtbarer Teilbericht</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Code-Prüfung bestanden</a:t>
                      </a:r>
                      <a:endParaRPr lang="en-US" sz="120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bl>
          </a:graphicData>
        </a:graphic>
      </p:graphicFrame>
      <p:sp>
        <p:nvSpPr>
          <p:cNvPr id="5" name="Kennzahl 1"/>
          <p:cNvSpPr/>
          <p:nvPr/>
        </p:nvSpPr>
        <p:spPr>
          <a:xfrm>
            <a:off x="5852160" y="1371600"/>
            <a:ext cx="2834640" cy="1024128"/>
          </a:xfrm>
          <a:prstGeom prst="roundRect">
            <a:avLst>
              <a:gd name="adj" fmla="val 7143"/>
            </a:avLst>
          </a:prstGeom>
          <a:solidFill>
            <a:schemeClr val="bg2"/>
          </a:solidFill>
          <a:ln w="12700">
            <a:solidFill>
              <a:schemeClr val="bg2"/>
            </a:solidFill>
            <a:prstDash val="solid"/>
          </a:ln>
        </p:spPr>
      </p:sp>
      <p:sp>
        <p:nvSpPr>
          <p:cNvPr id="6" name="Text 3"/>
          <p:cNvSpPr txBox="1"/>
          <p:nvPr/>
        </p:nvSpPr>
        <p:spPr>
          <a:xfrm>
            <a:off x="6035040" y="1444752"/>
            <a:ext cx="2560320" cy="502920"/>
          </a:xfrm>
          <a:prstGeom prst="rect">
            <a:avLst/>
          </a:prstGeom>
          <a:noFill/>
          <a:ln/>
        </p:spPr>
        <p:txBody>
          <a:bodyPr wrap="square" lIns="0" tIns="0" rIns="0" bIns="0" rtlCol="0" anchor="t"/>
          <a:lstStyle/>
          <a:p>
            <a:pPr indent="0" marL="0">
              <a:buNone/>
            </a:pPr>
            <a:r>
              <a:rPr lang="en-US" sz="3000" b="1" dirty="0">
                <a:solidFill>
                  <a:schemeClr val="accent2"/>
                </a:solidFill>
              </a:rPr>
              <a:t>51549</a:t>
            </a:r>
            <a:endParaRPr lang="en-US" sz="3000" dirty="0"/>
          </a:p>
        </p:txBody>
      </p:sp>
      <p:sp>
        <p:nvSpPr>
          <p:cNvPr id="7" name="Text 4"/>
          <p:cNvSpPr txBox="1"/>
          <p:nvPr/>
        </p:nvSpPr>
        <p:spPr>
          <a:xfrm>
            <a:off x="6035040" y="1965960"/>
            <a:ext cx="2560320" cy="365760"/>
          </a:xfrm>
          <a:prstGeom prst="rect">
            <a:avLst/>
          </a:prstGeom>
          <a:noFill/>
          <a:ln/>
        </p:spPr>
        <p:txBody>
          <a:bodyPr wrap="square" lIns="0" tIns="0" rIns="0" bIns="0" rtlCol="0" anchor="t"/>
          <a:lstStyle/>
          <a:p>
            <a:pPr indent="0" marL="0">
              <a:buNone/>
            </a:pPr>
            <a:r>
              <a:rPr lang="en-US" sz="1200" dirty="0">
                <a:solidFill>
                  <a:schemeClr val="tx1"/>
                </a:solidFill>
              </a:rPr>
              <a:t>belegter Live-Run (Text-Workflow, REF01)</a:t>
            </a:r>
            <a:endParaRPr lang="en-US" sz="1200" dirty="0"/>
          </a:p>
        </p:txBody>
      </p:sp>
      <p:sp>
        <p:nvSpPr>
          <p:cNvPr id="8" name="Kennzahl 2"/>
          <p:cNvSpPr/>
          <p:nvPr/>
        </p:nvSpPr>
        <p:spPr>
          <a:xfrm>
            <a:off x="5852160" y="2560320"/>
            <a:ext cx="2834640" cy="1024128"/>
          </a:xfrm>
          <a:prstGeom prst="roundRect">
            <a:avLst>
              <a:gd name="adj" fmla="val 7143"/>
            </a:avLst>
          </a:prstGeom>
          <a:solidFill>
            <a:schemeClr val="bg2"/>
          </a:solidFill>
          <a:ln w="12700">
            <a:solidFill>
              <a:schemeClr val="bg2"/>
            </a:solidFill>
            <a:prstDash val="solid"/>
          </a:ln>
        </p:spPr>
      </p:sp>
      <p:sp>
        <p:nvSpPr>
          <p:cNvPr id="9" name="Text 6"/>
          <p:cNvSpPr txBox="1"/>
          <p:nvPr/>
        </p:nvSpPr>
        <p:spPr>
          <a:xfrm>
            <a:off x="6035040" y="2633472"/>
            <a:ext cx="2560320" cy="502920"/>
          </a:xfrm>
          <a:prstGeom prst="rect">
            <a:avLst/>
          </a:prstGeom>
          <a:noFill/>
          <a:ln/>
        </p:spPr>
        <p:txBody>
          <a:bodyPr wrap="square" lIns="0" tIns="0" rIns="0" bIns="0" rtlCol="0" anchor="t"/>
          <a:lstStyle/>
          <a:p>
            <a:pPr indent="0" marL="0">
              <a:buNone/>
            </a:pPr>
            <a:r>
              <a:rPr lang="en-US" sz="3000" b="1" dirty="0">
                <a:solidFill>
                  <a:schemeClr val="accent4"/>
                </a:solidFill>
              </a:rPr>
              <a:t>12</a:t>
            </a:r>
            <a:endParaRPr lang="en-US" sz="3000" dirty="0"/>
          </a:p>
        </p:txBody>
      </p:sp>
      <p:sp>
        <p:nvSpPr>
          <p:cNvPr id="10" name="Text 7"/>
          <p:cNvSpPr txBox="1"/>
          <p:nvPr/>
        </p:nvSpPr>
        <p:spPr>
          <a:xfrm>
            <a:off x="6035040" y="3154680"/>
            <a:ext cx="2560320" cy="365760"/>
          </a:xfrm>
          <a:prstGeom prst="rect">
            <a:avLst/>
          </a:prstGeom>
          <a:noFill/>
          <a:ln/>
        </p:spPr>
        <p:txBody>
          <a:bodyPr wrap="square" lIns="0" tIns="0" rIns="0" bIns="0" rtlCol="0" anchor="t"/>
          <a:lstStyle/>
          <a:p>
            <a:pPr indent="0" marL="0">
              <a:buNone/>
            </a:pPr>
            <a:r>
              <a:rPr lang="en-US" sz="1200" dirty="0">
                <a:solidFill>
                  <a:schemeClr val="tx1"/>
                </a:solidFill>
              </a:rPr>
              <a:t>Testfälle in der Matrix (Anhang)</a:t>
            </a:r>
            <a:endParaRPr lang="en-US" sz="1200" dirty="0"/>
          </a:p>
        </p:txBody>
      </p:sp>
      <p:sp>
        <p:nvSpPr>
          <p:cNvPr id="11" name="Text 8"/>
          <p:cNvSpPr txBox="1"/>
          <p:nvPr/>
        </p:nvSpPr>
        <p:spPr>
          <a:xfrm>
            <a:off x="457200" y="3886200"/>
            <a:ext cx="8229600" cy="548640"/>
          </a:xfrm>
          <a:prstGeom prst="rect">
            <a:avLst/>
          </a:prstGeom>
          <a:noFill/>
          <a:ln/>
        </p:spPr>
        <p:txBody>
          <a:bodyPr wrap="square" lIns="0" tIns="0" rIns="0" bIns="0" rtlCol="0" anchor="t"/>
          <a:lstStyle/>
          <a:p>
            <a:pPr indent="0" marL="0">
              <a:buNone/>
            </a:pPr>
            <a:r>
              <a:rPr lang="en-US" sz="1200" i="1" dirty="0">
                <a:solidFill>
                  <a:schemeClr val="accent5"/>
                </a:solidFill>
              </a:rPr>
              <a:t>Ehrlich dokumentiert: Code-Prüfung = lokale Tests mit Testdaten. Der Gesamtlauf mit Foto, OpenAI und Supabase wird in n8n nachgewiesen.</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5 · KOSTEN UND PERFORMANCE</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Eine Anfrage kostet weniger als ein Zehntel Cent</a:t>
            </a:r>
            <a:endParaRPr lang="en-US" sz="3000" dirty="0"/>
          </a:p>
        </p:txBody>
      </p:sp>
      <p:sp>
        <p:nvSpPr>
          <p:cNvPr id="4" name="Kosten 1"/>
          <p:cNvSpPr/>
          <p:nvPr/>
        </p:nvSpPr>
        <p:spPr>
          <a:xfrm>
            <a:off x="457200" y="1371600"/>
            <a:ext cx="2596896" cy="1463040"/>
          </a:xfrm>
          <a:prstGeom prst="roundRect">
            <a:avLst>
              <a:gd name="adj" fmla="val 5000"/>
            </a:avLst>
          </a:prstGeom>
          <a:solidFill>
            <a:schemeClr val="bg2"/>
          </a:solidFill>
          <a:ln w="12700">
            <a:solidFill>
              <a:schemeClr val="bg2"/>
            </a:solidFill>
            <a:prstDash val="solid"/>
          </a:ln>
        </p:spPr>
      </p:sp>
      <p:sp>
        <p:nvSpPr>
          <p:cNvPr id="5" name="Text 3"/>
          <p:cNvSpPr txBox="1"/>
          <p:nvPr/>
        </p:nvSpPr>
        <p:spPr>
          <a:xfrm>
            <a:off x="640080" y="1508760"/>
            <a:ext cx="2286000" cy="731520"/>
          </a:xfrm>
          <a:prstGeom prst="rect">
            <a:avLst/>
          </a:prstGeom>
          <a:noFill/>
          <a:ln/>
        </p:spPr>
        <p:txBody>
          <a:bodyPr wrap="square" lIns="0" tIns="0" rIns="0" bIns="0" rtlCol="0" anchor="t"/>
          <a:lstStyle/>
          <a:p>
            <a:pPr indent="0" marL="0">
              <a:buNone/>
            </a:pPr>
            <a:r>
              <a:rPr lang="en-US" sz="3400" b="1" dirty="0">
                <a:solidFill>
                  <a:schemeClr val="accent2"/>
                </a:solidFill>
              </a:rPr>
              <a:t>0,000664 $</a:t>
            </a:r>
            <a:endParaRPr lang="en-US" sz="3400" dirty="0"/>
          </a:p>
        </p:txBody>
      </p:sp>
      <p:sp>
        <p:nvSpPr>
          <p:cNvPr id="6" name="Text 4"/>
          <p:cNvSpPr txBox="1"/>
          <p:nvPr/>
        </p:nvSpPr>
        <p:spPr>
          <a:xfrm>
            <a:off x="640080" y="2286000"/>
            <a:ext cx="2286000" cy="457200"/>
          </a:xfrm>
          <a:prstGeom prst="rect">
            <a:avLst/>
          </a:prstGeom>
          <a:noFill/>
          <a:ln/>
        </p:spPr>
        <p:txBody>
          <a:bodyPr wrap="square" lIns="0" tIns="0" rIns="0" bIns="0" rtlCol="0" anchor="t"/>
          <a:lstStyle/>
          <a:p>
            <a:pPr indent="0" marL="0">
              <a:buNone/>
            </a:pPr>
            <a:r>
              <a:rPr lang="en-US" sz="1300" dirty="0">
                <a:solidFill>
                  <a:schemeClr val="tx1"/>
                </a:solidFill>
              </a:rPr>
              <a:t>pro Anfrage (Text-Workflow)</a:t>
            </a:r>
            <a:endParaRPr lang="en-US" sz="1300" dirty="0"/>
          </a:p>
        </p:txBody>
      </p:sp>
      <p:sp>
        <p:nvSpPr>
          <p:cNvPr id="7" name="Kosten 2"/>
          <p:cNvSpPr/>
          <p:nvPr/>
        </p:nvSpPr>
        <p:spPr>
          <a:xfrm>
            <a:off x="3273552" y="1371600"/>
            <a:ext cx="2596896" cy="1463040"/>
          </a:xfrm>
          <a:prstGeom prst="roundRect">
            <a:avLst>
              <a:gd name="adj" fmla="val 5000"/>
            </a:avLst>
          </a:prstGeom>
          <a:solidFill>
            <a:schemeClr val="bg2"/>
          </a:solidFill>
          <a:ln w="12700">
            <a:solidFill>
              <a:schemeClr val="bg2"/>
            </a:solidFill>
            <a:prstDash val="solid"/>
          </a:ln>
        </p:spPr>
      </p:sp>
      <p:sp>
        <p:nvSpPr>
          <p:cNvPr id="8" name="Text 6"/>
          <p:cNvSpPr txBox="1"/>
          <p:nvPr/>
        </p:nvSpPr>
        <p:spPr>
          <a:xfrm>
            <a:off x="3456432" y="1508760"/>
            <a:ext cx="2286000" cy="731520"/>
          </a:xfrm>
          <a:prstGeom prst="rect">
            <a:avLst/>
          </a:prstGeom>
          <a:noFill/>
          <a:ln/>
        </p:spPr>
        <p:txBody>
          <a:bodyPr wrap="square" lIns="0" tIns="0" rIns="0" bIns="0" rtlCol="0" anchor="t"/>
          <a:lstStyle/>
          <a:p>
            <a:pPr indent="0" marL="0">
              <a:buNone/>
            </a:pPr>
            <a:r>
              <a:rPr lang="en-US" sz="3400" b="1" dirty="0">
                <a:solidFill>
                  <a:schemeClr val="accent1"/>
                </a:solidFill>
              </a:rPr>
              <a:t>1,99 $</a:t>
            </a:r>
            <a:endParaRPr lang="en-US" sz="3400" dirty="0"/>
          </a:p>
        </p:txBody>
      </p:sp>
      <p:sp>
        <p:nvSpPr>
          <p:cNvPr id="9" name="Text 7"/>
          <p:cNvSpPr txBox="1"/>
          <p:nvPr/>
        </p:nvSpPr>
        <p:spPr>
          <a:xfrm>
            <a:off x="3456432" y="2286000"/>
            <a:ext cx="2286000" cy="457200"/>
          </a:xfrm>
          <a:prstGeom prst="rect">
            <a:avLst/>
          </a:prstGeom>
          <a:noFill/>
          <a:ln/>
        </p:spPr>
        <p:txBody>
          <a:bodyPr wrap="square" lIns="0" tIns="0" rIns="0" bIns="0" rtlCol="0" anchor="t"/>
          <a:lstStyle/>
          <a:p>
            <a:pPr indent="0" marL="0">
              <a:buNone/>
            </a:pPr>
            <a:r>
              <a:rPr lang="en-US" sz="1300" dirty="0">
                <a:solidFill>
                  <a:schemeClr val="tx1"/>
                </a:solidFill>
              </a:rPr>
              <a:t>pro Monat bei 100 Anfragen/Tag</a:t>
            </a:r>
            <a:endParaRPr lang="en-US" sz="1300" dirty="0"/>
          </a:p>
        </p:txBody>
      </p:sp>
      <p:sp>
        <p:nvSpPr>
          <p:cNvPr id="10" name="Kosten 3"/>
          <p:cNvSpPr/>
          <p:nvPr/>
        </p:nvSpPr>
        <p:spPr>
          <a:xfrm>
            <a:off x="6089904" y="1371600"/>
            <a:ext cx="2596896" cy="1463040"/>
          </a:xfrm>
          <a:prstGeom prst="roundRect">
            <a:avLst>
              <a:gd name="adj" fmla="val 5000"/>
            </a:avLst>
          </a:prstGeom>
          <a:solidFill>
            <a:schemeClr val="bg2"/>
          </a:solidFill>
          <a:ln w="12700">
            <a:solidFill>
              <a:schemeClr val="bg2"/>
            </a:solidFill>
            <a:prstDash val="solid"/>
          </a:ln>
        </p:spPr>
      </p:sp>
      <p:sp>
        <p:nvSpPr>
          <p:cNvPr id="11" name="Text 9"/>
          <p:cNvSpPr txBox="1"/>
          <p:nvPr/>
        </p:nvSpPr>
        <p:spPr>
          <a:xfrm>
            <a:off x="6272784" y="1508760"/>
            <a:ext cx="2286000" cy="731520"/>
          </a:xfrm>
          <a:prstGeom prst="rect">
            <a:avLst/>
          </a:prstGeom>
          <a:noFill/>
          <a:ln/>
        </p:spPr>
        <p:txBody>
          <a:bodyPr wrap="square" lIns="0" tIns="0" rIns="0" bIns="0" rtlCol="0" anchor="t"/>
          <a:lstStyle/>
          <a:p>
            <a:pPr indent="0" marL="0">
              <a:buNone/>
            </a:pPr>
            <a:r>
              <a:rPr lang="en-US" sz="3400" b="1" dirty="0">
                <a:solidFill>
                  <a:schemeClr val="accent4"/>
                </a:solidFill>
              </a:rPr>
              <a:t>8,2 s</a:t>
            </a:r>
            <a:endParaRPr lang="en-US" sz="3400" dirty="0"/>
          </a:p>
        </p:txBody>
      </p:sp>
      <p:sp>
        <p:nvSpPr>
          <p:cNvPr id="12" name="Text 10"/>
          <p:cNvSpPr txBox="1"/>
          <p:nvPr/>
        </p:nvSpPr>
        <p:spPr>
          <a:xfrm>
            <a:off x="6272784" y="2286000"/>
            <a:ext cx="2286000" cy="457200"/>
          </a:xfrm>
          <a:prstGeom prst="rect">
            <a:avLst/>
          </a:prstGeom>
          <a:noFill/>
          <a:ln/>
        </p:spPr>
        <p:txBody>
          <a:bodyPr wrap="square" lIns="0" tIns="0" rIns="0" bIns="0" rtlCol="0" anchor="t"/>
          <a:lstStyle/>
          <a:p>
            <a:pPr indent="0" marL="0">
              <a:buNone/>
            </a:pPr>
            <a:r>
              <a:rPr lang="en-US" sz="1300" dirty="0">
                <a:solidFill>
                  <a:schemeClr val="tx1"/>
                </a:solidFill>
              </a:rPr>
              <a:t>Gesamtlaufzeit pro Anfrage</a:t>
            </a:r>
            <a:endParaRPr lang="en-US" sz="1300" dirty="0"/>
          </a:p>
        </p:txBody>
      </p:sp>
      <p:sp>
        <p:nvSpPr>
          <p:cNvPr id="13" name="Text 11"/>
          <p:cNvSpPr txBox="1"/>
          <p:nvPr/>
        </p:nvSpPr>
        <p:spPr>
          <a:xfrm>
            <a:off x="457200" y="306324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Gemessen: Run 51549 – 368 Prompt- + 323 Completion-Tokens, gpt-4.1-mini (0,40 $ / 1,60 $ je 1 Mio. Tokens).</a:t>
            </a:r>
            <a:endParaRPr lang="en-US" sz="1300" dirty="0"/>
          </a:p>
          <a:p>
            <a:pPr marL="342900" indent="-342900">
              <a:spcAft>
                <a:spcPts val="600"/>
              </a:spcAft>
              <a:buSzPct val="100000"/>
              <a:buChar char="•"/>
            </a:pPr>
            <a:r>
              <a:rPr lang="en-US" sz="1300" dirty="0">
                <a:solidFill>
                  <a:schemeClr val="tx1"/>
                </a:solidFill>
              </a:rPr>
              <a:t>Die KI ist der langsamste Teil: ca. 6,5 s inkl. Verarbeitung.</a:t>
            </a:r>
            <a:endParaRPr lang="en-US" sz="1300" dirty="0"/>
          </a:p>
          <a:p>
            <a:pPr marL="342900" indent="-342900">
              <a:spcAft>
                <a:spcPts val="600"/>
              </a:spcAft>
              <a:buSzPct val="100000"/>
              <a:buChar char="•"/>
            </a:pPr>
            <a:r>
              <a:rPr lang="en-US" sz="1300" dirty="0">
                <a:solidFill>
                  <a:schemeClr val="tx1"/>
                </a:solidFill>
              </a:rPr>
              <a:t>Mit Foto kommt ein zweiter KI-Aufruf dazu – wird im neuen Workflow automatisch mitgerechnet.</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6 · LESSONS LEARNED</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Was ich beim nächsten Projekt früher mache</a:t>
            </a:r>
            <a:endParaRPr lang="en-US" sz="3000" dirty="0"/>
          </a:p>
        </p:txBody>
      </p:sp>
      <p:sp>
        <p:nvSpPr>
          <p:cNvPr id="4" name="Lesson 1"/>
          <p:cNvSpPr/>
          <p:nvPr/>
        </p:nvSpPr>
        <p:spPr>
          <a:xfrm>
            <a:off x="457200" y="1371600"/>
            <a:ext cx="2596896" cy="2926080"/>
          </a:xfrm>
          <a:prstGeom prst="roundRect">
            <a:avLst>
              <a:gd name="adj" fmla="val 2817"/>
            </a:avLst>
          </a:prstGeom>
          <a:solidFill>
            <a:schemeClr val="bg2"/>
          </a:solidFill>
          <a:ln w="12700">
            <a:solidFill>
              <a:schemeClr val="bg2"/>
            </a:solidFill>
            <a:prstDash val="solid"/>
          </a:ln>
        </p:spPr>
      </p:sp>
      <p:sp>
        <p:nvSpPr>
          <p:cNvPr id="5" name="Feste Datenverträge Kreis"/>
          <p:cNvSpPr/>
          <p:nvPr/>
        </p:nvSpPr>
        <p:spPr>
          <a:xfrm>
            <a:off x="685800" y="1600200"/>
            <a:ext cx="640080" cy="640080"/>
          </a:xfrm>
          <a:prstGeom prst="ellipse">
            <a:avLst/>
          </a:prstGeom>
          <a:solidFill>
            <a:schemeClr val="accent4"/>
          </a:solidFill>
          <a:ln w="12700">
            <a:solidFill>
              <a:schemeClr val="accent4"/>
            </a:solidFill>
            <a:prstDash val="solid"/>
          </a:ln>
        </p:spPr>
      </p:sp>
      <p:pic>
        <p:nvPicPr>
          <p:cNvPr id="6" name="Feste Datenverträge Symbol" descr="Feste Datenverträge">    </p:cNvPr>
          <p:cNvPicPr>
            <a:picLocks noChangeAspect="1"/>
          </p:cNvPicPr>
          <p:nvPr/>
        </p:nvPicPr>
        <p:blipFill>
          <a:blip r:embed="rId1"/>
          <a:stretch>
            <a:fillRect/>
          </a:stretch>
        </p:blipFill>
        <p:spPr>
          <a:xfrm>
            <a:off x="845820" y="1760220"/>
            <a:ext cx="320040" cy="320040"/>
          </a:xfrm>
          <a:prstGeom prst="rect">
            <a:avLst/>
          </a:prstGeom>
        </p:spPr>
      </p:pic>
      <p:sp>
        <p:nvSpPr>
          <p:cNvPr id="7" name="Text 4"/>
          <p:cNvSpPr txBox="1"/>
          <p:nvPr/>
        </p:nvSpPr>
        <p:spPr>
          <a:xfrm>
            <a:off x="685800" y="2423160"/>
            <a:ext cx="2194560" cy="548640"/>
          </a:xfrm>
          <a:prstGeom prst="rect">
            <a:avLst/>
          </a:prstGeom>
          <a:noFill/>
          <a:ln/>
        </p:spPr>
        <p:txBody>
          <a:bodyPr wrap="square" lIns="0" tIns="0" rIns="0" bIns="0" rtlCol="0" anchor="t"/>
          <a:lstStyle/>
          <a:p>
            <a:pPr indent="0" marL="0">
              <a:buNone/>
            </a:pPr>
            <a:r>
              <a:rPr lang="en-US" sz="1600" b="1" dirty="0">
                <a:solidFill>
                  <a:schemeClr val="tx2"/>
                </a:solidFill>
              </a:rPr>
              <a:t>Feste Datenverträge</a:t>
            </a:r>
            <a:endParaRPr lang="en-US" sz="1600" dirty="0"/>
          </a:p>
        </p:txBody>
      </p:sp>
      <p:sp>
        <p:nvSpPr>
          <p:cNvPr id="8" name="Text 5"/>
          <p:cNvSpPr txBox="1"/>
          <p:nvPr/>
        </p:nvSpPr>
        <p:spPr>
          <a:xfrm>
            <a:off x="685800" y="3017520"/>
            <a:ext cx="2194560" cy="1188720"/>
          </a:xfrm>
          <a:prstGeom prst="rect">
            <a:avLst/>
          </a:prstGeom>
          <a:noFill/>
          <a:ln/>
        </p:spPr>
        <p:txBody>
          <a:bodyPr wrap="square" lIns="0" tIns="0" rIns="0" bIns="0" rtlCol="0" anchor="t"/>
          <a:lstStyle/>
          <a:p>
            <a:pPr indent="0" marL="0">
              <a:buNone/>
            </a:pPr>
            <a:r>
              <a:rPr lang="en-US" sz="1300" dirty="0">
                <a:solidFill>
                  <a:schemeClr val="tx1"/>
                </a:solidFill>
              </a:rPr>
              <a:t>Für jeden Subworkflow früh festlegen: welche Felder, welche Quelle, was ist optional.</a:t>
            </a:r>
            <a:endParaRPr lang="en-US" sz="1300" dirty="0"/>
          </a:p>
        </p:txBody>
      </p:sp>
      <p:sp>
        <p:nvSpPr>
          <p:cNvPr id="9" name="Lesson 2"/>
          <p:cNvSpPr/>
          <p:nvPr/>
        </p:nvSpPr>
        <p:spPr>
          <a:xfrm>
            <a:off x="3273552" y="1371600"/>
            <a:ext cx="2596896" cy="2926080"/>
          </a:xfrm>
          <a:prstGeom prst="roundRect">
            <a:avLst>
              <a:gd name="adj" fmla="val 2817"/>
            </a:avLst>
          </a:prstGeom>
          <a:solidFill>
            <a:schemeClr val="bg2"/>
          </a:solidFill>
          <a:ln w="12700">
            <a:solidFill>
              <a:schemeClr val="bg2"/>
            </a:solidFill>
            <a:prstDash val="solid"/>
          </a:ln>
        </p:spPr>
      </p:sp>
      <p:sp>
        <p:nvSpPr>
          <p:cNvPr id="10" name="Fehler sind Teil des Produkts Kreis"/>
          <p:cNvSpPr/>
          <p:nvPr/>
        </p:nvSpPr>
        <p:spPr>
          <a:xfrm>
            <a:off x="3502152" y="1600200"/>
            <a:ext cx="640080" cy="640080"/>
          </a:xfrm>
          <a:prstGeom prst="ellipse">
            <a:avLst/>
          </a:prstGeom>
          <a:solidFill>
            <a:schemeClr val="accent3"/>
          </a:solidFill>
          <a:ln w="12700">
            <a:solidFill>
              <a:schemeClr val="accent3"/>
            </a:solidFill>
            <a:prstDash val="solid"/>
          </a:ln>
        </p:spPr>
      </p:sp>
      <p:pic>
        <p:nvPicPr>
          <p:cNvPr id="11" name="Fehler sind Teil des Produkts Symbol" descr="Fehler sind Teil des Produkts">    </p:cNvPr>
          <p:cNvPicPr>
            <a:picLocks noChangeAspect="1"/>
          </p:cNvPicPr>
          <p:nvPr/>
        </p:nvPicPr>
        <p:blipFill>
          <a:blip r:embed="rId2"/>
          <a:stretch>
            <a:fillRect/>
          </a:stretch>
        </p:blipFill>
        <p:spPr>
          <a:xfrm>
            <a:off x="3662172" y="1760220"/>
            <a:ext cx="320040" cy="320040"/>
          </a:xfrm>
          <a:prstGeom prst="rect">
            <a:avLst/>
          </a:prstGeom>
        </p:spPr>
      </p:pic>
      <p:sp>
        <p:nvSpPr>
          <p:cNvPr id="12" name="Text 8"/>
          <p:cNvSpPr txBox="1"/>
          <p:nvPr/>
        </p:nvSpPr>
        <p:spPr>
          <a:xfrm>
            <a:off x="3502152" y="2423160"/>
            <a:ext cx="2194560" cy="548640"/>
          </a:xfrm>
          <a:prstGeom prst="rect">
            <a:avLst/>
          </a:prstGeom>
          <a:noFill/>
          <a:ln/>
        </p:spPr>
        <p:txBody>
          <a:bodyPr wrap="square" lIns="0" tIns="0" rIns="0" bIns="0" rtlCol="0" anchor="t"/>
          <a:lstStyle/>
          <a:p>
            <a:pPr indent="0" marL="0">
              <a:buNone/>
            </a:pPr>
            <a:r>
              <a:rPr lang="en-US" sz="1600" b="1" dirty="0">
                <a:solidFill>
                  <a:schemeClr val="tx2"/>
                </a:solidFill>
              </a:rPr>
              <a:t>Fehler sind Teil des Produkts</a:t>
            </a:r>
            <a:endParaRPr lang="en-US" sz="1600" dirty="0"/>
          </a:p>
        </p:txBody>
      </p:sp>
      <p:sp>
        <p:nvSpPr>
          <p:cNvPr id="13" name="Text 9"/>
          <p:cNvSpPr txBox="1"/>
          <p:nvPr/>
        </p:nvSpPr>
        <p:spPr>
          <a:xfrm>
            <a:off x="3502152" y="3017520"/>
            <a:ext cx="2194560" cy="1188720"/>
          </a:xfrm>
          <a:prstGeom prst="rect">
            <a:avLst/>
          </a:prstGeom>
          <a:noFill/>
          <a:ln/>
        </p:spPr>
        <p:txBody>
          <a:bodyPr wrap="square" lIns="0" tIns="0" rIns="0" bIns="0" rtlCol="0" anchor="t"/>
          <a:lstStyle/>
          <a:p>
            <a:pPr indent="0" marL="0">
              <a:buNone/>
            </a:pPr>
            <a:r>
              <a:rPr lang="en-US" sz="1300" dirty="0">
                <a:solidFill>
                  <a:schemeClr val="tx1"/>
                </a:solidFill>
              </a:rPr>
              <a:t>Unbekannte Werte und Fallbacks bleiben für den Nutzer sichtbar.</a:t>
            </a:r>
            <a:endParaRPr lang="en-US" sz="1300" dirty="0"/>
          </a:p>
        </p:txBody>
      </p:sp>
      <p:sp>
        <p:nvSpPr>
          <p:cNvPr id="14" name="Lesson 3"/>
          <p:cNvSpPr/>
          <p:nvPr/>
        </p:nvSpPr>
        <p:spPr>
          <a:xfrm>
            <a:off x="6089904" y="1371600"/>
            <a:ext cx="2596896" cy="2926080"/>
          </a:xfrm>
          <a:prstGeom prst="roundRect">
            <a:avLst>
              <a:gd name="adj" fmla="val 2817"/>
            </a:avLst>
          </a:prstGeom>
          <a:solidFill>
            <a:schemeClr val="bg2"/>
          </a:solidFill>
          <a:ln w="12700">
            <a:solidFill>
              <a:schemeClr val="bg2"/>
            </a:solidFill>
            <a:prstDash val="solid"/>
          </a:ln>
        </p:spPr>
      </p:sp>
      <p:sp>
        <p:nvSpPr>
          <p:cNvPr id="15" name="Module getrennt testen Kreis"/>
          <p:cNvSpPr/>
          <p:nvPr/>
        </p:nvSpPr>
        <p:spPr>
          <a:xfrm>
            <a:off x="6318504" y="1600200"/>
            <a:ext cx="640080" cy="640080"/>
          </a:xfrm>
          <a:prstGeom prst="ellipse">
            <a:avLst/>
          </a:prstGeom>
          <a:solidFill>
            <a:schemeClr val="accent2"/>
          </a:solidFill>
          <a:ln w="12700">
            <a:solidFill>
              <a:schemeClr val="accent2"/>
            </a:solidFill>
            <a:prstDash val="solid"/>
          </a:ln>
        </p:spPr>
      </p:sp>
      <p:pic>
        <p:nvPicPr>
          <p:cNvPr id="16" name="Module getrennt testen Symbol" descr="Module getrennt testen">    </p:cNvPr>
          <p:cNvPicPr>
            <a:picLocks noChangeAspect="1"/>
          </p:cNvPicPr>
          <p:nvPr/>
        </p:nvPicPr>
        <p:blipFill>
          <a:blip r:embed="rId3"/>
          <a:stretch>
            <a:fillRect/>
          </a:stretch>
        </p:blipFill>
        <p:spPr>
          <a:xfrm>
            <a:off x="6478524" y="1760220"/>
            <a:ext cx="320040" cy="320040"/>
          </a:xfrm>
          <a:prstGeom prst="rect">
            <a:avLst/>
          </a:prstGeom>
        </p:spPr>
      </p:pic>
      <p:sp>
        <p:nvSpPr>
          <p:cNvPr id="17" name="Text 12"/>
          <p:cNvSpPr txBox="1"/>
          <p:nvPr/>
        </p:nvSpPr>
        <p:spPr>
          <a:xfrm>
            <a:off x="6318504" y="2423160"/>
            <a:ext cx="2194560" cy="548640"/>
          </a:xfrm>
          <a:prstGeom prst="rect">
            <a:avLst/>
          </a:prstGeom>
          <a:noFill/>
          <a:ln/>
        </p:spPr>
        <p:txBody>
          <a:bodyPr wrap="square" lIns="0" tIns="0" rIns="0" bIns="0" rtlCol="0" anchor="t"/>
          <a:lstStyle/>
          <a:p>
            <a:pPr indent="0" marL="0">
              <a:buNone/>
            </a:pPr>
            <a:r>
              <a:rPr lang="en-US" sz="1600" b="1" dirty="0">
                <a:solidFill>
                  <a:schemeClr val="tx2"/>
                </a:solidFill>
              </a:rPr>
              <a:t>Module getrennt testen</a:t>
            </a:r>
            <a:endParaRPr lang="en-US" sz="1600" dirty="0"/>
          </a:p>
        </p:txBody>
      </p:sp>
      <p:sp>
        <p:nvSpPr>
          <p:cNvPr id="18" name="Text 13"/>
          <p:cNvSpPr txBox="1"/>
          <p:nvPr/>
        </p:nvSpPr>
        <p:spPr>
          <a:xfrm>
            <a:off x="6318504" y="3017520"/>
            <a:ext cx="2194560" cy="1188720"/>
          </a:xfrm>
          <a:prstGeom prst="rect">
            <a:avLst/>
          </a:prstGeom>
          <a:noFill/>
          <a:ln/>
        </p:spPr>
        <p:txBody>
          <a:bodyPr wrap="square" lIns="0" tIns="0" rIns="0" bIns="0" rtlCol="0" anchor="t"/>
          <a:lstStyle/>
          <a:p>
            <a:pPr indent="0" marL="0">
              <a:buNone/>
            </a:pPr>
            <a:r>
              <a:rPr lang="en-US" sz="1300" dirty="0">
                <a:solidFill>
                  <a:schemeClr val="tx1"/>
                </a:solidFill>
              </a:rPr>
              <a:t>Subworkflows einzeln testen und dann schneller verbinden.</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6 · VISION</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So wird aus dem Prototyp ein Werkstatt-Assistent</a:t>
            </a:r>
            <a:endParaRPr lang="en-US" sz="3000" dirty="0"/>
          </a:p>
        </p:txBody>
      </p:sp>
      <p:sp>
        <p:nvSpPr>
          <p:cNvPr id="4" name="Zeitachse"/>
          <p:cNvSpPr/>
          <p:nvPr/>
        </p:nvSpPr>
        <p:spPr>
          <a:xfrm>
            <a:off x="822960" y="1783080"/>
            <a:ext cx="7315200" cy="0"/>
          </a:xfrm>
          <a:prstGeom prst="line">
            <a:avLst/>
          </a:prstGeom>
          <a:noFill/>
          <a:ln w="25400">
            <a:solidFill>
              <a:srgbClr val="D5DAE3"/>
            </a:solidFill>
            <a:prstDash val="solid"/>
          </a:ln>
        </p:spPr>
      </p:sp>
      <p:sp>
        <p:nvSpPr>
          <p:cNvPr id="5" name="Fotowerte bestätigen Kreis"/>
          <p:cNvSpPr/>
          <p:nvPr/>
        </p:nvSpPr>
        <p:spPr>
          <a:xfrm>
            <a:off x="868680" y="1463040"/>
            <a:ext cx="640080" cy="640080"/>
          </a:xfrm>
          <a:prstGeom prst="ellipse">
            <a:avLst/>
          </a:prstGeom>
          <a:solidFill>
            <a:schemeClr val="accent2"/>
          </a:solidFill>
          <a:ln w="12700">
            <a:solidFill>
              <a:schemeClr val="accent2"/>
            </a:solidFill>
            <a:prstDash val="solid"/>
          </a:ln>
        </p:spPr>
      </p:sp>
      <p:pic>
        <p:nvPicPr>
          <p:cNvPr id="6" name="Fotowerte bestätigen Symbol" descr="Fotowerte bestätigen">    </p:cNvPr>
          <p:cNvPicPr>
            <a:picLocks noChangeAspect="1"/>
          </p:cNvPicPr>
          <p:nvPr/>
        </p:nvPicPr>
        <p:blipFill>
          <a:blip r:embed="rId1"/>
          <a:stretch>
            <a:fillRect/>
          </a:stretch>
        </p:blipFill>
        <p:spPr>
          <a:xfrm>
            <a:off x="1028700" y="1623060"/>
            <a:ext cx="320040" cy="320040"/>
          </a:xfrm>
          <a:prstGeom prst="rect">
            <a:avLst/>
          </a:prstGeom>
        </p:spPr>
      </p:pic>
      <p:sp>
        <p:nvSpPr>
          <p:cNvPr id="7" name="Text 4"/>
          <p:cNvSpPr txBox="1"/>
          <p:nvPr/>
        </p:nvSpPr>
        <p:spPr>
          <a:xfrm>
            <a:off x="457200" y="2194560"/>
            <a:ext cx="1508760" cy="274320"/>
          </a:xfrm>
          <a:prstGeom prst="rect">
            <a:avLst/>
          </a:prstGeom>
          <a:noFill/>
          <a:ln/>
        </p:spPr>
        <p:txBody>
          <a:bodyPr wrap="square" lIns="0" tIns="0" rIns="0" bIns="0" rtlCol="0" anchor="t"/>
          <a:lstStyle/>
          <a:p>
            <a:pPr algn="ctr" indent="0" marL="0">
              <a:buNone/>
            </a:pPr>
            <a:r>
              <a:rPr lang="en-US" sz="1100" b="1" dirty="0">
                <a:solidFill>
                  <a:schemeClr val="accent2"/>
                </a:solidFill>
              </a:rPr>
              <a:t>Jetzt</a:t>
            </a:r>
            <a:endParaRPr lang="en-US" sz="1100" dirty="0"/>
          </a:p>
        </p:txBody>
      </p:sp>
      <p:sp>
        <p:nvSpPr>
          <p:cNvPr id="8" name="Text 5"/>
          <p:cNvSpPr txBox="1"/>
          <p:nvPr/>
        </p:nvSpPr>
        <p:spPr>
          <a:xfrm>
            <a:off x="457200" y="2468880"/>
            <a:ext cx="1508760" cy="502920"/>
          </a:xfrm>
          <a:prstGeom prst="rect">
            <a:avLst/>
          </a:prstGeom>
          <a:noFill/>
          <a:ln/>
        </p:spPr>
        <p:txBody>
          <a:bodyPr wrap="square" lIns="0" tIns="0" rIns="0" bIns="0" rtlCol="0" anchor="t"/>
          <a:lstStyle/>
          <a:p>
            <a:pPr algn="ctr" indent="0" marL="0">
              <a:buNone/>
            </a:pPr>
            <a:r>
              <a:rPr lang="en-US" sz="1400" b="1" dirty="0">
                <a:solidFill>
                  <a:schemeClr val="tx2"/>
                </a:solidFill>
              </a:rPr>
              <a:t>Fotowerte bestätigen</a:t>
            </a:r>
            <a:endParaRPr lang="en-US" sz="1400" dirty="0"/>
          </a:p>
        </p:txBody>
      </p:sp>
      <p:sp>
        <p:nvSpPr>
          <p:cNvPr id="9" name="Text 6"/>
          <p:cNvSpPr txBox="1"/>
          <p:nvPr/>
        </p:nvSpPr>
        <p:spPr>
          <a:xfrm>
            <a:off x="457200" y="3017520"/>
            <a:ext cx="1508760" cy="1005840"/>
          </a:xfrm>
          <a:prstGeom prst="rect">
            <a:avLst/>
          </a:prstGeom>
          <a:noFill/>
          <a:ln/>
        </p:spPr>
        <p:txBody>
          <a:bodyPr wrap="square" lIns="0" tIns="0" rIns="0" bIns="0" rtlCol="0" anchor="t"/>
          <a:lstStyle/>
          <a:p>
            <a:pPr algn="ctr" indent="0" marL="0">
              <a:buNone/>
            </a:pPr>
            <a:r>
              <a:rPr lang="en-US" sz="1150" dirty="0">
                <a:solidFill>
                  <a:schemeClr val="tx1"/>
                </a:solidFill>
              </a:rPr>
              <a:t>Prototyp gebaut: Kunde bestätigt oder korrigiert die erkannten Daten</a:t>
            </a:r>
            <a:endParaRPr lang="en-US" sz="1150" dirty="0"/>
          </a:p>
        </p:txBody>
      </p:sp>
      <p:sp>
        <p:nvSpPr>
          <p:cNvPr id="10" name="Jede Sprache + E-Mail Kreis"/>
          <p:cNvSpPr/>
          <p:nvPr/>
        </p:nvSpPr>
        <p:spPr>
          <a:xfrm>
            <a:off x="2551176" y="1463040"/>
            <a:ext cx="640080" cy="640080"/>
          </a:xfrm>
          <a:prstGeom prst="ellipse">
            <a:avLst/>
          </a:prstGeom>
          <a:solidFill>
            <a:schemeClr val="accent4"/>
          </a:solidFill>
          <a:ln w="12700">
            <a:solidFill>
              <a:schemeClr val="accent4"/>
            </a:solidFill>
            <a:prstDash val="solid"/>
          </a:ln>
        </p:spPr>
      </p:sp>
      <p:pic>
        <p:nvPicPr>
          <p:cNvPr id="11" name="Jede Sprache + E-Mail Symbol" descr="Jede Sprache + E-Mail">    </p:cNvPr>
          <p:cNvPicPr>
            <a:picLocks noChangeAspect="1"/>
          </p:cNvPicPr>
          <p:nvPr/>
        </p:nvPicPr>
        <p:blipFill>
          <a:blip r:embed="rId2"/>
          <a:stretch>
            <a:fillRect/>
          </a:stretch>
        </p:blipFill>
        <p:spPr>
          <a:xfrm>
            <a:off x="2711196" y="1623060"/>
            <a:ext cx="320040" cy="320040"/>
          </a:xfrm>
          <a:prstGeom prst="rect">
            <a:avLst/>
          </a:prstGeom>
        </p:spPr>
      </p:pic>
      <p:sp>
        <p:nvSpPr>
          <p:cNvPr id="12" name="Text 8"/>
          <p:cNvSpPr txBox="1"/>
          <p:nvPr/>
        </p:nvSpPr>
        <p:spPr>
          <a:xfrm>
            <a:off x="2139696" y="2194560"/>
            <a:ext cx="1508760" cy="274320"/>
          </a:xfrm>
          <a:prstGeom prst="rect">
            <a:avLst/>
          </a:prstGeom>
          <a:noFill/>
          <a:ln/>
        </p:spPr>
        <p:txBody>
          <a:bodyPr wrap="square" lIns="0" tIns="0" rIns="0" bIns="0" rtlCol="0" anchor="t"/>
          <a:lstStyle/>
          <a:p>
            <a:pPr algn="ctr" indent="0" marL="0">
              <a:buNone/>
            </a:pPr>
            <a:r>
              <a:rPr lang="en-US" sz="1100" b="1" dirty="0">
                <a:solidFill>
                  <a:schemeClr val="accent4"/>
                </a:solidFill>
              </a:rPr>
              <a:t>Stufe 1</a:t>
            </a:r>
            <a:endParaRPr lang="en-US" sz="1100" dirty="0"/>
          </a:p>
        </p:txBody>
      </p:sp>
      <p:sp>
        <p:nvSpPr>
          <p:cNvPr id="13" name="Text 9"/>
          <p:cNvSpPr txBox="1"/>
          <p:nvPr/>
        </p:nvSpPr>
        <p:spPr>
          <a:xfrm>
            <a:off x="2139696" y="2468880"/>
            <a:ext cx="1508760" cy="502920"/>
          </a:xfrm>
          <a:prstGeom prst="rect">
            <a:avLst/>
          </a:prstGeom>
          <a:noFill/>
          <a:ln/>
        </p:spPr>
        <p:txBody>
          <a:bodyPr wrap="square" lIns="0" tIns="0" rIns="0" bIns="0" rtlCol="0" anchor="t"/>
          <a:lstStyle/>
          <a:p>
            <a:pPr algn="ctr" indent="0" marL="0">
              <a:buNone/>
            </a:pPr>
            <a:r>
              <a:rPr lang="en-US" sz="1400" b="1" dirty="0">
                <a:solidFill>
                  <a:schemeClr val="tx2"/>
                </a:solidFill>
              </a:rPr>
              <a:t>Jede Sprache + E-Mail</a:t>
            </a:r>
            <a:endParaRPr lang="en-US" sz="1400" dirty="0"/>
          </a:p>
        </p:txBody>
      </p:sp>
      <p:sp>
        <p:nvSpPr>
          <p:cNvPr id="14" name="Text 10"/>
          <p:cNvSpPr txBox="1"/>
          <p:nvPr/>
        </p:nvSpPr>
        <p:spPr>
          <a:xfrm>
            <a:off x="2139696" y="3017520"/>
            <a:ext cx="1508760" cy="1005840"/>
          </a:xfrm>
          <a:prstGeom prst="rect">
            <a:avLst/>
          </a:prstGeom>
          <a:noFill/>
          <a:ln/>
        </p:spPr>
        <p:txBody>
          <a:bodyPr wrap="square" lIns="0" tIns="0" rIns="0" bIns="0" rtlCol="0" anchor="t"/>
          <a:lstStyle/>
          <a:p>
            <a:pPr algn="ctr" indent="0" marL="0">
              <a:buNone/>
            </a:pPr>
            <a:r>
              <a:rPr lang="en-US" sz="1150" dirty="0">
                <a:solidFill>
                  <a:schemeClr val="tx1"/>
                </a:solidFill>
              </a:rPr>
              <a:t>Anfrage in jeder Sprache, Bericht per E-Mail an die Werkstatt</a:t>
            </a:r>
            <a:endParaRPr lang="en-US" sz="1150" dirty="0"/>
          </a:p>
        </p:txBody>
      </p:sp>
      <p:sp>
        <p:nvSpPr>
          <p:cNvPr id="15" name="Terminvorschlag Kreis"/>
          <p:cNvSpPr/>
          <p:nvPr/>
        </p:nvSpPr>
        <p:spPr>
          <a:xfrm>
            <a:off x="4233672" y="1463040"/>
            <a:ext cx="640080" cy="640080"/>
          </a:xfrm>
          <a:prstGeom prst="ellipse">
            <a:avLst/>
          </a:prstGeom>
          <a:solidFill>
            <a:schemeClr val="accent6"/>
          </a:solidFill>
          <a:ln w="12700">
            <a:solidFill>
              <a:schemeClr val="accent6"/>
            </a:solidFill>
            <a:prstDash val="solid"/>
          </a:ln>
        </p:spPr>
      </p:sp>
      <p:pic>
        <p:nvPicPr>
          <p:cNvPr id="16" name="Terminvorschlag Symbol" descr="Terminvorschlag">    </p:cNvPr>
          <p:cNvPicPr>
            <a:picLocks noChangeAspect="1"/>
          </p:cNvPicPr>
          <p:nvPr/>
        </p:nvPicPr>
        <p:blipFill>
          <a:blip r:embed="rId3"/>
          <a:stretch>
            <a:fillRect/>
          </a:stretch>
        </p:blipFill>
        <p:spPr>
          <a:xfrm>
            <a:off x="4393692" y="1623060"/>
            <a:ext cx="320040" cy="320040"/>
          </a:xfrm>
          <a:prstGeom prst="rect">
            <a:avLst/>
          </a:prstGeom>
        </p:spPr>
      </p:pic>
      <p:sp>
        <p:nvSpPr>
          <p:cNvPr id="17" name="Text 12"/>
          <p:cNvSpPr txBox="1"/>
          <p:nvPr/>
        </p:nvSpPr>
        <p:spPr>
          <a:xfrm>
            <a:off x="3822192" y="2194560"/>
            <a:ext cx="1508760" cy="274320"/>
          </a:xfrm>
          <a:prstGeom prst="rect">
            <a:avLst/>
          </a:prstGeom>
          <a:noFill/>
          <a:ln/>
        </p:spPr>
        <p:txBody>
          <a:bodyPr wrap="square" lIns="0" tIns="0" rIns="0" bIns="0" rtlCol="0" anchor="t"/>
          <a:lstStyle/>
          <a:p>
            <a:pPr algn="ctr" indent="0" marL="0">
              <a:buNone/>
            </a:pPr>
            <a:r>
              <a:rPr lang="en-US" sz="1100" b="1" dirty="0">
                <a:solidFill>
                  <a:schemeClr val="accent6"/>
                </a:solidFill>
              </a:rPr>
              <a:t>Stufe 2</a:t>
            </a:r>
            <a:endParaRPr lang="en-US" sz="1100" dirty="0"/>
          </a:p>
        </p:txBody>
      </p:sp>
      <p:sp>
        <p:nvSpPr>
          <p:cNvPr id="18" name="Text 13"/>
          <p:cNvSpPr txBox="1"/>
          <p:nvPr/>
        </p:nvSpPr>
        <p:spPr>
          <a:xfrm>
            <a:off x="3822192" y="2468880"/>
            <a:ext cx="1508760" cy="502920"/>
          </a:xfrm>
          <a:prstGeom prst="rect">
            <a:avLst/>
          </a:prstGeom>
          <a:noFill/>
          <a:ln/>
        </p:spPr>
        <p:txBody>
          <a:bodyPr wrap="square" lIns="0" tIns="0" rIns="0" bIns="0" rtlCol="0" anchor="t"/>
          <a:lstStyle/>
          <a:p>
            <a:pPr algn="ctr" indent="0" marL="0">
              <a:buNone/>
            </a:pPr>
            <a:r>
              <a:rPr lang="en-US" sz="1400" b="1" dirty="0">
                <a:solidFill>
                  <a:schemeClr val="tx2"/>
                </a:solidFill>
              </a:rPr>
              <a:t>Terminvorschlag</a:t>
            </a:r>
            <a:endParaRPr lang="en-US" sz="1400" dirty="0"/>
          </a:p>
        </p:txBody>
      </p:sp>
      <p:sp>
        <p:nvSpPr>
          <p:cNvPr id="19" name="Text 14"/>
          <p:cNvSpPr txBox="1"/>
          <p:nvPr/>
        </p:nvSpPr>
        <p:spPr>
          <a:xfrm>
            <a:off x="3822192" y="3017520"/>
            <a:ext cx="1508760" cy="1005840"/>
          </a:xfrm>
          <a:prstGeom prst="rect">
            <a:avLst/>
          </a:prstGeom>
          <a:noFill/>
          <a:ln/>
        </p:spPr>
        <p:txBody>
          <a:bodyPr wrap="square" lIns="0" tIns="0" rIns="0" bIns="0" rtlCol="0" anchor="t"/>
          <a:lstStyle/>
          <a:p>
            <a:pPr algn="ctr" indent="0" marL="0">
              <a:buNone/>
            </a:pPr>
            <a:r>
              <a:rPr lang="en-US" sz="1150" dirty="0">
                <a:solidFill>
                  <a:schemeClr val="tx1"/>
                </a:solidFill>
              </a:rPr>
              <a:t>Freie Zeiten im Werkstattkalender – nur als Vorschlag</a:t>
            </a:r>
            <a:endParaRPr lang="en-US" sz="1150" dirty="0"/>
          </a:p>
        </p:txBody>
      </p:sp>
      <p:sp>
        <p:nvSpPr>
          <p:cNvPr id="20" name="Wissensbasis Kreis"/>
          <p:cNvSpPr/>
          <p:nvPr/>
        </p:nvSpPr>
        <p:spPr>
          <a:xfrm>
            <a:off x="5916168" y="1463040"/>
            <a:ext cx="640080" cy="640080"/>
          </a:xfrm>
          <a:prstGeom prst="ellipse">
            <a:avLst/>
          </a:prstGeom>
          <a:solidFill>
            <a:schemeClr val="accent1"/>
          </a:solidFill>
          <a:ln w="12700">
            <a:solidFill>
              <a:schemeClr val="accent1"/>
            </a:solidFill>
            <a:prstDash val="solid"/>
          </a:ln>
        </p:spPr>
      </p:sp>
      <p:pic>
        <p:nvPicPr>
          <p:cNvPr id="21" name="Wissensbasis Symbol" descr="Wissensbasis">    </p:cNvPr>
          <p:cNvPicPr>
            <a:picLocks noChangeAspect="1"/>
          </p:cNvPicPr>
          <p:nvPr/>
        </p:nvPicPr>
        <p:blipFill>
          <a:blip r:embed="rId4"/>
          <a:stretch>
            <a:fillRect/>
          </a:stretch>
        </p:blipFill>
        <p:spPr>
          <a:xfrm>
            <a:off x="6076188" y="1623060"/>
            <a:ext cx="320040" cy="320040"/>
          </a:xfrm>
          <a:prstGeom prst="rect">
            <a:avLst/>
          </a:prstGeom>
        </p:spPr>
      </p:pic>
      <p:sp>
        <p:nvSpPr>
          <p:cNvPr id="22" name="Text 16"/>
          <p:cNvSpPr txBox="1"/>
          <p:nvPr/>
        </p:nvSpPr>
        <p:spPr>
          <a:xfrm>
            <a:off x="5504688" y="2194560"/>
            <a:ext cx="1508760" cy="274320"/>
          </a:xfrm>
          <a:prstGeom prst="rect">
            <a:avLst/>
          </a:prstGeom>
          <a:noFill/>
          <a:ln/>
        </p:spPr>
        <p:txBody>
          <a:bodyPr wrap="square" lIns="0" tIns="0" rIns="0" bIns="0" rtlCol="0" anchor="t"/>
          <a:lstStyle/>
          <a:p>
            <a:pPr algn="ctr" indent="0" marL="0">
              <a:buNone/>
            </a:pPr>
            <a:r>
              <a:rPr lang="en-US" sz="1100" b="1" dirty="0">
                <a:solidFill>
                  <a:schemeClr val="accent1"/>
                </a:solidFill>
              </a:rPr>
              <a:t>Stufe 3</a:t>
            </a:r>
            <a:endParaRPr lang="en-US" sz="1100" dirty="0"/>
          </a:p>
        </p:txBody>
      </p:sp>
      <p:sp>
        <p:nvSpPr>
          <p:cNvPr id="23" name="Text 17"/>
          <p:cNvSpPr txBox="1"/>
          <p:nvPr/>
        </p:nvSpPr>
        <p:spPr>
          <a:xfrm>
            <a:off x="5504688" y="2468880"/>
            <a:ext cx="1508760" cy="502920"/>
          </a:xfrm>
          <a:prstGeom prst="rect">
            <a:avLst/>
          </a:prstGeom>
          <a:noFill/>
          <a:ln/>
        </p:spPr>
        <p:txBody>
          <a:bodyPr wrap="square" lIns="0" tIns="0" rIns="0" bIns="0" rtlCol="0" anchor="t"/>
          <a:lstStyle/>
          <a:p>
            <a:pPr algn="ctr" indent="0" marL="0">
              <a:buNone/>
            </a:pPr>
            <a:r>
              <a:rPr lang="en-US" sz="1400" b="1" dirty="0">
                <a:solidFill>
                  <a:schemeClr val="tx2"/>
                </a:solidFill>
              </a:rPr>
              <a:t>Wissensbasis</a:t>
            </a:r>
            <a:endParaRPr lang="en-US" sz="1400" dirty="0"/>
          </a:p>
        </p:txBody>
      </p:sp>
      <p:sp>
        <p:nvSpPr>
          <p:cNvPr id="24" name="Text 18"/>
          <p:cNvSpPr txBox="1"/>
          <p:nvPr/>
        </p:nvSpPr>
        <p:spPr>
          <a:xfrm>
            <a:off x="5504688" y="3017520"/>
            <a:ext cx="1508760" cy="1005840"/>
          </a:xfrm>
          <a:prstGeom prst="rect">
            <a:avLst/>
          </a:prstGeom>
          <a:noFill/>
          <a:ln/>
        </p:spPr>
        <p:txBody>
          <a:bodyPr wrap="square" lIns="0" tIns="0" rIns="0" bIns="0" rtlCol="0" anchor="t"/>
          <a:lstStyle/>
          <a:p>
            <a:pPr algn="ctr" indent="0" marL="0">
              <a:buNone/>
            </a:pPr>
            <a:r>
              <a:rPr lang="en-US" sz="1150" dirty="0">
                <a:solidFill>
                  <a:schemeClr val="tx1"/>
                </a:solidFill>
              </a:rPr>
              <a:t>Typische Ursachen, Teile und Kostenspannen aus echter Preisliste</a:t>
            </a:r>
            <a:endParaRPr lang="en-US" sz="1150" dirty="0"/>
          </a:p>
        </p:txBody>
      </p:sp>
      <p:sp>
        <p:nvSpPr>
          <p:cNvPr id="25" name="Entscheidungshilfe Kreis"/>
          <p:cNvSpPr/>
          <p:nvPr/>
        </p:nvSpPr>
        <p:spPr>
          <a:xfrm>
            <a:off x="7598664" y="1463040"/>
            <a:ext cx="640080" cy="640080"/>
          </a:xfrm>
          <a:prstGeom prst="ellipse">
            <a:avLst/>
          </a:prstGeom>
          <a:solidFill>
            <a:schemeClr val="accent3"/>
          </a:solidFill>
          <a:ln w="12700">
            <a:solidFill>
              <a:schemeClr val="accent3"/>
            </a:solidFill>
            <a:prstDash val="solid"/>
          </a:ln>
        </p:spPr>
      </p:sp>
      <p:pic>
        <p:nvPicPr>
          <p:cNvPr id="26" name="Entscheidungshilfe Symbol" descr="Entscheidungshilfe">    </p:cNvPr>
          <p:cNvPicPr>
            <a:picLocks noChangeAspect="1"/>
          </p:cNvPicPr>
          <p:nvPr/>
        </p:nvPicPr>
        <p:blipFill>
          <a:blip r:embed="rId5"/>
          <a:stretch>
            <a:fillRect/>
          </a:stretch>
        </p:blipFill>
        <p:spPr>
          <a:xfrm>
            <a:off x="7758684" y="1623060"/>
            <a:ext cx="320040" cy="320040"/>
          </a:xfrm>
          <a:prstGeom prst="rect">
            <a:avLst/>
          </a:prstGeom>
        </p:spPr>
      </p:pic>
      <p:sp>
        <p:nvSpPr>
          <p:cNvPr id="27" name="Text 20"/>
          <p:cNvSpPr txBox="1"/>
          <p:nvPr/>
        </p:nvSpPr>
        <p:spPr>
          <a:xfrm>
            <a:off x="7187184" y="2194560"/>
            <a:ext cx="1508760" cy="274320"/>
          </a:xfrm>
          <a:prstGeom prst="rect">
            <a:avLst/>
          </a:prstGeom>
          <a:noFill/>
          <a:ln/>
        </p:spPr>
        <p:txBody>
          <a:bodyPr wrap="square" lIns="0" tIns="0" rIns="0" bIns="0" rtlCol="0" anchor="t"/>
          <a:lstStyle/>
          <a:p>
            <a:pPr algn="ctr" indent="0" marL="0">
              <a:buNone/>
            </a:pPr>
            <a:r>
              <a:rPr lang="en-US" sz="1100" b="1" dirty="0">
                <a:solidFill>
                  <a:schemeClr val="accent3"/>
                </a:solidFill>
              </a:rPr>
              <a:t>Stufe 4</a:t>
            </a:r>
            <a:endParaRPr lang="en-US" sz="1100" dirty="0"/>
          </a:p>
        </p:txBody>
      </p:sp>
      <p:sp>
        <p:nvSpPr>
          <p:cNvPr id="28" name="Text 21"/>
          <p:cNvSpPr txBox="1"/>
          <p:nvPr/>
        </p:nvSpPr>
        <p:spPr>
          <a:xfrm>
            <a:off x="7187184" y="2468880"/>
            <a:ext cx="1508760" cy="502920"/>
          </a:xfrm>
          <a:prstGeom prst="rect">
            <a:avLst/>
          </a:prstGeom>
          <a:noFill/>
          <a:ln/>
        </p:spPr>
        <p:txBody>
          <a:bodyPr wrap="square" lIns="0" tIns="0" rIns="0" bIns="0" rtlCol="0" anchor="t"/>
          <a:lstStyle/>
          <a:p>
            <a:pPr algn="ctr" indent="0" marL="0">
              <a:buNone/>
            </a:pPr>
            <a:r>
              <a:rPr lang="en-US" sz="1400" b="1" dirty="0">
                <a:solidFill>
                  <a:schemeClr val="tx2"/>
                </a:solidFill>
              </a:rPr>
              <a:t>Entscheidungshilfe</a:t>
            </a:r>
            <a:endParaRPr lang="en-US" sz="1400" dirty="0"/>
          </a:p>
        </p:txBody>
      </p:sp>
      <p:sp>
        <p:nvSpPr>
          <p:cNvPr id="29" name="Text 22"/>
          <p:cNvSpPr txBox="1"/>
          <p:nvPr/>
        </p:nvSpPr>
        <p:spPr>
          <a:xfrm>
            <a:off x="7187184" y="3017520"/>
            <a:ext cx="1508760" cy="1005840"/>
          </a:xfrm>
          <a:prstGeom prst="rect">
            <a:avLst/>
          </a:prstGeom>
          <a:noFill/>
          <a:ln/>
        </p:spPr>
        <p:txBody>
          <a:bodyPr wrap="square" lIns="0" tIns="0" rIns="0" bIns="0" rtlCol="0" anchor="t"/>
          <a:lstStyle/>
          <a:p>
            <a:pPr algn="ctr" indent="0" marL="0">
              <a:buNone/>
            </a:pPr>
            <a:r>
              <a:rPr lang="en-US" sz="1150" dirty="0">
                <a:solidFill>
                  <a:schemeClr val="tx1"/>
                </a:solidFill>
              </a:rPr>
              <a:t>Reparaturkosten vs. Fahrzeugwert – der Besitzer entscheidet</a:t>
            </a:r>
            <a:endParaRPr lang="en-US" sz="1150" dirty="0"/>
          </a:p>
        </p:txBody>
      </p:sp>
      <p:sp>
        <p:nvSpPr>
          <p:cNvPr id="30" name="Grundsatz Vision"/>
          <p:cNvSpPr/>
          <p:nvPr/>
        </p:nvSpPr>
        <p:spPr>
          <a:xfrm>
            <a:off x="457200" y="4069080"/>
            <a:ext cx="8229600" cy="548640"/>
          </a:xfrm>
          <a:prstGeom prst="roundRect">
            <a:avLst>
              <a:gd name="adj" fmla="val 13333"/>
            </a:avLst>
          </a:prstGeom>
          <a:solidFill>
            <a:schemeClr val="bg2"/>
          </a:solidFill>
          <a:ln w="12700">
            <a:solidFill>
              <a:schemeClr val="bg2"/>
            </a:solidFill>
            <a:prstDash val="solid"/>
          </a:ln>
        </p:spPr>
      </p:sp>
      <p:sp>
        <p:nvSpPr>
          <p:cNvPr id="31" name="Text 24"/>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300" b="1" dirty="0">
                <a:solidFill>
                  <a:schemeClr val="accent2"/>
                </a:solidFill>
              </a:rPr>
              <a:t>Gleiches Prinzip auch in Zukunft: </a:t>
            </a:r>
            <a:pPr indent="0" marL="0">
              <a:buNone/>
            </a:pPr>
            <a:r>
              <a:rPr lang="en-US" sz="1300" dirty="0">
                <a:solidFill>
                  <a:schemeClr val="tx2"/>
                </a:solidFill>
              </a:rPr>
              <a:t>Kosten nur als Spanne mit Quelle, Termine nur als Vorschlag, Entscheidungen beim Menschen.</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1"/>
                </a:solidFill>
              </a:rPr>
              <a:t>7 · FEEDBACK</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bg1"/>
                </a:solidFill>
              </a:rPr>
              <a:t>Ich freue mich auf eure Rückmeldung</a:t>
            </a:r>
            <a:endParaRPr lang="en-US" sz="3000" dirty="0"/>
          </a:p>
        </p:txBody>
      </p:sp>
      <p:sp>
        <p:nvSpPr>
          <p:cNvPr id="4" name="Frage 1"/>
          <p:cNvSpPr/>
          <p:nvPr/>
        </p:nvSpPr>
        <p:spPr>
          <a:xfrm>
            <a:off x="457200" y="1417320"/>
            <a:ext cx="6675120" cy="731520"/>
          </a:xfrm>
          <a:prstGeom prst="roundRect">
            <a:avLst>
              <a:gd name="adj" fmla="val 10000"/>
            </a:avLst>
          </a:prstGeom>
          <a:solidFill>
            <a:srgbClr val="22325A"/>
          </a:solidFill>
          <a:ln w="12700">
            <a:solidFill>
              <a:srgbClr val="22325A"/>
            </a:solidFill>
            <a:prstDash val="solid"/>
          </a:ln>
        </p:spPr>
      </p:sp>
      <p:sp>
        <p:nvSpPr>
          <p:cNvPr id="5" name="Text 3"/>
          <p:cNvSpPr txBox="1"/>
          <p:nvPr/>
        </p:nvSpPr>
        <p:spPr>
          <a:xfrm>
            <a:off x="640080" y="1417320"/>
            <a:ext cx="365760" cy="731520"/>
          </a:xfrm>
          <a:prstGeom prst="rect">
            <a:avLst/>
          </a:prstGeom>
          <a:noFill/>
          <a:ln/>
        </p:spPr>
        <p:txBody>
          <a:bodyPr wrap="square" lIns="0" tIns="0" rIns="0" bIns="0" rtlCol="0" anchor="ctr"/>
          <a:lstStyle/>
          <a:p>
            <a:pPr indent="0" marL="0">
              <a:buNone/>
            </a:pPr>
            <a:r>
              <a:rPr lang="en-US" sz="2200" b="1" dirty="0">
                <a:solidFill>
                  <a:schemeClr val="accent1"/>
                </a:solidFill>
              </a:rPr>
              <a:t>1</a:t>
            </a:r>
            <a:endParaRPr lang="en-US" sz="2200" dirty="0"/>
          </a:p>
        </p:txBody>
      </p:sp>
      <p:sp>
        <p:nvSpPr>
          <p:cNvPr id="6" name="Text 4"/>
          <p:cNvSpPr txBox="1"/>
          <p:nvPr/>
        </p:nvSpPr>
        <p:spPr>
          <a:xfrm>
            <a:off x="1097280" y="1417320"/>
            <a:ext cx="5852160" cy="731520"/>
          </a:xfrm>
          <a:prstGeom prst="rect">
            <a:avLst/>
          </a:prstGeom>
          <a:noFill/>
          <a:ln/>
        </p:spPr>
        <p:txBody>
          <a:bodyPr wrap="square" lIns="0" tIns="0" rIns="0" bIns="0" rtlCol="0" anchor="ctr"/>
          <a:lstStyle/>
          <a:p>
            <a:pPr indent="0" marL="0">
              <a:buNone/>
            </a:pPr>
            <a:r>
              <a:rPr lang="en-US" sz="1700" dirty="0">
                <a:solidFill>
                  <a:schemeClr val="bg1"/>
                </a:solidFill>
              </a:rPr>
              <a:t>Welche Angaben fehlen euch im Werkstattbericht?</a:t>
            </a:r>
            <a:endParaRPr lang="en-US" sz="1700" dirty="0"/>
          </a:p>
        </p:txBody>
      </p:sp>
      <p:sp>
        <p:nvSpPr>
          <p:cNvPr id="7" name="Frage 2"/>
          <p:cNvSpPr/>
          <p:nvPr/>
        </p:nvSpPr>
        <p:spPr>
          <a:xfrm>
            <a:off x="457200" y="2331720"/>
            <a:ext cx="6675120" cy="731520"/>
          </a:xfrm>
          <a:prstGeom prst="roundRect">
            <a:avLst>
              <a:gd name="adj" fmla="val 10000"/>
            </a:avLst>
          </a:prstGeom>
          <a:solidFill>
            <a:srgbClr val="22325A"/>
          </a:solidFill>
          <a:ln w="12700">
            <a:solidFill>
              <a:srgbClr val="22325A"/>
            </a:solidFill>
            <a:prstDash val="solid"/>
          </a:ln>
        </p:spPr>
      </p:sp>
      <p:sp>
        <p:nvSpPr>
          <p:cNvPr id="8" name="Text 6"/>
          <p:cNvSpPr txBox="1"/>
          <p:nvPr/>
        </p:nvSpPr>
        <p:spPr>
          <a:xfrm>
            <a:off x="640080" y="2331720"/>
            <a:ext cx="365760" cy="731520"/>
          </a:xfrm>
          <a:prstGeom prst="rect">
            <a:avLst/>
          </a:prstGeom>
          <a:noFill/>
          <a:ln/>
        </p:spPr>
        <p:txBody>
          <a:bodyPr wrap="square" lIns="0" tIns="0" rIns="0" bIns="0" rtlCol="0" anchor="ctr"/>
          <a:lstStyle/>
          <a:p>
            <a:pPr indent="0" marL="0">
              <a:buNone/>
            </a:pPr>
            <a:r>
              <a:rPr lang="en-US" sz="2200" b="1" dirty="0">
                <a:solidFill>
                  <a:schemeClr val="accent1"/>
                </a:solidFill>
              </a:rPr>
              <a:t>2</a:t>
            </a:r>
            <a:endParaRPr lang="en-US" sz="2200" dirty="0"/>
          </a:p>
        </p:txBody>
      </p:sp>
      <p:sp>
        <p:nvSpPr>
          <p:cNvPr id="9" name="Text 7"/>
          <p:cNvSpPr txBox="1"/>
          <p:nvPr/>
        </p:nvSpPr>
        <p:spPr>
          <a:xfrm>
            <a:off x="1097280" y="2331720"/>
            <a:ext cx="5852160" cy="731520"/>
          </a:xfrm>
          <a:prstGeom prst="rect">
            <a:avLst/>
          </a:prstGeom>
          <a:noFill/>
          <a:ln/>
        </p:spPr>
        <p:txBody>
          <a:bodyPr wrap="square" lIns="0" tIns="0" rIns="0" bIns="0" rtlCol="0" anchor="ctr"/>
          <a:lstStyle/>
          <a:p>
            <a:pPr indent="0" marL="0">
              <a:buNone/>
            </a:pPr>
            <a:r>
              <a:rPr lang="en-US" sz="1700" dirty="0">
                <a:solidFill>
                  <a:schemeClr val="bg1"/>
                </a:solidFill>
              </a:rPr>
              <a:t>Sind Simulation und unbestätigte Fotowerte klar erkennbar?</a:t>
            </a:r>
            <a:endParaRPr lang="en-US" sz="1700" dirty="0"/>
          </a:p>
        </p:txBody>
      </p:sp>
      <p:sp>
        <p:nvSpPr>
          <p:cNvPr id="10" name="Frage 3"/>
          <p:cNvSpPr/>
          <p:nvPr/>
        </p:nvSpPr>
        <p:spPr>
          <a:xfrm>
            <a:off x="457200" y="3246120"/>
            <a:ext cx="6675120" cy="731520"/>
          </a:xfrm>
          <a:prstGeom prst="roundRect">
            <a:avLst>
              <a:gd name="adj" fmla="val 10000"/>
            </a:avLst>
          </a:prstGeom>
          <a:solidFill>
            <a:srgbClr val="22325A"/>
          </a:solidFill>
          <a:ln w="12700">
            <a:solidFill>
              <a:srgbClr val="22325A"/>
            </a:solidFill>
            <a:prstDash val="solid"/>
          </a:ln>
        </p:spPr>
      </p:sp>
      <p:sp>
        <p:nvSpPr>
          <p:cNvPr id="11" name="Text 9"/>
          <p:cNvSpPr txBox="1"/>
          <p:nvPr/>
        </p:nvSpPr>
        <p:spPr>
          <a:xfrm>
            <a:off x="640080" y="3246120"/>
            <a:ext cx="365760" cy="731520"/>
          </a:xfrm>
          <a:prstGeom prst="rect">
            <a:avLst/>
          </a:prstGeom>
          <a:noFill/>
          <a:ln/>
        </p:spPr>
        <p:txBody>
          <a:bodyPr wrap="square" lIns="0" tIns="0" rIns="0" bIns="0" rtlCol="0" anchor="ctr"/>
          <a:lstStyle/>
          <a:p>
            <a:pPr indent="0" marL="0">
              <a:buNone/>
            </a:pPr>
            <a:r>
              <a:rPr lang="en-US" sz="2200" b="1" dirty="0">
                <a:solidFill>
                  <a:schemeClr val="accent1"/>
                </a:solidFill>
              </a:rPr>
              <a:t>3</a:t>
            </a:r>
            <a:endParaRPr lang="en-US" sz="2200" dirty="0"/>
          </a:p>
        </p:txBody>
      </p:sp>
      <p:sp>
        <p:nvSpPr>
          <p:cNvPr id="12" name="Text 10"/>
          <p:cNvSpPr txBox="1"/>
          <p:nvPr/>
        </p:nvSpPr>
        <p:spPr>
          <a:xfrm>
            <a:off x="1097280" y="3246120"/>
            <a:ext cx="5852160" cy="731520"/>
          </a:xfrm>
          <a:prstGeom prst="rect">
            <a:avLst/>
          </a:prstGeom>
          <a:noFill/>
          <a:ln/>
        </p:spPr>
        <p:txBody>
          <a:bodyPr wrap="square" lIns="0" tIns="0" rIns="0" bIns="0" rtlCol="0" anchor="ctr"/>
          <a:lstStyle/>
          <a:p>
            <a:pPr indent="0" marL="0">
              <a:buNone/>
            </a:pPr>
            <a:r>
              <a:rPr lang="en-US" sz="1700" dirty="0">
                <a:solidFill>
                  <a:schemeClr val="bg1"/>
                </a:solidFill>
              </a:rPr>
              <a:t>Welche Stufe der Vision sollte ich zuerst bauen?</a:t>
            </a:r>
            <a:endParaRPr lang="en-US" sz="1700" dirty="0"/>
          </a:p>
        </p:txBody>
      </p:sp>
      <p:sp>
        <p:nvSpPr>
          <p:cNvPr id="13" name="Feedback Kreis"/>
          <p:cNvSpPr/>
          <p:nvPr/>
        </p:nvSpPr>
        <p:spPr>
          <a:xfrm>
            <a:off x="7452360" y="1965960"/>
            <a:ext cx="1097280" cy="1097280"/>
          </a:xfrm>
          <a:prstGeom prst="ellipse">
            <a:avLst/>
          </a:prstGeom>
          <a:solidFill>
            <a:schemeClr val="accent1"/>
          </a:solidFill>
          <a:ln w="12700">
            <a:solidFill>
              <a:schemeClr val="accent1"/>
            </a:solidFill>
            <a:prstDash val="solid"/>
          </a:ln>
        </p:spPr>
      </p:sp>
      <p:pic>
        <p:nvPicPr>
          <p:cNvPr id="14" name="Feedback Symbol" descr="Feedback">    </p:cNvPr>
          <p:cNvPicPr>
            <a:picLocks noChangeAspect="1"/>
          </p:cNvPicPr>
          <p:nvPr/>
        </p:nvPicPr>
        <p:blipFill>
          <a:blip r:embed="rId1"/>
          <a:stretch>
            <a:fillRect/>
          </a:stretch>
        </p:blipFill>
        <p:spPr>
          <a:xfrm>
            <a:off x="7726680" y="2240280"/>
            <a:ext cx="548640" cy="548640"/>
          </a:xfrm>
          <a:prstGeom prst="rect">
            <a:avLst/>
          </a:prstGeom>
        </p:spPr>
      </p:pic>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F2F4F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ANHANG · RESERVE FÜR RÜCKFRAGEN</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Testmatrix: Fälle 1–6</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743200"/>
                <a:gridCol w="3291840"/>
                <a:gridCol w="2194560"/>
              </a:tblGrid>
              <a:tr h="365760">
                <a:tc>
                  <a:txBody>
                    <a:bodyPr/>
                    <a:lstStyle/>
                    <a:p>
                      <a:pPr indent="0" marL="0">
                        <a:buNone/>
                      </a:pPr>
                      <a:r>
                        <a:rPr lang="en-US" sz="1150" b="1" dirty="0">
                          <a:solidFill>
                            <a:schemeClr val="bg1"/>
                          </a:solidFill>
                        </a:rPr>
                        <a:t>Nr. / Test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Erwartetes Ergebnis</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Nachweisstand</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r>
              <a:tr h="365760">
                <a:tc>
                  <a:txBody>
                    <a:bodyPr/>
                    <a:lstStyle/>
                    <a:p>
                      <a:pPr indent="0" marL="0">
                        <a:buNone/>
                      </a:pPr>
                      <a:r>
                        <a:rPr lang="en-US" sz="1150" dirty="0">
                          <a:solidFill>
                            <a:schemeClr val="tx1"/>
                          </a:solidFill>
                        </a:rPr>
                        <a:t>01  Fahrzeugschein + P0300</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Bilddaten, Simulation und Bericht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Code geprüft, Live offen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65760">
                <a:tc>
                  <a:txBody>
                    <a:bodyPr/>
                    <a:lstStyle/>
                    <a:p>
                      <a:pPr indent="0" marL="0">
                        <a:buNone/>
                      </a:pPr>
                      <a:r>
                        <a:rPr lang="en-US" sz="1150" dirty="0">
                          <a:solidFill>
                            <a:schemeClr val="tx1"/>
                          </a:solidFill>
                        </a:rPr>
                        <a:t>02  FIN leer</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Keine Demo-FIN, vPIC überspringen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Code geprüft, Live offen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r h="365760">
                <a:tc>
                  <a:txBody>
                    <a:bodyPr/>
                    <a:lstStyle/>
                    <a:p>
                      <a:pPr indent="0" marL="0">
                        <a:buNone/>
                      </a:pPr>
                      <a:r>
                        <a:rPr lang="en-US" sz="1150" dirty="0">
                          <a:solidFill>
                            <a:schemeClr val="tx1"/>
                          </a:solidFill>
                        </a:rPr>
                        <a:t>03  FIN nur Leerzeichen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Als fehlende FIN behandeln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Live offen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65760">
                <a:tc>
                  <a:txBody>
                    <a:bodyPr/>
                    <a:lstStyle/>
                    <a:p>
                      <a:pPr indent="0" marL="0">
                        <a:buNone/>
                      </a:pPr>
                      <a:r>
                        <a:rPr lang="en-US" sz="1150" dirty="0">
                          <a:solidFill>
                            <a:schemeClr val="tx1"/>
                          </a:solidFill>
                        </a:rPr>
                        <a:t>04  FIN klein / Leerzeichen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Trimmen und großschreiben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Code geprüft, Live offen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r h="365760">
                <a:tc>
                  <a:txBody>
                    <a:bodyPr/>
                    <a:lstStyle/>
                    <a:p>
                      <a:pPr indent="0" marL="0">
                        <a:buNone/>
                      </a:pPr>
                      <a:r>
                        <a:rPr lang="en-US" sz="1150" dirty="0">
                          <a:solidFill>
                            <a:schemeClr val="tx1"/>
                          </a:solidFill>
                        </a:rPr>
                        <a:t>05  Modelljahr fehlt beim Foto</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Bildauswertung darf starten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Code geprüft, Live offen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65760">
                <a:tc>
                  <a:txBody>
                    <a:bodyPr/>
                    <a:lstStyle/>
                    <a:p>
                      <a:pPr indent="0" marL="0">
                        <a:buNone/>
                      </a:pPr>
                      <a:r>
                        <a:rPr lang="en-US" sz="1150" dirty="0">
                          <a:solidFill>
                            <a:schemeClr val="tx1"/>
                          </a:solidFill>
                        </a:rPr>
                        <a:t>06  Ungültiges manuelles Jahr</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Manuell Fehler, beim Foto Hinweis</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Code geprüft, Live offen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100" i="1" dirty="0">
                <a:solidFill>
                  <a:schemeClr val="accent5"/>
                </a:solidFill>
              </a:rPr>
              <a:t>Feld B = Erstzulassung. Feld 6 = Datum zu K (Genehmigung). Ein Ersatzjahr aus Feld 6 bleibt gekennzeichnet.</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dirty="0">
                <a:solidFill>
                  <a:schemeClr val="accent2"/>
                </a:solidFill>
              </a:rPr>
              <a:t>ANHANG · RESERVE FÜR RÜCKFRAGEN</a:t>
            </a:r>
            <a:endParaRPr lang="en-US" sz="1100" dirty="0"/>
          </a:p>
        </p:txBody>
      </p:sp>
      <p:sp>
        <p:nvSpPr>
          <p:cNvPr id="3" name="Text 0"/>
          <p:cNvSpPr/>
          <p:nvPr>
            <p:ph idx="101" type="title" hasCustomPrompt="1"/>
          </p:nvPr>
        </p:nvSpPr>
        <p:spPr>
          <a:xfrm>
            <a:off x="457200" y="548640"/>
            <a:ext cx="8229600" cy="594360"/>
          </a:xfrm>
          <a:prstGeom prst="rect">
            <a:avLst/>
          </a:prstGeom>
          <a:noFill/>
          <a:ln/>
        </p:spPr>
        <p:txBody>
          <a:bodyPr wrap="square" lIns="0" tIns="0" rIns="0" bIns="0" rtlCol="0" anchor="t"/>
          <a:lstStyle/>
          <a:p>
            <a:pPr algn="l" indent="0" marL="0">
              <a:buNone/>
            </a:pPr>
            <a:r>
              <a:rPr lang="en-US" sz="3000" b="1" dirty="0">
                <a:solidFill>
                  <a:schemeClr val="tx2"/>
                </a:solidFill>
              </a:rPr>
              <a:t>Testmatrix: Fälle 7–12</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743200"/>
                <a:gridCol w="3291840"/>
                <a:gridCol w="2194560"/>
              </a:tblGrid>
              <a:tr h="365760">
                <a:tc>
                  <a:txBody>
                    <a:bodyPr/>
                    <a:lstStyle/>
                    <a:p>
                      <a:pPr indent="0" marL="0">
                        <a:buNone/>
                      </a:pPr>
                      <a:r>
                        <a:rPr lang="en-US" sz="1150" b="1" dirty="0">
                          <a:solidFill>
                            <a:schemeClr val="bg1"/>
                          </a:solidFill>
                        </a:rPr>
                        <a:t>Nr. / Test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Erwartetes Ergebnis</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Nachweisstand</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r>
              <a:tr h="365760">
                <a:tc>
                  <a:txBody>
                    <a:bodyPr/>
                    <a:lstStyle/>
                    <a:p>
                      <a:pPr indent="0" marL="0">
                        <a:buNone/>
                      </a:pPr>
                      <a:r>
                        <a:rPr lang="en-US" sz="1150" dirty="0">
                          <a:solidFill>
                            <a:schemeClr val="tx1"/>
                          </a:solidFill>
                        </a:rPr>
                        <a:t>07  Fahrzeug-API nicht erreichbar</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Sichtbarer Fallback / Teilbericht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Live offen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65760">
                <a:tc>
                  <a:txBody>
                    <a:bodyPr/>
                    <a:lstStyle/>
                    <a:p>
                      <a:pPr indent="0" marL="0">
                        <a:buNone/>
                      </a:pPr>
                      <a:r>
                        <a:rPr lang="en-US" sz="1150" dirty="0">
                          <a:solidFill>
                            <a:schemeClr val="tx1"/>
                          </a:solidFill>
                        </a:rPr>
                        <a:t>08  API ohne Results[0]</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Fehlende Fahrzeugdaten erkennen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Code geprüft, Live offen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r h="365760">
                <a:tc>
                  <a:txBody>
                    <a:bodyPr/>
                    <a:lstStyle/>
                    <a:p>
                      <a:pPr indent="0" marL="0">
                        <a:buNone/>
                      </a:pPr>
                      <a:r>
                        <a:rPr lang="en-US" sz="1150" dirty="0">
                          <a:solidFill>
                            <a:schemeClr val="tx1"/>
                          </a:solidFill>
                        </a:rPr>
                        <a:t>09  Bildwert unlesbar</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null und Hinweis statt Raten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Code geprüft, Live offen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65760">
                <a:tc>
                  <a:txBody>
                    <a:bodyPr/>
                    <a:lstStyle/>
                    <a:p>
                      <a:pPr indent="0" marL="0">
                        <a:buNone/>
                      </a:pPr>
                      <a:r>
                        <a:rPr lang="en-US" sz="1150" dirty="0">
                          <a:solidFill>
                            <a:schemeClr val="tx1"/>
                          </a:solidFill>
                        </a:rPr>
                        <a:t>10  Adapter nicht erreichbar</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Codes und Messwerte unbekannt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Code geprüft, Live offen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r h="365760">
                <a:tc>
                  <a:txBody>
                    <a:bodyPr/>
                    <a:lstStyle/>
                    <a:p>
                      <a:pPr indent="0" marL="0">
                        <a:buNone/>
                      </a:pPr>
                      <a:r>
                        <a:rPr lang="en-US" sz="1150" dirty="0">
                          <a:solidFill>
                            <a:schemeClr val="tx1"/>
                          </a:solidFill>
                        </a:rPr>
                        <a:t>11  OpenAI HTTP 401</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Vorlage mit sichtbarem KI-Fehler</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Code geprüft, Live offen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1"/>
                    </a:solidFill>
                  </a:tcPr>
                </a:tc>
              </a:tr>
              <a:tr h="365760">
                <a:tc>
                  <a:txBody>
                    <a:bodyPr/>
                    <a:lstStyle/>
                    <a:p>
                      <a:pPr indent="0" marL="0">
                        <a:buNone/>
                      </a:pPr>
                      <a:r>
                        <a:rPr lang="en-US" sz="1150" dirty="0">
                          <a:solidFill>
                            <a:schemeClr val="tx1"/>
                          </a:solidFill>
                        </a:rPr>
                        <a:t>12  Original / kurzer Prompt</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Qualität und Tokenzahl vergleichen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Vorbereitet, Live offen</a:t>
                      </a:r>
                      <a:endParaRPr lang="en-US" sz="1150" dirty="0"/>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100" i="1" dirty="0">
                <a:solidFill>
                  <a:schemeClr val="accent5"/>
                </a:solidFill>
              </a:rPr>
              <a:t>Nach der Generalprobe: Spalte „Nachweisstand“ mit den Execution-IDs aktualisieren.</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A8599"/>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AutoScan AI">
  <a:themeElements>
    <a:clrScheme name="AutoScan AI">
      <a:dk1>
        <a:srgbClr val="1B1F2A"/>
      </a:dk1>
      <a:lt1>
        <a:srgbClr val="FFFFFF"/>
      </a:lt1>
      <a:dk2>
        <a:srgbClr val="14213D"/>
      </a:dk2>
      <a:lt2>
        <a:srgbClr val="F2F4F8"/>
      </a:lt2>
      <a:accent1>
        <a:srgbClr val="F2A007"/>
      </a:accent1>
      <a:accent2>
        <a:srgbClr val="2A9D8F"/>
      </a:accent2>
      <a:accent3>
        <a:srgbClr val="D9534F"/>
      </a:accent3>
      <a:accent4>
        <a:srgbClr val="4A6FD8"/>
      </a:accent4>
      <a:accent5>
        <a:srgbClr val="7A8599"/>
      </a:accent5>
      <a:accent6>
        <a:srgbClr val="7B5EA7"/>
      </a:accent6>
      <a:hlink>
        <a:srgbClr val="4A6FD8"/>
      </a:hlink>
      <a:folHlink>
        <a:srgbClr val="7B5EA7"/>
      </a:folHlink>
    </a:clrScheme>
    <a:fontScheme name="AutoScan 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AutoScan AI – Projektpräsentation</dc:title>
  <dc:subject>PptxGenJS Presentation</dc:subject>
  <dc:creator>Faouzi Riahi</dc:creator>
  <cp:lastModifiedBy>Faouzi Riahi</cp:lastModifiedBy>
  <cp:revision>1</cp:revision>
  <dcterms:created xsi:type="dcterms:W3CDTF">2026-10-15T09:03:04Z</dcterms:created>
  <dcterms:modified xsi:type="dcterms:W3CDTF">2026-10-15T09:03:04Z</dcterms:modified>
</cp:coreProperties>
</file>