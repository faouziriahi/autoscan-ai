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395c72bb-07b4-363f-ae0f-076c0b20c2dd}">
          <p14:sldIdLst>
            <p14:sldId id="256"/>
          </p14:sldIdLst>
        </p14:section>
        <p14:section name="Use Case" id="{49a16e40-d3bd-4086-d606-101e4aab530a}">
          <p14:sldIdLst>
            <p14:sldId id="257"/>
            <p14:sldId id="258"/>
          </p14:sldIdLst>
        </p14:section>
        <p14:section name="Workflow" id="{7b8f2580-7187-256a-f0c7-f37abe1fcf74}">
          <p14:sldIdLst>
            <p14:sldId id="259"/>
            <p14:sldId id="260"/>
            <p14:sldId id="261"/>
          </p14:sldIdLst>
        </p14:section>
        <p14:section name="Betrieb" id="{a799ce61-bcc4-32bb-2f01-bbe37e22ac78}">
          <p14:sldIdLst>
            <p14:sldId id="262"/>
            <p14:sldId id="263"/>
          </p14:sldIdLst>
        </p14:section>
        <p14:section name="Demo" id="{37115a66-d782-5b1d-aacd-744582fffef2}">
          <p14:sldIdLst>
            <p14:sldId id="264"/>
          </p14:sldIdLst>
        </p14:section>
        <p14:section name="Ergebnisse" id="{8de6abfa-bdd2-1fe9-2e28-29c503e0d221}">
          <p14:sldIdLst>
            <p14:sldId id="265"/>
            <p14:sldId id="266"/>
            <p14:sldId id="267"/>
            <p14:sldId id="268"/>
          </p14:sldIdLst>
        </p14:section>
        <p14:section name="Feedback" id="{da0805dc-6afd-374b-b81e-30a95a85268c}">
          <p14:sldIdLst>
            <p14:sldId id="269"/>
          </p14:sldIdLst>
        </p14:section>
        <p14:section name="Anhang" id="{0e3a21b7-38e4-197c-afd1-132765eaa5b5}">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0:15
Guten Tag. Ich stelle AutoScan AI in Version 3 vor – einen automatisierten Werkstatt-Assistenten in n8n.
Heute geht es vor allem um den Workflow selbst: die LLM-Engine, die API-Anbindungen, Datenbank und Logging, Alerts, Kosten und Versionierung. Und natürlich eine Live-Demo.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0:30
Heute ruft ein Kunde an und sagt: „Mein Auto ruckelt, eine Lampe leuchtet.“ Die Werkstatt muss nachfragen: welches Auto, welches Baujahr, welcher Fehlercode. Vielleicht spricht der Kunde kein Deutsch. Und der Kunde will wissen: Was kostet das, lohnt sich die Reparatur, wann gibt es einen Termin?
Mit AutoScan füllt der Kunde ein Formular in seiner Sprache aus und lädt Fotos hoch. Die Werkstatt bekommt automatisch eine E-Mail mit allem, was sie braucht.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0:30
Das ist das Ergebnis: eine HTML-E-Mail an die Werkstatt mit sechs Teilen.
Das Fahrzeug mit Quelle jeder Angabe. Mögliche Ursachen und Teile aus einem Werkstatt-Katalog. Eine Kostenspanne aus Teilen und Arbeitszeit. Eine Empfehlung: reparieren, abwägen oder Verkauf erwägen. Drei freie Termine aus dem Google-Kalender. Und einen Antwortentwurf in der Sprache des 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0:45
Der Workflow läuft in sieben Stufen von links nach rechts – genau so ist er auch in n8n aufgebaut und mit farbigen Blöcken dokumentiert.
Eingang, Bildauswertung, Fahrzeug-APIs, Wissensbasis mit Kalender, KI-Bericht, Versand und Betrieb mit Datenbank, Logs und Alerts.
Drei Prinzipien gelten überall: Jede Angabe hat eine Quelle. Ein API-Fehler führt nie zum Absturz, sondern zu einem Teilergebnis. Und alles ist messbar.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Als LLM-Engine nutze ich OpenRouter. Das ist ein einziger API-Zugang zu vielen Modellen.
Pro Lauf gibt es zwei Aufrufe: einen Vision-Aufruf für die Fotos und einen für den Bericht.
Hauptmodell ist gpt-4.1-mini. Fällt es aus, nutzt OpenRouter automatisch gpt-4o-mini als Fallback.
Die KI antwortet immer in einem festen JSON-Schema. Die Kosten pro Aufruf kommen direkt aus der Antwort von OpenRouter, ich muss sie nicht schätzen.
Ein Modellwechsel ist eine Zeile in der Konfiguration. Und der Kundentext wird als Daten behandelt – Anweisungen darin werden ignoriert.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0:45
Der Workflow verbindet sechs Dienste. OpenRouter für die KI. Zwei öffentliche NHTSA-APIs: vPIC entschlüsselt die FIN und prüft, ob die Marke zur Angabe passt. Die Rückruf-API sucht offene Rückrufe. Google Calendar liefert die belegten Zeiten. Gmail verschickt Bericht und Alerts. Supabase speichert alles.
Wichtig ist die rechte Spalte: Für jeden Dienst ist festgelegt, was passiert, wenn er ausfällt. Der Lauf geht immer weiter.
Alle Schlüssel liegen in n8n-Credentials, nie im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Für den Betrieb ist Logging zentral. Supabase hat zwei Tabellen.
autoscan_runs hat eine Zeile pro Lauf: Status, Workflow-Version, Fahrzeug, KI-Ergebnis, Tokens, Kosten, E-Mail- und Alert-Status und die Dauer. Der Lauf wird ganz am Anfang angelegt, so sieht man auch hängende Läufe.
autoscan_logs hat eine Zeile pro Schritt mit Status und Dauer. Rechts sieht man ein Beispiel: Hier ist der Kalender ausgefallen, der Schritt steht auf FALLBACK, alles andere lief normal.
Zwei Views werten das aus: Statistik pro Tag und Version, und welcher Schritt am langsamsten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0:45
Fehler behandle ich auf drei Ebenen.
Ebene 1: Fällt ein Dienst aus, gibt es einen Ersatzweg. Fällt zum Beispiel der Kalender aus, werden Termine aus den Arbeitszeiten vorgeschlagen und als solche markiert.
Ebene 2: Bei kritischen Fehlern – KI, Datenbank oder E-Mail – bekommt der Admin eine Alert-Mail mit der Lauf-ID, ohne Kundendaten.
Ebene 3: Wenn der Workflow komplett abstürzt, meldet ein eigener n8n-Fehler-Workflow, in welchem Node und mit welcher Meldung.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3:00
VORHER: Generalprobe nach SETUP_v3.md. Credentials OpenRouter, Gmail, Google Calendar, Supabase gesetzt. werkstatt_email in Node 01. Postfach und Supabase in Browser-Tabs öffnen.
LIVE:
1. n8n: Workflow „AutoScan AI v3 – Werkstatt-Assistent“, Node 00m Demo-Start ausführen. Den türkischen Text in Node 00d zeigen: „Arabam çalıştırırken titriyor …“
2. Zusehen, wie die Stufen grün werden. Node 30 öffnen: Status, Empfehlung, Kostenspanne, Termine, Tokens, KI-Kosten, Schritte.
3. Postfach: E-Mail öffnen – Bericht auf Deutsch, Antwortentwurf auf Türkisch mit Übersetzung.
4. Supabase: autoscan_runs (neue Zeile), autoscan_logs (Schritte), autoscan_tagesstatistik.
OPTIONAL: Formular mit anonymisiertem Fahrzeugschein-Foto zeigen.
PLAN B: vorbereiteten Lauf in den Executions öffnen, E-Mail und Tabellen der Generalprobe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0:30
Ein Wunsch war die Frage: Reparieren oder verkaufen?
Die KI schätzt den Fahrzeugwert. Die Kosten kommen aus dem Werkstatt-Katalog plus Arbeitszeit. Die Entscheidung trifft aber keine KI, sondern eine feste, nachvollziehbare Regel: unter 30 Prozent reparieren, 30 bis 70 Prozent abwägen, über 70 Prozent Verkauf erwägen.
Im Beispiel: maximal 538 Euro bei einem Wert von 6.000 bis 9.000 Euro – also etwa 7 Prozent, Empfehlung reparieren. Alles ist als unverbindlich gekennzeichnet.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0:30
Getestet habe ich vier Szenarien, auch gezielte Ausfälle.
A: Alles funktioniert. B: Zwei Fotos, aber der KI-Bericht schlägt mit 401 fehl – es kommt eine Vorlage und ein Alert. C: Ungültige Eingabe – kein KI-Aufruf, also keine Kosten. D: Vier Dienste fallen gleichzeitig aus – trotzdem gibt es ein Teilergebnis und einen Alert.
Die Szenarien liefen mit nachgebauten API-Antworten durch den kompletten Workflow. Dazu kommt die Generalprobe in n8n mit den echten Diensten.
FALLS GENERALPROBE ERFOLGREICH: Execution-ID und gemessene Dauer nennen.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0:30
Zu den Kosten. Gemessen habe ich einen Text-Aufruf mit gpt-4.1-mini: 691 Tokens, 0,000664 Dollar. Bei 100 Anfragen am Tag sind das etwa 2 Dollar im Monat.
Die übrigen Dienste kosten im Rahmen der kostenlosen Kontingente nichts.
In Version 3 muss ich nicht mehr schätzen: Jeder Lauf speichert die echten Tokens und Kosten von OpenRouter in Supabase. Ein Foto-Lauf hat zwei KI-Aufrufe – den genauen Wert zeige ich in der Statistik-View.
Kosten senke ich über die Modellwahl und dadurch, dass ungültige Eingaben gar keinen KI-Aufruf auslösen.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0:30
Versionierung: Version 1 war der Text-Workflow aus Woche 4. Version 2 brachte Foto und OBD2-Subworkflow. Version 3.0.0 ist der heutige Stand.
Jeder Lauf speichert workflow_version und prompt_version in der Datenbank. So kann ich Fehlerquote, Dauer und Kosten pro Version vergleichen – zum Beispiel, ob ein neuer Prompt besser oder billiger ist.
Im Workflow selbst gibt es einen Changelog, und n8n speichert die Versionshistorie. Die Exporte lege ich in Git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3:30 (inkl. Feedbackrunde)
Zum Schluss die nächsten Schritte: ein echter OBD2-Adapter statt der Simulation, die echte Preisliste der Werkstatt in Supabase, die Antwort direkt an den Kunden senden und ein Dashboard in meiner React-App.
Jetzt freue ich mich auf euer Feedback: Was fehlt euch im Bericht? Würdet ihr der Empfehlung vertrauen? Und welcher Schritt sollte zuerst 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Keine Vortragszeit. Nur für Rückfragen zur Einrichtung.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822960"/>
            <a:ext cx="8229600"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457200" y="1188720"/>
            <a:ext cx="82296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457200" y="2194560"/>
            <a:ext cx="6858000" cy="10058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5"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bg2"/>
                </a:solidFill>
              </a:rPr>
              <a:t>AutoScan AI · 16.10.2026</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hell">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100" b="1"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accent5"/>
                </a:solidFill>
              </a:rPr>
              <a:t>AutoScan AI · 16.10.2026</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dunkel">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bg2"/>
                </a:solidFill>
              </a:rPr>
              <a:t>AutoScan AI · 16.10.2026</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F2F4F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822960"/>
            <a:ext cx="8229600" cy="320040"/>
          </a:xfrm>
          <a:prstGeom prst="rect">
            <a:avLst/>
          </a:prstGeom>
          <a:noFill/>
          <a:ln/>
        </p:spPr>
        <p:txBody>
          <a:bodyPr wrap="square" lIns="0" tIns="0" rIns="0" bIns="0" rtlCol="0"/>
          <a:lstStyle/>
          <a:p>
            <a:pPr indent="0" marL="0">
              <a:buNone/>
            </a:pPr>
            <a:r>
              <a:rPr lang="en-US" sz="1300" b="1" dirty="0">
                <a:solidFill>
                  <a:schemeClr val="accent1"/>
                </a:solidFill>
              </a:rPr>
              <a:t>PROJEKTPRÄSENTATION · n8n-AUTOMATISIERUNG</a:t>
            </a:r>
            <a:endParaRPr lang="en-US" sz="1300" dirty="0"/>
          </a:p>
        </p:txBody>
      </p:sp>
      <p:sp>
        <p:nvSpPr>
          <p:cNvPr id="3" name="Text 0"/>
          <p:cNvSpPr/>
          <p:nvPr>
            <p:ph idx="101" type="title" hasCustomPrompt="1"/>
          </p:nvPr>
        </p:nvSpPr>
        <p:spPr>
          <a:xfrm>
            <a:off x="457200" y="1188720"/>
            <a:ext cx="8229600" cy="914400"/>
          </a:xfrm>
          <a:prstGeom prst="rect">
            <a:avLst/>
          </a:prstGeom>
          <a:noFill/>
          <a:ln/>
        </p:spPr>
        <p:txBody>
          <a:bodyPr wrap="square" lIns="0" tIns="0" rIns="0" bIns="0" rtlCol="0" anchor="t"/>
          <a:lstStyle/>
          <a:p>
            <a:pPr algn="l" indent="0" marL="0">
              <a:buNone/>
            </a:pPr>
            <a:r>
              <a:rPr lang="en-US" sz="4400" b="1" dirty="0">
                <a:solidFill>
                  <a:schemeClr val="bg1"/>
                </a:solidFill>
              </a:rPr>
              <a:t>AutoScan AI v3</a:t>
            </a:r>
            <a:endParaRPr lang="en-US" sz="4400" dirty="0"/>
          </a:p>
        </p:txBody>
      </p:sp>
      <p:sp>
        <p:nvSpPr>
          <p:cNvPr id="4" name="Text 0"/>
          <p:cNvSpPr/>
          <p:nvPr>
            <p:ph idx="102" type="body" hasCustomPrompt="1"/>
          </p:nvPr>
        </p:nvSpPr>
        <p:spPr>
          <a:xfrm>
            <a:off x="457200" y="2194560"/>
            <a:ext cx="6858000" cy="1005840"/>
          </a:xfrm>
          <a:prstGeom prst="rect">
            <a:avLst/>
          </a:prstGeom>
          <a:noFill/>
          <a:ln/>
        </p:spPr>
        <p:txBody>
          <a:bodyPr wrap="square" lIns="0" tIns="0" rIns="0" bIns="0" rtlCol="0" anchor="t"/>
          <a:lstStyle/>
          <a:p>
            <a:pPr indent="0" marL="0">
              <a:buNone/>
            </a:pPr>
            <a:r>
              <a:rPr lang="en-US" sz="2000" dirty="0">
                <a:solidFill>
                  <a:schemeClr val="bg2"/>
                </a:solidFill>
              </a:rPr>
              <a:t>KI-Werkstatt-Assistent: von der Kundenanfrage in jeder Sprache zum fertigen Bericht im Postfach der Werkstatt</a:t>
            </a:r>
            <a:endParaRPr lang="en-US" sz="2000" dirty="0"/>
          </a:p>
        </p:txBody>
      </p:sp>
      <p:sp>
        <p:nvSpPr>
          <p:cNvPr id="5" name="Tag OpenRouter"/>
          <p:cNvSpPr/>
          <p:nvPr/>
        </p:nvSpPr>
        <p:spPr>
          <a:xfrm>
            <a:off x="457200" y="3429000"/>
            <a:ext cx="1024128" cy="329184"/>
          </a:xfrm>
          <a:prstGeom prst="roundRect">
            <a:avLst>
              <a:gd name="adj" fmla="val 50000"/>
            </a:avLst>
          </a:prstGeom>
          <a:solidFill>
            <a:srgbClr val="22325A"/>
          </a:solidFill>
          <a:ln w="12700">
            <a:solidFill>
              <a:srgbClr val="22325A"/>
            </a:solidFill>
            <a:prstDash val="solid"/>
          </a:ln>
        </p:spPr>
      </p:sp>
      <p:sp>
        <p:nvSpPr>
          <p:cNvPr id="6" name="Text 4"/>
          <p:cNvSpPr txBox="1"/>
          <p:nvPr/>
        </p:nvSpPr>
        <p:spPr>
          <a:xfrm>
            <a:off x="457200" y="3429000"/>
            <a:ext cx="1024128" cy="329184"/>
          </a:xfrm>
          <a:prstGeom prst="rect">
            <a:avLst/>
          </a:prstGeom>
          <a:noFill/>
          <a:ln/>
        </p:spPr>
        <p:txBody>
          <a:bodyPr wrap="square" lIns="0" tIns="0" rIns="0" bIns="0" rtlCol="0" anchor="ctr"/>
          <a:lstStyle/>
          <a:p>
            <a:pPr algn="ctr" indent="0" marL="0">
              <a:buNone/>
            </a:pPr>
            <a:r>
              <a:rPr lang="en-US" sz="1050" b="1" dirty="0">
                <a:solidFill>
                  <a:schemeClr val="accent1"/>
                </a:solidFill>
              </a:rPr>
              <a:t>OpenRouter</a:t>
            </a:r>
            <a:endParaRPr lang="en-US" sz="1050" dirty="0"/>
          </a:p>
        </p:txBody>
      </p:sp>
      <p:sp>
        <p:nvSpPr>
          <p:cNvPr id="7" name="Tag 5 APIs"/>
          <p:cNvSpPr/>
          <p:nvPr/>
        </p:nvSpPr>
        <p:spPr>
          <a:xfrm>
            <a:off x="1572768" y="3429000"/>
            <a:ext cx="1024128" cy="329184"/>
          </a:xfrm>
          <a:prstGeom prst="roundRect">
            <a:avLst>
              <a:gd name="adj" fmla="val 50000"/>
            </a:avLst>
          </a:prstGeom>
          <a:solidFill>
            <a:srgbClr val="22325A"/>
          </a:solidFill>
          <a:ln w="12700">
            <a:solidFill>
              <a:srgbClr val="22325A"/>
            </a:solidFill>
            <a:prstDash val="solid"/>
          </a:ln>
        </p:spPr>
      </p:sp>
      <p:sp>
        <p:nvSpPr>
          <p:cNvPr id="8" name="Text 6"/>
          <p:cNvSpPr txBox="1"/>
          <p:nvPr/>
        </p:nvSpPr>
        <p:spPr>
          <a:xfrm>
            <a:off x="1572768" y="3429000"/>
            <a:ext cx="1024128" cy="329184"/>
          </a:xfrm>
          <a:prstGeom prst="rect">
            <a:avLst/>
          </a:prstGeom>
          <a:noFill/>
          <a:ln/>
        </p:spPr>
        <p:txBody>
          <a:bodyPr wrap="square" lIns="0" tIns="0" rIns="0" bIns="0" rtlCol="0" anchor="ctr"/>
          <a:lstStyle/>
          <a:p>
            <a:pPr algn="ctr" indent="0" marL="0">
              <a:buNone/>
            </a:pPr>
            <a:r>
              <a:rPr lang="en-US" sz="1050" b="1" dirty="0">
                <a:solidFill>
                  <a:schemeClr val="accent1"/>
                </a:solidFill>
              </a:rPr>
              <a:t>5 APIs</a:t>
            </a:r>
            <a:endParaRPr lang="en-US" sz="1050" dirty="0"/>
          </a:p>
        </p:txBody>
      </p:sp>
      <p:sp>
        <p:nvSpPr>
          <p:cNvPr id="9" name="Tag Supabase-Logging"/>
          <p:cNvSpPr/>
          <p:nvPr/>
        </p:nvSpPr>
        <p:spPr>
          <a:xfrm>
            <a:off x="2688336" y="3429000"/>
            <a:ext cx="1024128" cy="329184"/>
          </a:xfrm>
          <a:prstGeom prst="roundRect">
            <a:avLst>
              <a:gd name="adj" fmla="val 50000"/>
            </a:avLst>
          </a:prstGeom>
          <a:solidFill>
            <a:srgbClr val="22325A"/>
          </a:solidFill>
          <a:ln w="12700">
            <a:solidFill>
              <a:srgbClr val="22325A"/>
            </a:solidFill>
            <a:prstDash val="solid"/>
          </a:ln>
        </p:spPr>
      </p:sp>
      <p:sp>
        <p:nvSpPr>
          <p:cNvPr id="10" name="Text 8"/>
          <p:cNvSpPr txBox="1"/>
          <p:nvPr/>
        </p:nvSpPr>
        <p:spPr>
          <a:xfrm>
            <a:off x="2688336" y="3429000"/>
            <a:ext cx="1024128" cy="329184"/>
          </a:xfrm>
          <a:prstGeom prst="rect">
            <a:avLst/>
          </a:prstGeom>
          <a:noFill/>
          <a:ln/>
        </p:spPr>
        <p:txBody>
          <a:bodyPr wrap="square" lIns="0" tIns="0" rIns="0" bIns="0" rtlCol="0" anchor="ctr"/>
          <a:lstStyle/>
          <a:p>
            <a:pPr algn="ctr" indent="0" marL="0">
              <a:buNone/>
            </a:pPr>
            <a:r>
              <a:rPr lang="en-US" sz="1050" b="1" dirty="0">
                <a:solidFill>
                  <a:schemeClr val="accent1"/>
                </a:solidFill>
              </a:rPr>
              <a:t>Supabase-Logging</a:t>
            </a:r>
            <a:endParaRPr lang="en-US" sz="1050" dirty="0"/>
          </a:p>
        </p:txBody>
      </p:sp>
      <p:sp>
        <p:nvSpPr>
          <p:cNvPr id="11" name="Tag Alerts"/>
          <p:cNvSpPr/>
          <p:nvPr/>
        </p:nvSpPr>
        <p:spPr>
          <a:xfrm>
            <a:off x="3803904" y="3429000"/>
            <a:ext cx="1024128" cy="329184"/>
          </a:xfrm>
          <a:prstGeom prst="roundRect">
            <a:avLst>
              <a:gd name="adj" fmla="val 50000"/>
            </a:avLst>
          </a:prstGeom>
          <a:solidFill>
            <a:srgbClr val="22325A"/>
          </a:solidFill>
          <a:ln w="12700">
            <a:solidFill>
              <a:srgbClr val="22325A"/>
            </a:solidFill>
            <a:prstDash val="solid"/>
          </a:ln>
        </p:spPr>
      </p:sp>
      <p:sp>
        <p:nvSpPr>
          <p:cNvPr id="12" name="Text 10"/>
          <p:cNvSpPr txBox="1"/>
          <p:nvPr/>
        </p:nvSpPr>
        <p:spPr>
          <a:xfrm>
            <a:off x="3803904" y="3429000"/>
            <a:ext cx="1024128" cy="329184"/>
          </a:xfrm>
          <a:prstGeom prst="rect">
            <a:avLst/>
          </a:prstGeom>
          <a:noFill/>
          <a:ln/>
        </p:spPr>
        <p:txBody>
          <a:bodyPr wrap="square" lIns="0" tIns="0" rIns="0" bIns="0" rtlCol="0" anchor="ctr"/>
          <a:lstStyle/>
          <a:p>
            <a:pPr algn="ctr" indent="0" marL="0">
              <a:buNone/>
            </a:pPr>
            <a:r>
              <a:rPr lang="en-US" sz="1050" b="1" dirty="0">
                <a:solidFill>
                  <a:schemeClr val="accent1"/>
                </a:solidFill>
              </a:rPr>
              <a:t>Alerts</a:t>
            </a:r>
            <a:endParaRPr lang="en-US" sz="1050" dirty="0"/>
          </a:p>
        </p:txBody>
      </p:sp>
      <p:sp>
        <p:nvSpPr>
          <p:cNvPr id="13" name="Tag Kostenkontrolle"/>
          <p:cNvSpPr/>
          <p:nvPr/>
        </p:nvSpPr>
        <p:spPr>
          <a:xfrm>
            <a:off x="4919472" y="3429000"/>
            <a:ext cx="1024128" cy="329184"/>
          </a:xfrm>
          <a:prstGeom prst="roundRect">
            <a:avLst>
              <a:gd name="adj" fmla="val 50000"/>
            </a:avLst>
          </a:prstGeom>
          <a:solidFill>
            <a:srgbClr val="22325A"/>
          </a:solidFill>
          <a:ln w="12700">
            <a:solidFill>
              <a:srgbClr val="22325A"/>
            </a:solidFill>
            <a:prstDash val="solid"/>
          </a:ln>
        </p:spPr>
      </p:sp>
      <p:sp>
        <p:nvSpPr>
          <p:cNvPr id="14" name="Text 12"/>
          <p:cNvSpPr txBox="1"/>
          <p:nvPr/>
        </p:nvSpPr>
        <p:spPr>
          <a:xfrm>
            <a:off x="4919472" y="3429000"/>
            <a:ext cx="1024128" cy="329184"/>
          </a:xfrm>
          <a:prstGeom prst="rect">
            <a:avLst/>
          </a:prstGeom>
          <a:noFill/>
          <a:ln/>
        </p:spPr>
        <p:txBody>
          <a:bodyPr wrap="square" lIns="0" tIns="0" rIns="0" bIns="0" rtlCol="0" anchor="ctr"/>
          <a:lstStyle/>
          <a:p>
            <a:pPr algn="ctr" indent="0" marL="0">
              <a:buNone/>
            </a:pPr>
            <a:r>
              <a:rPr lang="en-US" sz="1050" b="1" dirty="0">
                <a:solidFill>
                  <a:schemeClr val="accent1"/>
                </a:solidFill>
              </a:rPr>
              <a:t>Kostenkontrolle</a:t>
            </a:r>
            <a:endParaRPr lang="en-US" sz="1050" dirty="0"/>
          </a:p>
        </p:txBody>
      </p:sp>
      <p:sp>
        <p:nvSpPr>
          <p:cNvPr id="15" name="Tag Versionierung"/>
          <p:cNvSpPr/>
          <p:nvPr/>
        </p:nvSpPr>
        <p:spPr>
          <a:xfrm>
            <a:off x="6035040" y="3429000"/>
            <a:ext cx="1024128" cy="329184"/>
          </a:xfrm>
          <a:prstGeom prst="roundRect">
            <a:avLst>
              <a:gd name="adj" fmla="val 50000"/>
            </a:avLst>
          </a:prstGeom>
          <a:solidFill>
            <a:srgbClr val="22325A"/>
          </a:solidFill>
          <a:ln w="12700">
            <a:solidFill>
              <a:srgbClr val="22325A"/>
            </a:solidFill>
            <a:prstDash val="solid"/>
          </a:ln>
        </p:spPr>
      </p:sp>
      <p:sp>
        <p:nvSpPr>
          <p:cNvPr id="16" name="Text 14"/>
          <p:cNvSpPr txBox="1"/>
          <p:nvPr/>
        </p:nvSpPr>
        <p:spPr>
          <a:xfrm>
            <a:off x="6035040" y="3429000"/>
            <a:ext cx="1024128" cy="329184"/>
          </a:xfrm>
          <a:prstGeom prst="rect">
            <a:avLst/>
          </a:prstGeom>
          <a:noFill/>
          <a:ln/>
        </p:spPr>
        <p:txBody>
          <a:bodyPr wrap="square" lIns="0" tIns="0" rIns="0" bIns="0" rtlCol="0" anchor="ctr"/>
          <a:lstStyle/>
          <a:p>
            <a:pPr algn="ctr" indent="0" marL="0">
              <a:buNone/>
            </a:pPr>
            <a:r>
              <a:rPr lang="en-US" sz="1050" b="1" dirty="0">
                <a:solidFill>
                  <a:schemeClr val="accent1"/>
                </a:solidFill>
              </a:rPr>
              <a:t>Versionierung</a:t>
            </a:r>
            <a:endParaRPr lang="en-US" sz="1050" dirty="0"/>
          </a:p>
        </p:txBody>
      </p:sp>
      <p:sp>
        <p:nvSpPr>
          <p:cNvPr id="17" name="Text 15"/>
          <p:cNvSpPr txBox="1"/>
          <p:nvPr/>
        </p:nvSpPr>
        <p:spPr>
          <a:xfrm>
            <a:off x="457200" y="4023360"/>
            <a:ext cx="5486400" cy="320040"/>
          </a:xfrm>
          <a:prstGeom prst="rect">
            <a:avLst/>
          </a:prstGeom>
          <a:noFill/>
          <a:ln/>
        </p:spPr>
        <p:txBody>
          <a:bodyPr wrap="square" lIns="0" tIns="0" rIns="0" bIns="0" rtlCol="0" anchor="t"/>
          <a:lstStyle/>
          <a:p>
            <a:pPr indent="0" marL="0">
              <a:buNone/>
            </a:pPr>
            <a:r>
              <a:rPr lang="en-US" sz="1300" dirty="0">
                <a:solidFill>
                  <a:schemeClr val="bg2"/>
                </a:solidFill>
              </a:rPr>
              <a:t>Faouzi Riahi · 16. Oktober 2026</a:t>
            </a:r>
            <a:endParaRPr lang="en-US" sz="1300" dirty="0"/>
          </a:p>
        </p:txBody>
      </p:sp>
      <p:sp>
        <p:nvSpPr>
          <p:cNvPr id="18" name="Auto Kreis"/>
          <p:cNvSpPr/>
          <p:nvPr/>
        </p:nvSpPr>
        <p:spPr>
          <a:xfrm>
            <a:off x="7589520" y="960120"/>
            <a:ext cx="914400" cy="914400"/>
          </a:xfrm>
          <a:prstGeom prst="ellipse">
            <a:avLst/>
          </a:prstGeom>
          <a:solidFill>
            <a:schemeClr val="accent1"/>
          </a:solidFill>
          <a:ln w="12700">
            <a:solidFill>
              <a:schemeClr val="accent1"/>
            </a:solidFill>
            <a:prstDash val="solid"/>
          </a:ln>
        </p:spPr>
      </p:sp>
      <p:pic>
        <p:nvPicPr>
          <p:cNvPr id="19" name="Auto Symbol" descr="Auto">    </p:cNvPr>
          <p:cNvPicPr>
            <a:picLocks noChangeAspect="1"/>
          </p:cNvPicPr>
          <p:nvPr/>
        </p:nvPicPr>
        <p:blipFill>
          <a:blip r:embed="rId1"/>
          <a:stretch>
            <a:fillRect/>
          </a:stretch>
        </p:blipFill>
        <p:spPr>
          <a:xfrm>
            <a:off x="7818120" y="118872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USE CASE</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Vom Anruf mit offenen Fragen zur fertigen Anfrage</a:t>
            </a:r>
            <a:endParaRPr lang="en-US" sz="3000" dirty="0"/>
          </a:p>
        </p:txBody>
      </p:sp>
      <p:sp>
        <p:nvSpPr>
          <p:cNvPr id="4" name="Vorher"/>
          <p:cNvSpPr/>
          <p:nvPr/>
        </p:nvSpPr>
        <p:spPr>
          <a:xfrm>
            <a:off x="457200" y="1371600"/>
            <a:ext cx="3931920" cy="3017520"/>
          </a:xfrm>
          <a:prstGeom prst="roundRect">
            <a:avLst>
              <a:gd name="adj" fmla="val 2424"/>
            </a:avLst>
          </a:prstGeom>
          <a:solidFill>
            <a:schemeClr val="bg2"/>
          </a:solidFill>
          <a:ln w="12700">
            <a:solidFill>
              <a:schemeClr val="bg2"/>
            </a:solidFill>
            <a:prstDash val="solid"/>
          </a:ln>
        </p:spPr>
      </p:sp>
      <p:sp>
        <p:nvSpPr>
          <p:cNvPr id="5" name="Vorher Kreis"/>
          <p:cNvSpPr/>
          <p:nvPr/>
        </p:nvSpPr>
        <p:spPr>
          <a:xfrm>
            <a:off x="685800" y="1600200"/>
            <a:ext cx="548640" cy="548640"/>
          </a:xfrm>
          <a:prstGeom prst="ellipse">
            <a:avLst/>
          </a:prstGeom>
          <a:solidFill>
            <a:schemeClr val="accent3"/>
          </a:solidFill>
          <a:ln w="12700">
            <a:solidFill>
              <a:schemeClr val="accent3"/>
            </a:solidFill>
            <a:prstDash val="solid"/>
          </a:ln>
        </p:spPr>
      </p:sp>
      <p:pic>
        <p:nvPicPr>
          <p:cNvPr id="6" name="Vorher Symbol" descr="Vorher">    </p:cNvPr>
          <p:cNvPicPr>
            <a:picLocks noChangeAspect="1"/>
          </p:cNvPicPr>
          <p:nvPr/>
        </p:nvPicPr>
        <p:blipFill>
          <a:blip r:embed="rId1"/>
          <a:stretch>
            <a:fillRect/>
          </a:stretch>
        </p:blipFill>
        <p:spPr>
          <a:xfrm>
            <a:off x="822960" y="1737360"/>
            <a:ext cx="274320" cy="274320"/>
          </a:xfrm>
          <a:prstGeom prst="rect">
            <a:avLst/>
          </a:prstGeom>
        </p:spPr>
      </p:pic>
      <p:sp>
        <p:nvSpPr>
          <p:cNvPr id="7" name="Text 4"/>
          <p:cNvSpPr txBox="1"/>
          <p:nvPr/>
        </p:nvSpPr>
        <p:spPr>
          <a:xfrm>
            <a:off x="1371600" y="1691640"/>
            <a:ext cx="2743200" cy="365760"/>
          </a:xfrm>
          <a:prstGeom prst="rect">
            <a:avLst/>
          </a:prstGeom>
          <a:noFill/>
          <a:ln/>
        </p:spPr>
        <p:txBody>
          <a:bodyPr wrap="square" lIns="0" tIns="0" rIns="0" bIns="0" rtlCol="0" anchor="t"/>
          <a:lstStyle/>
          <a:p>
            <a:pPr indent="0" marL="0">
              <a:buNone/>
            </a:pPr>
            <a:r>
              <a:rPr lang="en-US" sz="1800" b="1" dirty="0">
                <a:solidFill>
                  <a:schemeClr val="tx2"/>
                </a:solidFill>
              </a:rPr>
              <a:t>Vorher</a:t>
            </a:r>
            <a:endParaRPr lang="en-US" sz="1800" dirty="0"/>
          </a:p>
        </p:txBody>
      </p:sp>
      <p:sp>
        <p:nvSpPr>
          <p:cNvPr id="8" name="Text 5"/>
          <p:cNvSpPr txBox="1"/>
          <p:nvPr/>
        </p:nvSpPr>
        <p:spPr>
          <a:xfrm>
            <a:off x="685800" y="2286000"/>
            <a:ext cx="3520440" cy="2011680"/>
          </a:xfrm>
          <a:prstGeom prst="rect">
            <a:avLst/>
          </a:prstGeom>
          <a:noFill/>
          <a:ln/>
        </p:spPr>
        <p:txBody>
          <a:bodyPr wrap="square" lIns="0" tIns="0" rIns="0" bIns="0" rtlCol="0" anchor="t"/>
          <a:lstStyle/>
          <a:p>
            <a:pPr marL="342900" indent="-342900">
              <a:spcAft>
                <a:spcPts val="600"/>
              </a:spcAft>
              <a:buSzPct val="100000"/>
              <a:buChar char="•"/>
            </a:pPr>
            <a:r>
              <a:rPr lang="en-US" sz="1350" i="1" dirty="0">
                <a:solidFill>
                  <a:schemeClr val="tx1"/>
                </a:solidFill>
              </a:rPr>
              <a:t>„Mein Auto ruckelt, eine Lampe leuchtet.“</a:t>
            </a:r>
            <a:endParaRPr lang="en-US" sz="1350" dirty="0"/>
          </a:p>
          <a:p>
            <a:pPr marL="342900" indent="-342900">
              <a:spcAft>
                <a:spcPts val="600"/>
              </a:spcAft>
              <a:buSzPct val="100000"/>
              <a:buChar char="•"/>
            </a:pPr>
            <a:r>
              <a:rPr lang="en-US" sz="1350" dirty="0">
                <a:solidFill>
                  <a:schemeClr val="tx1"/>
                </a:solidFill>
              </a:rPr>
              <a:t>Welches Auto, welches Baujahr, welcher Code?</a:t>
            </a:r>
            <a:endParaRPr lang="en-US" sz="1350" dirty="0"/>
          </a:p>
          <a:p>
            <a:pPr marL="342900" indent="-342900">
              <a:spcAft>
                <a:spcPts val="600"/>
              </a:spcAft>
              <a:buSzPct val="100000"/>
              <a:buChar char="•"/>
            </a:pPr>
            <a:r>
              <a:rPr lang="en-US" sz="1350" dirty="0">
                <a:solidFill>
                  <a:schemeClr val="tx1"/>
                </a:solidFill>
              </a:rPr>
              <a:t>Kunde spricht vielleicht kein Deutsch</a:t>
            </a:r>
            <a:endParaRPr lang="en-US" sz="1350" dirty="0"/>
          </a:p>
          <a:p>
            <a:pPr marL="342900" indent="-342900">
              <a:spcAft>
                <a:spcPts val="600"/>
              </a:spcAft>
              <a:buSzPct val="100000"/>
              <a:buChar char="•"/>
            </a:pPr>
            <a:r>
              <a:rPr lang="en-US" sz="1350" dirty="0">
                <a:solidFill>
                  <a:schemeClr val="tx1"/>
                </a:solidFill>
              </a:rPr>
              <a:t>Kosten? Lohnt sich die Reparatur? Wann gibt es einen Termin?</a:t>
            </a:r>
            <a:endParaRPr lang="en-US" sz="1350" dirty="0"/>
          </a:p>
        </p:txBody>
      </p:sp>
      <p:sp>
        <p:nvSpPr>
          <p:cNvPr id="9" name="Nachher"/>
          <p:cNvSpPr/>
          <p:nvPr/>
        </p:nvSpPr>
        <p:spPr>
          <a:xfrm>
            <a:off x="4754880" y="1371600"/>
            <a:ext cx="3931920" cy="3017520"/>
          </a:xfrm>
          <a:prstGeom prst="roundRect">
            <a:avLst>
              <a:gd name="adj" fmla="val 2424"/>
            </a:avLst>
          </a:prstGeom>
          <a:solidFill>
            <a:schemeClr val="tx2"/>
          </a:solidFill>
          <a:ln w="12700">
            <a:solidFill>
              <a:schemeClr val="tx2"/>
            </a:solidFill>
            <a:prstDash val="solid"/>
          </a:ln>
        </p:spPr>
      </p:sp>
      <p:sp>
        <p:nvSpPr>
          <p:cNvPr id="10" name="Nachher Kreis"/>
          <p:cNvSpPr/>
          <p:nvPr/>
        </p:nvSpPr>
        <p:spPr>
          <a:xfrm>
            <a:off x="4983480" y="1600200"/>
            <a:ext cx="548640" cy="548640"/>
          </a:xfrm>
          <a:prstGeom prst="ellipse">
            <a:avLst/>
          </a:prstGeom>
          <a:solidFill>
            <a:schemeClr val="accent2"/>
          </a:solidFill>
          <a:ln w="12700">
            <a:solidFill>
              <a:schemeClr val="accent2"/>
            </a:solidFill>
            <a:prstDash val="solid"/>
          </a:ln>
        </p:spPr>
      </p:sp>
      <p:pic>
        <p:nvPicPr>
          <p:cNvPr id="11" name="Nachher Symbol" descr="Nachher">    </p:cNvPr>
          <p:cNvPicPr>
            <a:picLocks noChangeAspect="1"/>
          </p:cNvPicPr>
          <p:nvPr/>
        </p:nvPicPr>
        <p:blipFill>
          <a:blip r:embed="rId2"/>
          <a:stretch>
            <a:fillRect/>
          </a:stretch>
        </p:blipFill>
        <p:spPr>
          <a:xfrm>
            <a:off x="5120640" y="1737360"/>
            <a:ext cx="274320" cy="274320"/>
          </a:xfrm>
          <a:prstGeom prst="rect">
            <a:avLst/>
          </a:prstGeom>
        </p:spPr>
      </p:pic>
      <p:sp>
        <p:nvSpPr>
          <p:cNvPr id="12" name="Text 8"/>
          <p:cNvSpPr txBox="1"/>
          <p:nvPr/>
        </p:nvSpPr>
        <p:spPr>
          <a:xfrm>
            <a:off x="5669280" y="1691640"/>
            <a:ext cx="2743200" cy="365760"/>
          </a:xfrm>
          <a:prstGeom prst="rect">
            <a:avLst/>
          </a:prstGeom>
          <a:noFill/>
          <a:ln/>
        </p:spPr>
        <p:txBody>
          <a:bodyPr wrap="square" lIns="0" tIns="0" rIns="0" bIns="0" rtlCol="0" anchor="t"/>
          <a:lstStyle/>
          <a:p>
            <a:pPr indent="0" marL="0">
              <a:buNone/>
            </a:pPr>
            <a:r>
              <a:rPr lang="en-US" sz="1800" b="1" dirty="0">
                <a:solidFill>
                  <a:schemeClr val="bg1"/>
                </a:solidFill>
              </a:rPr>
              <a:t>Mit AutoScan</a:t>
            </a:r>
            <a:endParaRPr lang="en-US" sz="1800" dirty="0"/>
          </a:p>
        </p:txBody>
      </p:sp>
      <p:sp>
        <p:nvSpPr>
          <p:cNvPr id="13" name="Text 9"/>
          <p:cNvSpPr txBox="1"/>
          <p:nvPr/>
        </p:nvSpPr>
        <p:spPr>
          <a:xfrm>
            <a:off x="4983480" y="2286000"/>
            <a:ext cx="3520440" cy="2011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bg1"/>
                </a:solidFill>
              </a:rPr>
              <a:t>Formular in jeder Sprache, mit Fotos</a:t>
            </a:r>
            <a:endParaRPr lang="en-US" sz="1350" dirty="0"/>
          </a:p>
          <a:p>
            <a:pPr marL="342900" indent="-342900">
              <a:spcAft>
                <a:spcPts val="600"/>
              </a:spcAft>
              <a:buSzPct val="100000"/>
              <a:buChar char="•"/>
            </a:pPr>
            <a:r>
              <a:rPr lang="en-US" sz="1350" dirty="0">
                <a:solidFill>
                  <a:schemeClr val="bg1"/>
                </a:solidFill>
              </a:rPr>
              <a:t>Fahrzeugdaten aus Foto + APIs, mit Quelle</a:t>
            </a:r>
            <a:endParaRPr lang="en-US" sz="1350" dirty="0"/>
          </a:p>
          <a:p>
            <a:pPr marL="342900" indent="-342900">
              <a:spcAft>
                <a:spcPts val="600"/>
              </a:spcAft>
              <a:buSzPct val="100000"/>
              <a:buChar char="•"/>
            </a:pPr>
            <a:r>
              <a:rPr lang="en-US" sz="1350" dirty="0">
                <a:solidFill>
                  <a:schemeClr val="bg1"/>
                </a:solidFill>
              </a:rPr>
              <a:t>Ursachen, Teile, Kostenspanne, Empfehlung</a:t>
            </a:r>
            <a:endParaRPr lang="en-US" sz="1350" dirty="0"/>
          </a:p>
          <a:p>
            <a:pPr marL="342900" indent="-342900">
              <a:spcAft>
                <a:spcPts val="600"/>
              </a:spcAft>
              <a:buSzPct val="100000"/>
              <a:buChar char="•"/>
            </a:pPr>
            <a:r>
              <a:rPr lang="en-US" sz="1350" dirty="0">
                <a:solidFill>
                  <a:schemeClr val="bg1"/>
                </a:solidFill>
              </a:rPr>
              <a:t>3 freie Termine + Antwort in Kundensprache – per E-Mail an die Werkstatt</a:t>
            </a:r>
            <a:endParaRPr lang="en-US" sz="1350" dirty="0"/>
          </a:p>
        </p:txBody>
      </p:sp>
      <p:sp>
        <p:nvSpPr>
          <p:cNvPr id="14" name="Pfeil vorher nachher"/>
          <p:cNvSpPr/>
          <p:nvPr/>
        </p:nvSpPr>
        <p:spPr>
          <a:xfrm>
            <a:off x="4434840" y="2880360"/>
            <a:ext cx="274320" cy="0"/>
          </a:xfrm>
          <a:prstGeom prst="line">
            <a:avLst/>
          </a:prstGeom>
          <a:noFill/>
          <a:ln w="19050">
            <a:solidFill>
              <a:srgbClr val="7A8599"/>
            </a:solidFill>
            <a:prstDash val="solid"/>
            <a:tailEnd type="triangle"/>
          </a:ln>
        </p:spPr>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ERGEBNIS</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Was die Werkstatt in einer E-Mail bekommt</a:t>
            </a:r>
            <a:endParaRPr lang="en-US" sz="3000" dirty="0"/>
          </a:p>
        </p:txBody>
      </p:sp>
      <p:sp>
        <p:nvSpPr>
          <p:cNvPr id="4" name="Ergebnis Fahrzeug"/>
          <p:cNvSpPr/>
          <p:nvPr/>
        </p:nvSpPr>
        <p:spPr>
          <a:xfrm>
            <a:off x="457200" y="1371600"/>
            <a:ext cx="2596896" cy="1417320"/>
          </a:xfrm>
          <a:prstGeom prst="roundRect">
            <a:avLst>
              <a:gd name="adj" fmla="val 5161"/>
            </a:avLst>
          </a:prstGeom>
          <a:solidFill>
            <a:schemeClr val="bg2"/>
          </a:solidFill>
          <a:ln w="12700">
            <a:solidFill>
              <a:schemeClr val="bg2"/>
            </a:solidFill>
            <a:prstDash val="solid"/>
          </a:ln>
        </p:spPr>
      </p:sp>
      <p:sp>
        <p:nvSpPr>
          <p:cNvPr id="5" name="Fahrzeug Kreis"/>
          <p:cNvSpPr/>
          <p:nvPr/>
        </p:nvSpPr>
        <p:spPr>
          <a:xfrm>
            <a:off x="640080" y="1554480"/>
            <a:ext cx="502920" cy="502920"/>
          </a:xfrm>
          <a:prstGeom prst="ellipse">
            <a:avLst/>
          </a:prstGeom>
          <a:solidFill>
            <a:schemeClr val="accent4"/>
          </a:solidFill>
          <a:ln w="12700">
            <a:solidFill>
              <a:schemeClr val="accent4"/>
            </a:solidFill>
            <a:prstDash val="solid"/>
          </a:ln>
        </p:spPr>
      </p:sp>
      <p:pic>
        <p:nvPicPr>
          <p:cNvPr id="6" name="Fahrzeug Symbol" descr="Fahrzeug">    </p:cNvPr>
          <p:cNvPicPr>
            <a:picLocks noChangeAspect="1"/>
          </p:cNvPicPr>
          <p:nvPr/>
        </p:nvPicPr>
        <p:blipFill>
          <a:blip r:embed="rId1"/>
          <a:stretch>
            <a:fillRect/>
          </a:stretch>
        </p:blipFill>
        <p:spPr>
          <a:xfrm>
            <a:off x="765810" y="1680210"/>
            <a:ext cx="251460" cy="251460"/>
          </a:xfrm>
          <a:prstGeom prst="rect">
            <a:avLst/>
          </a:prstGeom>
        </p:spPr>
      </p:pic>
      <p:sp>
        <p:nvSpPr>
          <p:cNvPr id="7" name="Text 4"/>
          <p:cNvSpPr txBox="1"/>
          <p:nvPr/>
        </p:nvSpPr>
        <p:spPr>
          <a:xfrm>
            <a:off x="1280160" y="1645920"/>
            <a:ext cx="1691640" cy="320040"/>
          </a:xfrm>
          <a:prstGeom prst="rect">
            <a:avLst/>
          </a:prstGeom>
          <a:noFill/>
          <a:ln/>
        </p:spPr>
        <p:txBody>
          <a:bodyPr wrap="square" lIns="0" tIns="0" rIns="0" bIns="0" rtlCol="0" anchor="t"/>
          <a:lstStyle/>
          <a:p>
            <a:pPr indent="0" marL="0">
              <a:buNone/>
            </a:pPr>
            <a:r>
              <a:rPr lang="en-US" sz="1500" b="1" dirty="0">
                <a:solidFill>
                  <a:schemeClr val="tx2"/>
                </a:solidFill>
              </a:rPr>
              <a:t>Fahrzeug</a:t>
            </a:r>
            <a:endParaRPr lang="en-US" sz="1500" dirty="0"/>
          </a:p>
        </p:txBody>
      </p:sp>
      <p:sp>
        <p:nvSpPr>
          <p:cNvPr id="8" name="Text 5"/>
          <p:cNvSpPr txBox="1"/>
          <p:nvPr/>
        </p:nvSpPr>
        <p:spPr>
          <a:xfrm>
            <a:off x="640080" y="2148840"/>
            <a:ext cx="2286000" cy="594360"/>
          </a:xfrm>
          <a:prstGeom prst="rect">
            <a:avLst/>
          </a:prstGeom>
          <a:noFill/>
          <a:ln/>
        </p:spPr>
        <p:txBody>
          <a:bodyPr wrap="square" lIns="0" tIns="0" rIns="0" bIns="0" rtlCol="0" anchor="t"/>
          <a:lstStyle/>
          <a:p>
            <a:pPr indent="0" marL="0">
              <a:buNone/>
            </a:pPr>
            <a:r>
              <a:rPr lang="en-US" sz="1200" dirty="0">
                <a:solidFill>
                  <a:schemeClr val="tx1"/>
                </a:solidFill>
              </a:rPr>
              <a:t>Marke, Modell, Jahr, FIN – jede Angabe mit Quelle</a:t>
            </a:r>
            <a:endParaRPr lang="en-US" sz="1200" dirty="0"/>
          </a:p>
        </p:txBody>
      </p:sp>
      <p:sp>
        <p:nvSpPr>
          <p:cNvPr id="9" name="Ergebnis Diagnose-Hinweise"/>
          <p:cNvSpPr/>
          <p:nvPr/>
        </p:nvSpPr>
        <p:spPr>
          <a:xfrm>
            <a:off x="3273552" y="1371600"/>
            <a:ext cx="2596896" cy="1417320"/>
          </a:xfrm>
          <a:prstGeom prst="roundRect">
            <a:avLst>
              <a:gd name="adj" fmla="val 5161"/>
            </a:avLst>
          </a:prstGeom>
          <a:solidFill>
            <a:schemeClr val="bg2"/>
          </a:solidFill>
          <a:ln w="12700">
            <a:solidFill>
              <a:schemeClr val="bg2"/>
            </a:solidFill>
            <a:prstDash val="solid"/>
          </a:ln>
        </p:spPr>
      </p:sp>
      <p:sp>
        <p:nvSpPr>
          <p:cNvPr id="10" name="Diagnose-Hinweise Kreis"/>
          <p:cNvSpPr/>
          <p:nvPr/>
        </p:nvSpPr>
        <p:spPr>
          <a:xfrm>
            <a:off x="3456432" y="1554480"/>
            <a:ext cx="502920" cy="502920"/>
          </a:xfrm>
          <a:prstGeom prst="ellipse">
            <a:avLst/>
          </a:prstGeom>
          <a:solidFill>
            <a:schemeClr val="accent6"/>
          </a:solidFill>
          <a:ln w="12700">
            <a:solidFill>
              <a:schemeClr val="accent6"/>
            </a:solidFill>
            <a:prstDash val="solid"/>
          </a:ln>
        </p:spPr>
      </p:sp>
      <p:pic>
        <p:nvPicPr>
          <p:cNvPr id="11" name="Diagnose-Hinweise Symbol" descr="Diagnose-Hinweise">    </p:cNvPr>
          <p:cNvPicPr>
            <a:picLocks noChangeAspect="1"/>
          </p:cNvPicPr>
          <p:nvPr/>
        </p:nvPicPr>
        <p:blipFill>
          <a:blip r:embed="rId2"/>
          <a:stretch>
            <a:fillRect/>
          </a:stretch>
        </p:blipFill>
        <p:spPr>
          <a:xfrm>
            <a:off x="3582162" y="1680210"/>
            <a:ext cx="251460" cy="251460"/>
          </a:xfrm>
          <a:prstGeom prst="rect">
            <a:avLst/>
          </a:prstGeom>
        </p:spPr>
      </p:pic>
      <p:sp>
        <p:nvSpPr>
          <p:cNvPr id="12" name="Text 8"/>
          <p:cNvSpPr txBox="1"/>
          <p:nvPr/>
        </p:nvSpPr>
        <p:spPr>
          <a:xfrm>
            <a:off x="4096512" y="1645920"/>
            <a:ext cx="1691640" cy="320040"/>
          </a:xfrm>
          <a:prstGeom prst="rect">
            <a:avLst/>
          </a:prstGeom>
          <a:noFill/>
          <a:ln/>
        </p:spPr>
        <p:txBody>
          <a:bodyPr wrap="square" lIns="0" tIns="0" rIns="0" bIns="0" rtlCol="0" anchor="t"/>
          <a:lstStyle/>
          <a:p>
            <a:pPr indent="0" marL="0">
              <a:buNone/>
            </a:pPr>
            <a:r>
              <a:rPr lang="en-US" sz="1500" b="1" dirty="0">
                <a:solidFill>
                  <a:schemeClr val="tx2"/>
                </a:solidFill>
              </a:rPr>
              <a:t>Diagnose-Hinweise</a:t>
            </a:r>
            <a:endParaRPr lang="en-US" sz="1500" dirty="0"/>
          </a:p>
        </p:txBody>
      </p:sp>
      <p:sp>
        <p:nvSpPr>
          <p:cNvPr id="13" name="Text 9"/>
          <p:cNvSpPr txBox="1"/>
          <p:nvPr/>
        </p:nvSpPr>
        <p:spPr>
          <a:xfrm>
            <a:off x="3456432" y="2148840"/>
            <a:ext cx="2286000" cy="594360"/>
          </a:xfrm>
          <a:prstGeom prst="rect">
            <a:avLst/>
          </a:prstGeom>
          <a:noFill/>
          <a:ln/>
        </p:spPr>
        <p:txBody>
          <a:bodyPr wrap="square" lIns="0" tIns="0" rIns="0" bIns="0" rtlCol="0" anchor="t"/>
          <a:lstStyle/>
          <a:p>
            <a:pPr indent="0" marL="0">
              <a:buNone/>
            </a:pPr>
            <a:r>
              <a:rPr lang="en-US" sz="1200" dirty="0">
                <a:solidFill>
                  <a:schemeClr val="tx1"/>
                </a:solidFill>
              </a:rPr>
              <a:t>Mögliche Ursachen + benötigte Teile aus dem Werkstatt-Katalog</a:t>
            </a:r>
            <a:endParaRPr lang="en-US" sz="1200" dirty="0"/>
          </a:p>
        </p:txBody>
      </p:sp>
      <p:sp>
        <p:nvSpPr>
          <p:cNvPr id="14" name="Ergebnis Kostenspanne"/>
          <p:cNvSpPr/>
          <p:nvPr/>
        </p:nvSpPr>
        <p:spPr>
          <a:xfrm>
            <a:off x="6089904" y="1371600"/>
            <a:ext cx="2596896" cy="1417320"/>
          </a:xfrm>
          <a:prstGeom prst="roundRect">
            <a:avLst>
              <a:gd name="adj" fmla="val 5161"/>
            </a:avLst>
          </a:prstGeom>
          <a:solidFill>
            <a:schemeClr val="bg2"/>
          </a:solidFill>
          <a:ln w="12700">
            <a:solidFill>
              <a:schemeClr val="bg2"/>
            </a:solidFill>
            <a:prstDash val="solid"/>
          </a:ln>
        </p:spPr>
      </p:sp>
      <p:sp>
        <p:nvSpPr>
          <p:cNvPr id="15" name="Kostenspanne Kreis"/>
          <p:cNvSpPr/>
          <p:nvPr/>
        </p:nvSpPr>
        <p:spPr>
          <a:xfrm>
            <a:off x="6272784" y="1554480"/>
            <a:ext cx="502920" cy="502920"/>
          </a:xfrm>
          <a:prstGeom prst="ellipse">
            <a:avLst/>
          </a:prstGeom>
          <a:solidFill>
            <a:schemeClr val="accent1"/>
          </a:solidFill>
          <a:ln w="12700">
            <a:solidFill>
              <a:schemeClr val="accent1"/>
            </a:solidFill>
            <a:prstDash val="solid"/>
          </a:ln>
        </p:spPr>
      </p:sp>
      <p:pic>
        <p:nvPicPr>
          <p:cNvPr id="16" name="Kostenspanne Symbol" descr="Kostenspanne">    </p:cNvPr>
          <p:cNvPicPr>
            <a:picLocks noChangeAspect="1"/>
          </p:cNvPicPr>
          <p:nvPr/>
        </p:nvPicPr>
        <p:blipFill>
          <a:blip r:embed="rId3"/>
          <a:stretch>
            <a:fillRect/>
          </a:stretch>
        </p:blipFill>
        <p:spPr>
          <a:xfrm>
            <a:off x="6398514" y="1680210"/>
            <a:ext cx="251460" cy="251460"/>
          </a:xfrm>
          <a:prstGeom prst="rect">
            <a:avLst/>
          </a:prstGeom>
        </p:spPr>
      </p:pic>
      <p:sp>
        <p:nvSpPr>
          <p:cNvPr id="17" name="Text 12"/>
          <p:cNvSpPr txBox="1"/>
          <p:nvPr/>
        </p:nvSpPr>
        <p:spPr>
          <a:xfrm>
            <a:off x="6912864" y="1645920"/>
            <a:ext cx="1691640" cy="320040"/>
          </a:xfrm>
          <a:prstGeom prst="rect">
            <a:avLst/>
          </a:prstGeom>
          <a:noFill/>
          <a:ln/>
        </p:spPr>
        <p:txBody>
          <a:bodyPr wrap="square" lIns="0" tIns="0" rIns="0" bIns="0" rtlCol="0" anchor="t"/>
          <a:lstStyle/>
          <a:p>
            <a:pPr indent="0" marL="0">
              <a:buNone/>
            </a:pPr>
            <a:r>
              <a:rPr lang="en-US" sz="1500" b="1" dirty="0">
                <a:solidFill>
                  <a:schemeClr val="tx2"/>
                </a:solidFill>
              </a:rPr>
              <a:t>Kostenspanne</a:t>
            </a:r>
            <a:endParaRPr lang="en-US" sz="1500" dirty="0"/>
          </a:p>
        </p:txBody>
      </p:sp>
      <p:sp>
        <p:nvSpPr>
          <p:cNvPr id="18" name="Text 13"/>
          <p:cNvSpPr txBox="1"/>
          <p:nvPr/>
        </p:nvSpPr>
        <p:spPr>
          <a:xfrm>
            <a:off x="6272784" y="2148840"/>
            <a:ext cx="2286000" cy="594360"/>
          </a:xfrm>
          <a:prstGeom prst="rect">
            <a:avLst/>
          </a:prstGeom>
          <a:noFill/>
          <a:ln/>
        </p:spPr>
        <p:txBody>
          <a:bodyPr wrap="square" lIns="0" tIns="0" rIns="0" bIns="0" rtlCol="0" anchor="t"/>
          <a:lstStyle/>
          <a:p>
            <a:pPr indent="0" marL="0">
              <a:buNone/>
            </a:pPr>
            <a:r>
              <a:rPr lang="en-US" sz="1200" dirty="0">
                <a:solidFill>
                  <a:schemeClr val="tx1"/>
                </a:solidFill>
              </a:rPr>
              <a:t>Teile + Arbeitszeit × Stundensatz, unverbindlich</a:t>
            </a:r>
            <a:endParaRPr lang="en-US" sz="1200" dirty="0"/>
          </a:p>
        </p:txBody>
      </p:sp>
      <p:sp>
        <p:nvSpPr>
          <p:cNvPr id="19" name="Ergebnis Empfehlung"/>
          <p:cNvSpPr/>
          <p:nvPr/>
        </p:nvSpPr>
        <p:spPr>
          <a:xfrm>
            <a:off x="457200" y="2971800"/>
            <a:ext cx="2596896" cy="1417320"/>
          </a:xfrm>
          <a:prstGeom prst="roundRect">
            <a:avLst>
              <a:gd name="adj" fmla="val 5161"/>
            </a:avLst>
          </a:prstGeom>
          <a:solidFill>
            <a:schemeClr val="bg2"/>
          </a:solidFill>
          <a:ln w="12700">
            <a:solidFill>
              <a:schemeClr val="bg2"/>
            </a:solidFill>
            <a:prstDash val="solid"/>
          </a:ln>
        </p:spPr>
      </p:sp>
      <p:sp>
        <p:nvSpPr>
          <p:cNvPr id="20" name="Empfehlung Kreis"/>
          <p:cNvSpPr/>
          <p:nvPr/>
        </p:nvSpPr>
        <p:spPr>
          <a:xfrm>
            <a:off x="640080" y="3154680"/>
            <a:ext cx="502920" cy="502920"/>
          </a:xfrm>
          <a:prstGeom prst="ellipse">
            <a:avLst/>
          </a:prstGeom>
          <a:solidFill>
            <a:schemeClr val="accent3"/>
          </a:solidFill>
          <a:ln w="12700">
            <a:solidFill>
              <a:schemeClr val="accent3"/>
            </a:solidFill>
            <a:prstDash val="solid"/>
          </a:ln>
        </p:spPr>
      </p:sp>
      <p:pic>
        <p:nvPicPr>
          <p:cNvPr id="21" name="Empfehlung Symbol" descr="Empfehlung">    </p:cNvPr>
          <p:cNvPicPr>
            <a:picLocks noChangeAspect="1"/>
          </p:cNvPicPr>
          <p:nvPr/>
        </p:nvPicPr>
        <p:blipFill>
          <a:blip r:embed="rId4"/>
          <a:stretch>
            <a:fillRect/>
          </a:stretch>
        </p:blipFill>
        <p:spPr>
          <a:xfrm>
            <a:off x="765810" y="3280410"/>
            <a:ext cx="251460" cy="251460"/>
          </a:xfrm>
          <a:prstGeom prst="rect">
            <a:avLst/>
          </a:prstGeom>
        </p:spPr>
      </p:pic>
      <p:sp>
        <p:nvSpPr>
          <p:cNvPr id="22" name="Text 16"/>
          <p:cNvSpPr txBox="1"/>
          <p:nvPr/>
        </p:nvSpPr>
        <p:spPr>
          <a:xfrm>
            <a:off x="1280160" y="3246120"/>
            <a:ext cx="1691640" cy="320040"/>
          </a:xfrm>
          <a:prstGeom prst="rect">
            <a:avLst/>
          </a:prstGeom>
          <a:noFill/>
          <a:ln/>
        </p:spPr>
        <p:txBody>
          <a:bodyPr wrap="square" lIns="0" tIns="0" rIns="0" bIns="0" rtlCol="0" anchor="t"/>
          <a:lstStyle/>
          <a:p>
            <a:pPr indent="0" marL="0">
              <a:buNone/>
            </a:pPr>
            <a:r>
              <a:rPr lang="en-US" sz="1500" b="1" dirty="0">
                <a:solidFill>
                  <a:schemeClr val="tx2"/>
                </a:solidFill>
              </a:rPr>
              <a:t>Empfehlung</a:t>
            </a:r>
            <a:endParaRPr lang="en-US" sz="1500" dirty="0"/>
          </a:p>
        </p:txBody>
      </p:sp>
      <p:sp>
        <p:nvSpPr>
          <p:cNvPr id="23" name="Text 17"/>
          <p:cNvSpPr txBox="1"/>
          <p:nvPr/>
        </p:nvSpPr>
        <p:spPr>
          <a:xfrm>
            <a:off x="640080" y="3749040"/>
            <a:ext cx="2286000" cy="594360"/>
          </a:xfrm>
          <a:prstGeom prst="rect">
            <a:avLst/>
          </a:prstGeom>
          <a:noFill/>
          <a:ln/>
        </p:spPr>
        <p:txBody>
          <a:bodyPr wrap="square" lIns="0" tIns="0" rIns="0" bIns="0" rtlCol="0" anchor="t"/>
          <a:lstStyle/>
          <a:p>
            <a:pPr indent="0" marL="0">
              <a:buNone/>
            </a:pPr>
            <a:r>
              <a:rPr lang="en-US" sz="1200" dirty="0">
                <a:solidFill>
                  <a:schemeClr val="tx1"/>
                </a:solidFill>
              </a:rPr>
              <a:t>Reparieren · abwägen · Verkauf erwägen – nach fester Regel</a:t>
            </a:r>
            <a:endParaRPr lang="en-US" sz="1200" dirty="0"/>
          </a:p>
        </p:txBody>
      </p:sp>
      <p:sp>
        <p:nvSpPr>
          <p:cNvPr id="24" name="Ergebnis Terminvorschläge"/>
          <p:cNvSpPr/>
          <p:nvPr/>
        </p:nvSpPr>
        <p:spPr>
          <a:xfrm>
            <a:off x="3273552" y="2971800"/>
            <a:ext cx="2596896" cy="1417320"/>
          </a:xfrm>
          <a:prstGeom prst="roundRect">
            <a:avLst>
              <a:gd name="adj" fmla="val 5161"/>
            </a:avLst>
          </a:prstGeom>
          <a:solidFill>
            <a:schemeClr val="bg2"/>
          </a:solidFill>
          <a:ln w="12700">
            <a:solidFill>
              <a:schemeClr val="bg2"/>
            </a:solidFill>
            <a:prstDash val="solid"/>
          </a:ln>
        </p:spPr>
      </p:sp>
      <p:sp>
        <p:nvSpPr>
          <p:cNvPr id="25" name="Terminvorschläge Kreis"/>
          <p:cNvSpPr/>
          <p:nvPr/>
        </p:nvSpPr>
        <p:spPr>
          <a:xfrm>
            <a:off x="3456432" y="3154680"/>
            <a:ext cx="502920" cy="502920"/>
          </a:xfrm>
          <a:prstGeom prst="ellipse">
            <a:avLst/>
          </a:prstGeom>
          <a:solidFill>
            <a:schemeClr val="accent2"/>
          </a:solidFill>
          <a:ln w="12700">
            <a:solidFill>
              <a:schemeClr val="accent2"/>
            </a:solidFill>
            <a:prstDash val="solid"/>
          </a:ln>
        </p:spPr>
      </p:sp>
      <p:pic>
        <p:nvPicPr>
          <p:cNvPr id="26" name="Terminvorschläge Symbol" descr="Terminvorschläge">    </p:cNvPr>
          <p:cNvPicPr>
            <a:picLocks noChangeAspect="1"/>
          </p:cNvPicPr>
          <p:nvPr/>
        </p:nvPicPr>
        <p:blipFill>
          <a:blip r:embed="rId5"/>
          <a:stretch>
            <a:fillRect/>
          </a:stretch>
        </p:blipFill>
        <p:spPr>
          <a:xfrm>
            <a:off x="3582162" y="3280410"/>
            <a:ext cx="251460" cy="251460"/>
          </a:xfrm>
          <a:prstGeom prst="rect">
            <a:avLst/>
          </a:prstGeom>
        </p:spPr>
      </p:pic>
      <p:sp>
        <p:nvSpPr>
          <p:cNvPr id="27" name="Text 20"/>
          <p:cNvSpPr txBox="1"/>
          <p:nvPr/>
        </p:nvSpPr>
        <p:spPr>
          <a:xfrm>
            <a:off x="4096512" y="3246120"/>
            <a:ext cx="1691640" cy="320040"/>
          </a:xfrm>
          <a:prstGeom prst="rect">
            <a:avLst/>
          </a:prstGeom>
          <a:noFill/>
          <a:ln/>
        </p:spPr>
        <p:txBody>
          <a:bodyPr wrap="square" lIns="0" tIns="0" rIns="0" bIns="0" rtlCol="0" anchor="t"/>
          <a:lstStyle/>
          <a:p>
            <a:pPr indent="0" marL="0">
              <a:buNone/>
            </a:pPr>
            <a:r>
              <a:rPr lang="en-US" sz="1500" b="1" dirty="0">
                <a:solidFill>
                  <a:schemeClr val="tx2"/>
                </a:solidFill>
              </a:rPr>
              <a:t>Terminvorschläge</a:t>
            </a:r>
            <a:endParaRPr lang="en-US" sz="1500" dirty="0"/>
          </a:p>
        </p:txBody>
      </p:sp>
      <p:sp>
        <p:nvSpPr>
          <p:cNvPr id="28" name="Text 21"/>
          <p:cNvSpPr txBox="1"/>
          <p:nvPr/>
        </p:nvSpPr>
        <p:spPr>
          <a:xfrm>
            <a:off x="3456432" y="3749040"/>
            <a:ext cx="2286000" cy="594360"/>
          </a:xfrm>
          <a:prstGeom prst="rect">
            <a:avLst/>
          </a:prstGeom>
          <a:noFill/>
          <a:ln/>
        </p:spPr>
        <p:txBody>
          <a:bodyPr wrap="square" lIns="0" tIns="0" rIns="0" bIns="0" rtlCol="0" anchor="t"/>
          <a:lstStyle/>
          <a:p>
            <a:pPr indent="0" marL="0">
              <a:buNone/>
            </a:pPr>
            <a:r>
              <a:rPr lang="en-US" sz="1200" dirty="0">
                <a:solidFill>
                  <a:schemeClr val="tx1"/>
                </a:solidFill>
              </a:rPr>
              <a:t>3 freie Zeiten aus Google Calendar</a:t>
            </a:r>
            <a:endParaRPr lang="en-US" sz="1200" dirty="0"/>
          </a:p>
        </p:txBody>
      </p:sp>
      <p:sp>
        <p:nvSpPr>
          <p:cNvPr id="29" name="Ergebnis Antwortentwurf"/>
          <p:cNvSpPr/>
          <p:nvPr/>
        </p:nvSpPr>
        <p:spPr>
          <a:xfrm>
            <a:off x="6089904" y="2971800"/>
            <a:ext cx="2596896" cy="1417320"/>
          </a:xfrm>
          <a:prstGeom prst="roundRect">
            <a:avLst>
              <a:gd name="adj" fmla="val 5161"/>
            </a:avLst>
          </a:prstGeom>
          <a:solidFill>
            <a:schemeClr val="bg2"/>
          </a:solidFill>
          <a:ln w="12700">
            <a:solidFill>
              <a:schemeClr val="bg2"/>
            </a:solidFill>
            <a:prstDash val="solid"/>
          </a:ln>
        </p:spPr>
      </p:sp>
      <p:sp>
        <p:nvSpPr>
          <p:cNvPr id="30" name="Antwortentwurf Kreis"/>
          <p:cNvSpPr/>
          <p:nvPr/>
        </p:nvSpPr>
        <p:spPr>
          <a:xfrm>
            <a:off x="6272784" y="3154680"/>
            <a:ext cx="502920" cy="502920"/>
          </a:xfrm>
          <a:prstGeom prst="ellipse">
            <a:avLst/>
          </a:prstGeom>
          <a:solidFill>
            <a:schemeClr val="accent5"/>
          </a:solidFill>
          <a:ln w="12700">
            <a:solidFill>
              <a:schemeClr val="accent5"/>
            </a:solidFill>
            <a:prstDash val="solid"/>
          </a:ln>
        </p:spPr>
      </p:sp>
      <p:pic>
        <p:nvPicPr>
          <p:cNvPr id="31" name="Antwortentwurf Symbol" descr="Antwortentwurf">    </p:cNvPr>
          <p:cNvPicPr>
            <a:picLocks noChangeAspect="1"/>
          </p:cNvPicPr>
          <p:nvPr/>
        </p:nvPicPr>
        <p:blipFill>
          <a:blip r:embed="rId6"/>
          <a:stretch>
            <a:fillRect/>
          </a:stretch>
        </p:blipFill>
        <p:spPr>
          <a:xfrm>
            <a:off x="6398514" y="3280410"/>
            <a:ext cx="251460" cy="251460"/>
          </a:xfrm>
          <a:prstGeom prst="rect">
            <a:avLst/>
          </a:prstGeom>
        </p:spPr>
      </p:pic>
      <p:sp>
        <p:nvSpPr>
          <p:cNvPr id="32" name="Text 24"/>
          <p:cNvSpPr txBox="1"/>
          <p:nvPr/>
        </p:nvSpPr>
        <p:spPr>
          <a:xfrm>
            <a:off x="6912864" y="3246120"/>
            <a:ext cx="1691640" cy="320040"/>
          </a:xfrm>
          <a:prstGeom prst="rect">
            <a:avLst/>
          </a:prstGeom>
          <a:noFill/>
          <a:ln/>
        </p:spPr>
        <p:txBody>
          <a:bodyPr wrap="square" lIns="0" tIns="0" rIns="0" bIns="0" rtlCol="0" anchor="t"/>
          <a:lstStyle/>
          <a:p>
            <a:pPr indent="0" marL="0">
              <a:buNone/>
            </a:pPr>
            <a:r>
              <a:rPr lang="en-US" sz="1500" b="1" dirty="0">
                <a:solidFill>
                  <a:schemeClr val="tx2"/>
                </a:solidFill>
              </a:rPr>
              <a:t>Antwortentwurf</a:t>
            </a:r>
            <a:endParaRPr lang="en-US" sz="1500" dirty="0"/>
          </a:p>
        </p:txBody>
      </p:sp>
      <p:sp>
        <p:nvSpPr>
          <p:cNvPr id="33" name="Text 25"/>
          <p:cNvSpPr txBox="1"/>
          <p:nvPr/>
        </p:nvSpPr>
        <p:spPr>
          <a:xfrm>
            <a:off x="6272784" y="3749040"/>
            <a:ext cx="2286000" cy="594360"/>
          </a:xfrm>
          <a:prstGeom prst="rect">
            <a:avLst/>
          </a:prstGeom>
          <a:noFill/>
          <a:ln/>
        </p:spPr>
        <p:txBody>
          <a:bodyPr wrap="square" lIns="0" tIns="0" rIns="0" bIns="0" rtlCol="0" anchor="t"/>
          <a:lstStyle/>
          <a:p>
            <a:pPr indent="0" marL="0">
              <a:buNone/>
            </a:pPr>
            <a:r>
              <a:rPr lang="en-US" sz="1200" dirty="0">
                <a:solidFill>
                  <a:schemeClr val="tx1"/>
                </a:solidFill>
              </a:rPr>
              <a:t>In der Sprache des Kunden + deutsche Übersetzung</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ARCHITEKTUR</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Ein Workflow, sieben Stufen, 36 Nodes</a:t>
            </a:r>
            <a:endParaRPr lang="en-US" sz="3000" dirty="0"/>
          </a:p>
        </p:txBody>
      </p:sp>
      <p:sp>
        <p:nvSpPr>
          <p:cNvPr id="4" name="Stufe ①"/>
          <p:cNvSpPr/>
          <p:nvPr/>
        </p:nvSpPr>
        <p:spPr>
          <a:xfrm>
            <a:off x="457200" y="1417320"/>
            <a:ext cx="1078992" cy="1371600"/>
          </a:xfrm>
          <a:prstGeom prst="roundRect">
            <a:avLst>
              <a:gd name="adj" fmla="val 6780"/>
            </a:avLst>
          </a:prstGeom>
          <a:solidFill>
            <a:schemeClr val="accent4"/>
          </a:solidFill>
          <a:ln w="12700">
            <a:solidFill>
              <a:schemeClr val="accent4"/>
            </a:solidFill>
            <a:prstDash val="solid"/>
          </a:ln>
        </p:spPr>
      </p:sp>
      <p:sp>
        <p:nvSpPr>
          <p:cNvPr id="5" name="Text 3"/>
          <p:cNvSpPr txBox="1"/>
          <p:nvPr/>
        </p:nvSpPr>
        <p:spPr>
          <a:xfrm>
            <a:off x="548640" y="1481328"/>
            <a:ext cx="914400" cy="320040"/>
          </a:xfrm>
          <a:prstGeom prst="rect">
            <a:avLst/>
          </a:prstGeom>
          <a:noFill/>
          <a:ln/>
        </p:spPr>
        <p:txBody>
          <a:bodyPr wrap="square" lIns="0" tIns="0" rIns="0" bIns="0" rtlCol="0" anchor="t"/>
          <a:lstStyle/>
          <a:p>
            <a:pPr indent="0" marL="0">
              <a:buNone/>
            </a:pPr>
            <a:r>
              <a:rPr lang="en-US" sz="1600" b="1" dirty="0">
                <a:solidFill>
                  <a:schemeClr val="bg1"/>
                </a:solidFill>
              </a:rPr>
              <a:t>①</a:t>
            </a:r>
            <a:endParaRPr lang="en-US" sz="1600" dirty="0"/>
          </a:p>
        </p:txBody>
      </p:sp>
      <p:sp>
        <p:nvSpPr>
          <p:cNvPr id="6" name="Text 4"/>
          <p:cNvSpPr txBox="1"/>
          <p:nvPr/>
        </p:nvSpPr>
        <p:spPr>
          <a:xfrm>
            <a:off x="548640" y="1810512"/>
            <a:ext cx="960120" cy="320040"/>
          </a:xfrm>
          <a:prstGeom prst="rect">
            <a:avLst/>
          </a:prstGeom>
          <a:noFill/>
          <a:ln/>
        </p:spPr>
        <p:txBody>
          <a:bodyPr wrap="square" lIns="0" tIns="0" rIns="0" bIns="0" rtlCol="0" anchor="t"/>
          <a:lstStyle/>
          <a:p>
            <a:pPr indent="0" marL="0">
              <a:buNone/>
            </a:pPr>
            <a:r>
              <a:rPr lang="en-US" sz="1300" b="1" dirty="0">
                <a:solidFill>
                  <a:schemeClr val="bg1"/>
                </a:solidFill>
              </a:rPr>
              <a:t>Eingang</a:t>
            </a:r>
            <a:endParaRPr lang="en-US" sz="1300" dirty="0"/>
          </a:p>
        </p:txBody>
      </p:sp>
      <p:sp>
        <p:nvSpPr>
          <p:cNvPr id="7" name="Text 5"/>
          <p:cNvSpPr txBox="1"/>
          <p:nvPr/>
        </p:nvSpPr>
        <p:spPr>
          <a:xfrm>
            <a:off x="548640" y="2148840"/>
            <a:ext cx="932688" cy="594360"/>
          </a:xfrm>
          <a:prstGeom prst="rect">
            <a:avLst/>
          </a:prstGeom>
          <a:noFill/>
          <a:ln/>
        </p:spPr>
        <p:txBody>
          <a:bodyPr wrap="square" lIns="0" tIns="0" rIns="0" bIns="0" rtlCol="0" anchor="t"/>
          <a:lstStyle/>
          <a:p>
            <a:pPr indent="0" marL="0">
              <a:buNone/>
            </a:pPr>
            <a:r>
              <a:rPr lang="en-US" sz="1050" dirty="0">
                <a:solidFill>
                  <a:schemeClr val="bg1"/>
                </a:solidFill>
              </a:rPr>
              <a:t>Formular · Demo · Konfiguration</a:t>
            </a:r>
            <a:endParaRPr lang="en-US" sz="1050" dirty="0"/>
          </a:p>
        </p:txBody>
      </p:sp>
      <p:sp>
        <p:nvSpPr>
          <p:cNvPr id="8" name="Pfeil ①"/>
          <p:cNvSpPr/>
          <p:nvPr/>
        </p:nvSpPr>
        <p:spPr>
          <a:xfrm>
            <a:off x="1545336" y="2103120"/>
            <a:ext cx="91440" cy="0"/>
          </a:xfrm>
          <a:prstGeom prst="line">
            <a:avLst/>
          </a:prstGeom>
          <a:noFill/>
          <a:ln w="19050">
            <a:solidFill>
              <a:srgbClr val="7A8599"/>
            </a:solidFill>
            <a:prstDash val="solid"/>
            <a:tailEnd type="triangle"/>
          </a:ln>
        </p:spPr>
      </p:sp>
      <p:sp>
        <p:nvSpPr>
          <p:cNvPr id="9" name="Stufe ②"/>
          <p:cNvSpPr/>
          <p:nvPr/>
        </p:nvSpPr>
        <p:spPr>
          <a:xfrm>
            <a:off x="1645920" y="1417320"/>
            <a:ext cx="1078992" cy="1371600"/>
          </a:xfrm>
          <a:prstGeom prst="roundRect">
            <a:avLst>
              <a:gd name="adj" fmla="val 6780"/>
            </a:avLst>
          </a:prstGeom>
          <a:solidFill>
            <a:schemeClr val="accent6"/>
          </a:solidFill>
          <a:ln w="12700">
            <a:solidFill>
              <a:schemeClr val="accent6"/>
            </a:solidFill>
            <a:prstDash val="solid"/>
          </a:ln>
        </p:spPr>
      </p:sp>
      <p:sp>
        <p:nvSpPr>
          <p:cNvPr id="10" name="Text 8"/>
          <p:cNvSpPr txBox="1"/>
          <p:nvPr/>
        </p:nvSpPr>
        <p:spPr>
          <a:xfrm>
            <a:off x="1737360" y="1481328"/>
            <a:ext cx="914400" cy="320040"/>
          </a:xfrm>
          <a:prstGeom prst="rect">
            <a:avLst/>
          </a:prstGeom>
          <a:noFill/>
          <a:ln/>
        </p:spPr>
        <p:txBody>
          <a:bodyPr wrap="square" lIns="0" tIns="0" rIns="0" bIns="0" rtlCol="0" anchor="t"/>
          <a:lstStyle/>
          <a:p>
            <a:pPr indent="0" marL="0">
              <a:buNone/>
            </a:pPr>
            <a:r>
              <a:rPr lang="en-US" sz="1600" b="1" dirty="0">
                <a:solidFill>
                  <a:schemeClr val="bg1"/>
                </a:solidFill>
              </a:rPr>
              <a:t>②</a:t>
            </a:r>
            <a:endParaRPr lang="en-US" sz="1600" dirty="0"/>
          </a:p>
        </p:txBody>
      </p:sp>
      <p:sp>
        <p:nvSpPr>
          <p:cNvPr id="11" name="Text 9"/>
          <p:cNvSpPr txBox="1"/>
          <p:nvPr/>
        </p:nvSpPr>
        <p:spPr>
          <a:xfrm>
            <a:off x="1737360" y="1810512"/>
            <a:ext cx="960120" cy="320040"/>
          </a:xfrm>
          <a:prstGeom prst="rect">
            <a:avLst/>
          </a:prstGeom>
          <a:noFill/>
          <a:ln/>
        </p:spPr>
        <p:txBody>
          <a:bodyPr wrap="square" lIns="0" tIns="0" rIns="0" bIns="0" rtlCol="0" anchor="t"/>
          <a:lstStyle/>
          <a:p>
            <a:pPr indent="0" marL="0">
              <a:buNone/>
            </a:pPr>
            <a:r>
              <a:rPr lang="en-US" sz="1300" b="1" dirty="0">
                <a:solidFill>
                  <a:schemeClr val="bg1"/>
                </a:solidFill>
              </a:rPr>
              <a:t>Vision</a:t>
            </a:r>
            <a:endParaRPr lang="en-US" sz="1300" dirty="0"/>
          </a:p>
        </p:txBody>
      </p:sp>
      <p:sp>
        <p:nvSpPr>
          <p:cNvPr id="12" name="Text 10"/>
          <p:cNvSpPr txBox="1"/>
          <p:nvPr/>
        </p:nvSpPr>
        <p:spPr>
          <a:xfrm>
            <a:off x="1737360" y="2148840"/>
            <a:ext cx="932688" cy="594360"/>
          </a:xfrm>
          <a:prstGeom prst="rect">
            <a:avLst/>
          </a:prstGeom>
          <a:noFill/>
          <a:ln/>
        </p:spPr>
        <p:txBody>
          <a:bodyPr wrap="square" lIns="0" tIns="0" rIns="0" bIns="0" rtlCol="0" anchor="t"/>
          <a:lstStyle/>
          <a:p>
            <a:pPr indent="0" marL="0">
              <a:buNone/>
            </a:pPr>
            <a:r>
              <a:rPr lang="en-US" sz="1050" dirty="0">
                <a:solidFill>
                  <a:schemeClr val="bg1"/>
                </a:solidFill>
              </a:rPr>
              <a:t>OpenRouter liest Fotos</a:t>
            </a:r>
            <a:endParaRPr lang="en-US" sz="1050" dirty="0"/>
          </a:p>
        </p:txBody>
      </p:sp>
      <p:sp>
        <p:nvSpPr>
          <p:cNvPr id="13" name="Pfeil ②"/>
          <p:cNvSpPr/>
          <p:nvPr/>
        </p:nvSpPr>
        <p:spPr>
          <a:xfrm>
            <a:off x="2734056" y="2103120"/>
            <a:ext cx="91440" cy="0"/>
          </a:xfrm>
          <a:prstGeom prst="line">
            <a:avLst/>
          </a:prstGeom>
          <a:noFill/>
          <a:ln w="19050">
            <a:solidFill>
              <a:srgbClr val="7A8599"/>
            </a:solidFill>
            <a:prstDash val="solid"/>
            <a:tailEnd type="triangle"/>
          </a:ln>
        </p:spPr>
      </p:sp>
      <p:sp>
        <p:nvSpPr>
          <p:cNvPr id="14" name="Stufe ③"/>
          <p:cNvSpPr/>
          <p:nvPr/>
        </p:nvSpPr>
        <p:spPr>
          <a:xfrm>
            <a:off x="2834640" y="1417320"/>
            <a:ext cx="1078992" cy="1371600"/>
          </a:xfrm>
          <a:prstGeom prst="roundRect">
            <a:avLst>
              <a:gd name="adj" fmla="val 6780"/>
            </a:avLst>
          </a:prstGeom>
          <a:solidFill>
            <a:schemeClr val="accent2"/>
          </a:solidFill>
          <a:ln w="12700">
            <a:solidFill>
              <a:schemeClr val="accent2"/>
            </a:solidFill>
            <a:prstDash val="solid"/>
          </a:ln>
        </p:spPr>
      </p:sp>
      <p:sp>
        <p:nvSpPr>
          <p:cNvPr id="15" name="Text 13"/>
          <p:cNvSpPr txBox="1"/>
          <p:nvPr/>
        </p:nvSpPr>
        <p:spPr>
          <a:xfrm>
            <a:off x="2926080" y="1481328"/>
            <a:ext cx="914400" cy="320040"/>
          </a:xfrm>
          <a:prstGeom prst="rect">
            <a:avLst/>
          </a:prstGeom>
          <a:noFill/>
          <a:ln/>
        </p:spPr>
        <p:txBody>
          <a:bodyPr wrap="square" lIns="0" tIns="0" rIns="0" bIns="0" rtlCol="0" anchor="t"/>
          <a:lstStyle/>
          <a:p>
            <a:pPr indent="0" marL="0">
              <a:buNone/>
            </a:pPr>
            <a:r>
              <a:rPr lang="en-US" sz="1600" b="1" dirty="0">
                <a:solidFill>
                  <a:schemeClr val="bg1"/>
                </a:solidFill>
              </a:rPr>
              <a:t>③</a:t>
            </a:r>
            <a:endParaRPr lang="en-US" sz="1600" dirty="0"/>
          </a:p>
        </p:txBody>
      </p:sp>
      <p:sp>
        <p:nvSpPr>
          <p:cNvPr id="16" name="Text 14"/>
          <p:cNvSpPr txBox="1"/>
          <p:nvPr/>
        </p:nvSpPr>
        <p:spPr>
          <a:xfrm>
            <a:off x="2926080" y="1810512"/>
            <a:ext cx="960120" cy="320040"/>
          </a:xfrm>
          <a:prstGeom prst="rect">
            <a:avLst/>
          </a:prstGeom>
          <a:noFill/>
          <a:ln/>
        </p:spPr>
        <p:txBody>
          <a:bodyPr wrap="square" lIns="0" tIns="0" rIns="0" bIns="0" rtlCol="0" anchor="t"/>
          <a:lstStyle/>
          <a:p>
            <a:pPr indent="0" marL="0">
              <a:buNone/>
            </a:pPr>
            <a:r>
              <a:rPr lang="en-US" sz="1300" b="1" dirty="0">
                <a:solidFill>
                  <a:schemeClr val="bg1"/>
                </a:solidFill>
              </a:rPr>
              <a:t>APIs</a:t>
            </a:r>
            <a:endParaRPr lang="en-US" sz="1300" dirty="0"/>
          </a:p>
        </p:txBody>
      </p:sp>
      <p:sp>
        <p:nvSpPr>
          <p:cNvPr id="17" name="Text 15"/>
          <p:cNvSpPr txBox="1"/>
          <p:nvPr/>
        </p:nvSpPr>
        <p:spPr>
          <a:xfrm>
            <a:off x="2926080" y="2148840"/>
            <a:ext cx="932688" cy="594360"/>
          </a:xfrm>
          <a:prstGeom prst="rect">
            <a:avLst/>
          </a:prstGeom>
          <a:noFill/>
          <a:ln/>
        </p:spPr>
        <p:txBody>
          <a:bodyPr wrap="square" lIns="0" tIns="0" rIns="0" bIns="0" rtlCol="0" anchor="t"/>
          <a:lstStyle/>
          <a:p>
            <a:pPr indent="0" marL="0">
              <a:buNone/>
            </a:pPr>
            <a:r>
              <a:rPr lang="en-US" sz="1050" dirty="0">
                <a:solidFill>
                  <a:schemeClr val="bg1"/>
                </a:solidFill>
              </a:rPr>
              <a:t>vPIC · Rückrufe</a:t>
            </a:r>
            <a:endParaRPr lang="en-US" sz="1050" dirty="0"/>
          </a:p>
        </p:txBody>
      </p:sp>
      <p:sp>
        <p:nvSpPr>
          <p:cNvPr id="18" name="Pfeil ③"/>
          <p:cNvSpPr/>
          <p:nvPr/>
        </p:nvSpPr>
        <p:spPr>
          <a:xfrm>
            <a:off x="3922776" y="2103120"/>
            <a:ext cx="91440" cy="0"/>
          </a:xfrm>
          <a:prstGeom prst="line">
            <a:avLst/>
          </a:prstGeom>
          <a:noFill/>
          <a:ln w="19050">
            <a:solidFill>
              <a:srgbClr val="7A8599"/>
            </a:solidFill>
            <a:prstDash val="solid"/>
            <a:tailEnd type="triangle"/>
          </a:ln>
        </p:spPr>
      </p:sp>
      <p:sp>
        <p:nvSpPr>
          <p:cNvPr id="19" name="Stufe ④"/>
          <p:cNvSpPr/>
          <p:nvPr/>
        </p:nvSpPr>
        <p:spPr>
          <a:xfrm>
            <a:off x="4023360" y="1417320"/>
            <a:ext cx="1078992" cy="1371600"/>
          </a:xfrm>
          <a:prstGeom prst="roundRect">
            <a:avLst>
              <a:gd name="adj" fmla="val 6780"/>
            </a:avLst>
          </a:prstGeom>
          <a:solidFill>
            <a:schemeClr val="accent1"/>
          </a:solidFill>
          <a:ln w="12700">
            <a:solidFill>
              <a:schemeClr val="accent1"/>
            </a:solidFill>
            <a:prstDash val="solid"/>
          </a:ln>
        </p:spPr>
      </p:sp>
      <p:sp>
        <p:nvSpPr>
          <p:cNvPr id="20" name="Text 18"/>
          <p:cNvSpPr txBox="1"/>
          <p:nvPr/>
        </p:nvSpPr>
        <p:spPr>
          <a:xfrm>
            <a:off x="4114800" y="1481328"/>
            <a:ext cx="914400" cy="320040"/>
          </a:xfrm>
          <a:prstGeom prst="rect">
            <a:avLst/>
          </a:prstGeom>
          <a:noFill/>
          <a:ln/>
        </p:spPr>
        <p:txBody>
          <a:bodyPr wrap="square" lIns="0" tIns="0" rIns="0" bIns="0" rtlCol="0" anchor="t"/>
          <a:lstStyle/>
          <a:p>
            <a:pPr indent="0" marL="0">
              <a:buNone/>
            </a:pPr>
            <a:r>
              <a:rPr lang="en-US" sz="1600" b="1" dirty="0">
                <a:solidFill>
                  <a:schemeClr val="tx2"/>
                </a:solidFill>
              </a:rPr>
              <a:t>④</a:t>
            </a:r>
            <a:endParaRPr lang="en-US" sz="1600" dirty="0"/>
          </a:p>
        </p:txBody>
      </p:sp>
      <p:sp>
        <p:nvSpPr>
          <p:cNvPr id="21" name="Text 19"/>
          <p:cNvSpPr txBox="1"/>
          <p:nvPr/>
        </p:nvSpPr>
        <p:spPr>
          <a:xfrm>
            <a:off x="4114800" y="1810512"/>
            <a:ext cx="960120" cy="320040"/>
          </a:xfrm>
          <a:prstGeom prst="rect">
            <a:avLst/>
          </a:prstGeom>
          <a:noFill/>
          <a:ln/>
        </p:spPr>
        <p:txBody>
          <a:bodyPr wrap="square" lIns="0" tIns="0" rIns="0" bIns="0" rtlCol="0" anchor="t"/>
          <a:lstStyle/>
          <a:p>
            <a:pPr indent="0" marL="0">
              <a:buNone/>
            </a:pPr>
            <a:r>
              <a:rPr lang="en-US" sz="1300" b="1" dirty="0">
                <a:solidFill>
                  <a:schemeClr val="tx2"/>
                </a:solidFill>
              </a:rPr>
              <a:t>Wissen</a:t>
            </a:r>
            <a:endParaRPr lang="en-US" sz="1300" dirty="0"/>
          </a:p>
        </p:txBody>
      </p:sp>
      <p:sp>
        <p:nvSpPr>
          <p:cNvPr id="22" name="Text 20"/>
          <p:cNvSpPr txBox="1"/>
          <p:nvPr/>
        </p:nvSpPr>
        <p:spPr>
          <a:xfrm>
            <a:off x="4114800" y="2148840"/>
            <a:ext cx="932688" cy="594360"/>
          </a:xfrm>
          <a:prstGeom prst="rect">
            <a:avLst/>
          </a:prstGeom>
          <a:noFill/>
          <a:ln/>
        </p:spPr>
        <p:txBody>
          <a:bodyPr wrap="square" lIns="0" tIns="0" rIns="0" bIns="0" rtlCol="0" anchor="t"/>
          <a:lstStyle/>
          <a:p>
            <a:pPr indent="0" marL="0">
              <a:buNone/>
            </a:pPr>
            <a:r>
              <a:rPr lang="en-US" sz="1050" dirty="0">
                <a:solidFill>
                  <a:schemeClr val="tx2"/>
                </a:solidFill>
              </a:rPr>
              <a:t>OBD2 · Katalog · Kalender</a:t>
            </a:r>
            <a:endParaRPr lang="en-US" sz="1050" dirty="0"/>
          </a:p>
        </p:txBody>
      </p:sp>
      <p:sp>
        <p:nvSpPr>
          <p:cNvPr id="23" name="Pfeil ④"/>
          <p:cNvSpPr/>
          <p:nvPr/>
        </p:nvSpPr>
        <p:spPr>
          <a:xfrm>
            <a:off x="5111496" y="2103120"/>
            <a:ext cx="91440" cy="0"/>
          </a:xfrm>
          <a:prstGeom prst="line">
            <a:avLst/>
          </a:prstGeom>
          <a:noFill/>
          <a:ln w="19050">
            <a:solidFill>
              <a:srgbClr val="7A8599"/>
            </a:solidFill>
            <a:prstDash val="solid"/>
            <a:tailEnd type="triangle"/>
          </a:ln>
        </p:spPr>
      </p:sp>
      <p:sp>
        <p:nvSpPr>
          <p:cNvPr id="24" name="Stufe ⑤"/>
          <p:cNvSpPr/>
          <p:nvPr/>
        </p:nvSpPr>
        <p:spPr>
          <a:xfrm>
            <a:off x="5212080" y="1417320"/>
            <a:ext cx="1078992" cy="1371600"/>
          </a:xfrm>
          <a:prstGeom prst="roundRect">
            <a:avLst>
              <a:gd name="adj" fmla="val 6780"/>
            </a:avLst>
          </a:prstGeom>
          <a:solidFill>
            <a:schemeClr val="accent5"/>
          </a:solidFill>
          <a:ln w="12700">
            <a:solidFill>
              <a:schemeClr val="accent5"/>
            </a:solidFill>
            <a:prstDash val="solid"/>
          </a:ln>
        </p:spPr>
      </p:sp>
      <p:sp>
        <p:nvSpPr>
          <p:cNvPr id="25" name="Text 23"/>
          <p:cNvSpPr txBox="1"/>
          <p:nvPr/>
        </p:nvSpPr>
        <p:spPr>
          <a:xfrm>
            <a:off x="5303520" y="1481328"/>
            <a:ext cx="914400" cy="320040"/>
          </a:xfrm>
          <a:prstGeom prst="rect">
            <a:avLst/>
          </a:prstGeom>
          <a:noFill/>
          <a:ln/>
        </p:spPr>
        <p:txBody>
          <a:bodyPr wrap="square" lIns="0" tIns="0" rIns="0" bIns="0" rtlCol="0" anchor="t"/>
          <a:lstStyle/>
          <a:p>
            <a:pPr indent="0" marL="0">
              <a:buNone/>
            </a:pPr>
            <a:r>
              <a:rPr lang="en-US" sz="1600" b="1" dirty="0">
                <a:solidFill>
                  <a:schemeClr val="bg1"/>
                </a:solidFill>
              </a:rPr>
              <a:t>⑤</a:t>
            </a:r>
            <a:endParaRPr lang="en-US" sz="1600" dirty="0"/>
          </a:p>
        </p:txBody>
      </p:sp>
      <p:sp>
        <p:nvSpPr>
          <p:cNvPr id="26" name="Text 24"/>
          <p:cNvSpPr txBox="1"/>
          <p:nvPr/>
        </p:nvSpPr>
        <p:spPr>
          <a:xfrm>
            <a:off x="5303520" y="1810512"/>
            <a:ext cx="960120" cy="320040"/>
          </a:xfrm>
          <a:prstGeom prst="rect">
            <a:avLst/>
          </a:prstGeom>
          <a:noFill/>
          <a:ln/>
        </p:spPr>
        <p:txBody>
          <a:bodyPr wrap="square" lIns="0" tIns="0" rIns="0" bIns="0" rtlCol="0" anchor="t"/>
          <a:lstStyle/>
          <a:p>
            <a:pPr indent="0" marL="0">
              <a:buNone/>
            </a:pPr>
            <a:r>
              <a:rPr lang="en-US" sz="1300" b="1" dirty="0">
                <a:solidFill>
                  <a:schemeClr val="bg1"/>
                </a:solidFill>
              </a:rPr>
              <a:t>KI-Bericht</a:t>
            </a:r>
            <a:endParaRPr lang="en-US" sz="1300" dirty="0"/>
          </a:p>
        </p:txBody>
      </p:sp>
      <p:sp>
        <p:nvSpPr>
          <p:cNvPr id="27" name="Text 25"/>
          <p:cNvSpPr txBox="1"/>
          <p:nvPr/>
        </p:nvSpPr>
        <p:spPr>
          <a:xfrm>
            <a:off x="5303520" y="2148840"/>
            <a:ext cx="932688" cy="594360"/>
          </a:xfrm>
          <a:prstGeom prst="rect">
            <a:avLst/>
          </a:prstGeom>
          <a:noFill/>
          <a:ln/>
        </p:spPr>
        <p:txBody>
          <a:bodyPr wrap="square" lIns="0" tIns="0" rIns="0" bIns="0" rtlCol="0" anchor="t"/>
          <a:lstStyle/>
          <a:p>
            <a:pPr indent="0" marL="0">
              <a:buNone/>
            </a:pPr>
            <a:r>
              <a:rPr lang="en-US" sz="1050" dirty="0">
                <a:solidFill>
                  <a:schemeClr val="bg1"/>
                </a:solidFill>
              </a:rPr>
              <a:t>OpenRouter + Regeln</a:t>
            </a:r>
            <a:endParaRPr lang="en-US" sz="1050" dirty="0"/>
          </a:p>
        </p:txBody>
      </p:sp>
      <p:sp>
        <p:nvSpPr>
          <p:cNvPr id="28" name="Pfeil ⑤"/>
          <p:cNvSpPr/>
          <p:nvPr/>
        </p:nvSpPr>
        <p:spPr>
          <a:xfrm>
            <a:off x="6300216" y="2103120"/>
            <a:ext cx="91440" cy="0"/>
          </a:xfrm>
          <a:prstGeom prst="line">
            <a:avLst/>
          </a:prstGeom>
          <a:noFill/>
          <a:ln w="19050">
            <a:solidFill>
              <a:srgbClr val="7A8599"/>
            </a:solidFill>
            <a:prstDash val="solid"/>
            <a:tailEnd type="triangle"/>
          </a:ln>
        </p:spPr>
      </p:sp>
      <p:sp>
        <p:nvSpPr>
          <p:cNvPr id="29" name="Stufe ⑥"/>
          <p:cNvSpPr/>
          <p:nvPr/>
        </p:nvSpPr>
        <p:spPr>
          <a:xfrm>
            <a:off x="6400800" y="1417320"/>
            <a:ext cx="1078992" cy="1371600"/>
          </a:xfrm>
          <a:prstGeom prst="roundRect">
            <a:avLst>
              <a:gd name="adj" fmla="val 6780"/>
            </a:avLst>
          </a:prstGeom>
          <a:solidFill>
            <a:schemeClr val="accent4"/>
          </a:solidFill>
          <a:ln w="12700">
            <a:solidFill>
              <a:schemeClr val="accent4"/>
            </a:solidFill>
            <a:prstDash val="solid"/>
          </a:ln>
        </p:spPr>
      </p:sp>
      <p:sp>
        <p:nvSpPr>
          <p:cNvPr id="30" name="Text 28"/>
          <p:cNvSpPr txBox="1"/>
          <p:nvPr/>
        </p:nvSpPr>
        <p:spPr>
          <a:xfrm>
            <a:off x="6492240" y="1481328"/>
            <a:ext cx="914400" cy="320040"/>
          </a:xfrm>
          <a:prstGeom prst="rect">
            <a:avLst/>
          </a:prstGeom>
          <a:noFill/>
          <a:ln/>
        </p:spPr>
        <p:txBody>
          <a:bodyPr wrap="square" lIns="0" tIns="0" rIns="0" bIns="0" rtlCol="0" anchor="t"/>
          <a:lstStyle/>
          <a:p>
            <a:pPr indent="0" marL="0">
              <a:buNone/>
            </a:pPr>
            <a:r>
              <a:rPr lang="en-US" sz="1600" b="1" dirty="0">
                <a:solidFill>
                  <a:schemeClr val="bg1"/>
                </a:solidFill>
              </a:rPr>
              <a:t>⑥</a:t>
            </a:r>
            <a:endParaRPr lang="en-US" sz="1600" dirty="0"/>
          </a:p>
        </p:txBody>
      </p:sp>
      <p:sp>
        <p:nvSpPr>
          <p:cNvPr id="31" name="Text 29"/>
          <p:cNvSpPr txBox="1"/>
          <p:nvPr/>
        </p:nvSpPr>
        <p:spPr>
          <a:xfrm>
            <a:off x="6492240" y="1810512"/>
            <a:ext cx="960120" cy="320040"/>
          </a:xfrm>
          <a:prstGeom prst="rect">
            <a:avLst/>
          </a:prstGeom>
          <a:noFill/>
          <a:ln/>
        </p:spPr>
        <p:txBody>
          <a:bodyPr wrap="square" lIns="0" tIns="0" rIns="0" bIns="0" rtlCol="0" anchor="t"/>
          <a:lstStyle/>
          <a:p>
            <a:pPr indent="0" marL="0">
              <a:buNone/>
            </a:pPr>
            <a:r>
              <a:rPr lang="en-US" sz="1300" b="1" dirty="0">
                <a:solidFill>
                  <a:schemeClr val="bg1"/>
                </a:solidFill>
              </a:rPr>
              <a:t>Versand</a:t>
            </a:r>
            <a:endParaRPr lang="en-US" sz="1300" dirty="0"/>
          </a:p>
        </p:txBody>
      </p:sp>
      <p:sp>
        <p:nvSpPr>
          <p:cNvPr id="32" name="Text 30"/>
          <p:cNvSpPr txBox="1"/>
          <p:nvPr/>
        </p:nvSpPr>
        <p:spPr>
          <a:xfrm>
            <a:off x="6492240" y="2148840"/>
            <a:ext cx="932688" cy="594360"/>
          </a:xfrm>
          <a:prstGeom prst="rect">
            <a:avLst/>
          </a:prstGeom>
          <a:noFill/>
          <a:ln/>
        </p:spPr>
        <p:txBody>
          <a:bodyPr wrap="square" lIns="0" tIns="0" rIns="0" bIns="0" rtlCol="0" anchor="t"/>
          <a:lstStyle/>
          <a:p>
            <a:pPr indent="0" marL="0">
              <a:buNone/>
            </a:pPr>
            <a:r>
              <a:rPr lang="en-US" sz="1050" dirty="0">
                <a:solidFill>
                  <a:schemeClr val="bg1"/>
                </a:solidFill>
              </a:rPr>
              <a:t>Gmail an Werkstatt</a:t>
            </a:r>
            <a:endParaRPr lang="en-US" sz="1050" dirty="0"/>
          </a:p>
        </p:txBody>
      </p:sp>
      <p:sp>
        <p:nvSpPr>
          <p:cNvPr id="33" name="Pfeil ⑥"/>
          <p:cNvSpPr/>
          <p:nvPr/>
        </p:nvSpPr>
        <p:spPr>
          <a:xfrm>
            <a:off x="7488936" y="2103120"/>
            <a:ext cx="91440" cy="0"/>
          </a:xfrm>
          <a:prstGeom prst="line">
            <a:avLst/>
          </a:prstGeom>
          <a:noFill/>
          <a:ln w="19050">
            <a:solidFill>
              <a:srgbClr val="7A8599"/>
            </a:solidFill>
            <a:prstDash val="solid"/>
            <a:tailEnd type="triangle"/>
          </a:ln>
        </p:spPr>
      </p:sp>
      <p:sp>
        <p:nvSpPr>
          <p:cNvPr id="34" name="Stufe ⑦"/>
          <p:cNvSpPr/>
          <p:nvPr/>
        </p:nvSpPr>
        <p:spPr>
          <a:xfrm>
            <a:off x="7589520" y="1417320"/>
            <a:ext cx="1078992" cy="1371600"/>
          </a:xfrm>
          <a:prstGeom prst="roundRect">
            <a:avLst>
              <a:gd name="adj" fmla="val 6780"/>
            </a:avLst>
          </a:prstGeom>
          <a:solidFill>
            <a:schemeClr val="accent3"/>
          </a:solidFill>
          <a:ln w="12700">
            <a:solidFill>
              <a:schemeClr val="accent3"/>
            </a:solidFill>
            <a:prstDash val="solid"/>
          </a:ln>
        </p:spPr>
      </p:sp>
      <p:sp>
        <p:nvSpPr>
          <p:cNvPr id="35" name="Text 33"/>
          <p:cNvSpPr txBox="1"/>
          <p:nvPr/>
        </p:nvSpPr>
        <p:spPr>
          <a:xfrm>
            <a:off x="7680960" y="1481328"/>
            <a:ext cx="914400" cy="320040"/>
          </a:xfrm>
          <a:prstGeom prst="rect">
            <a:avLst/>
          </a:prstGeom>
          <a:noFill/>
          <a:ln/>
        </p:spPr>
        <p:txBody>
          <a:bodyPr wrap="square" lIns="0" tIns="0" rIns="0" bIns="0" rtlCol="0" anchor="t"/>
          <a:lstStyle/>
          <a:p>
            <a:pPr indent="0" marL="0">
              <a:buNone/>
            </a:pPr>
            <a:r>
              <a:rPr lang="en-US" sz="1600" b="1" dirty="0">
                <a:solidFill>
                  <a:schemeClr val="bg1"/>
                </a:solidFill>
              </a:rPr>
              <a:t>⑦</a:t>
            </a:r>
            <a:endParaRPr lang="en-US" sz="1600" dirty="0"/>
          </a:p>
        </p:txBody>
      </p:sp>
      <p:sp>
        <p:nvSpPr>
          <p:cNvPr id="36" name="Text 34"/>
          <p:cNvSpPr txBox="1"/>
          <p:nvPr/>
        </p:nvSpPr>
        <p:spPr>
          <a:xfrm>
            <a:off x="7680960" y="1810512"/>
            <a:ext cx="960120" cy="320040"/>
          </a:xfrm>
          <a:prstGeom prst="rect">
            <a:avLst/>
          </a:prstGeom>
          <a:noFill/>
          <a:ln/>
        </p:spPr>
        <p:txBody>
          <a:bodyPr wrap="square" lIns="0" tIns="0" rIns="0" bIns="0" rtlCol="0" anchor="t"/>
          <a:lstStyle/>
          <a:p>
            <a:pPr indent="0" marL="0">
              <a:buNone/>
            </a:pPr>
            <a:r>
              <a:rPr lang="en-US" sz="1300" b="1" dirty="0">
                <a:solidFill>
                  <a:schemeClr val="bg1"/>
                </a:solidFill>
              </a:rPr>
              <a:t>Betrieb</a:t>
            </a:r>
            <a:endParaRPr lang="en-US" sz="1300" dirty="0"/>
          </a:p>
        </p:txBody>
      </p:sp>
      <p:sp>
        <p:nvSpPr>
          <p:cNvPr id="37" name="Text 35"/>
          <p:cNvSpPr txBox="1"/>
          <p:nvPr/>
        </p:nvSpPr>
        <p:spPr>
          <a:xfrm>
            <a:off x="7680960" y="2148840"/>
            <a:ext cx="932688" cy="594360"/>
          </a:xfrm>
          <a:prstGeom prst="rect">
            <a:avLst/>
          </a:prstGeom>
          <a:noFill/>
          <a:ln/>
        </p:spPr>
        <p:txBody>
          <a:bodyPr wrap="square" lIns="0" tIns="0" rIns="0" bIns="0" rtlCol="0" anchor="t"/>
          <a:lstStyle/>
          <a:p>
            <a:pPr indent="0" marL="0">
              <a:buNone/>
            </a:pPr>
            <a:r>
              <a:rPr lang="en-US" sz="1050" dirty="0">
                <a:solidFill>
                  <a:schemeClr val="bg1"/>
                </a:solidFill>
              </a:rPr>
              <a:t>Supabase · Logs · Alerts</a:t>
            </a:r>
            <a:endParaRPr lang="en-US" sz="1050" dirty="0"/>
          </a:p>
        </p:txBody>
      </p:sp>
      <p:sp>
        <p:nvSpPr>
          <p:cNvPr id="38" name="Prinzip 1"/>
          <p:cNvSpPr/>
          <p:nvPr/>
        </p:nvSpPr>
        <p:spPr>
          <a:xfrm>
            <a:off x="457200" y="3063240"/>
            <a:ext cx="2596896" cy="1280160"/>
          </a:xfrm>
          <a:prstGeom prst="roundRect">
            <a:avLst>
              <a:gd name="adj" fmla="val 5714"/>
            </a:avLst>
          </a:prstGeom>
          <a:solidFill>
            <a:schemeClr val="bg2"/>
          </a:solidFill>
          <a:ln w="12700">
            <a:solidFill>
              <a:schemeClr val="bg2"/>
            </a:solidFill>
            <a:prstDash val="solid"/>
          </a:ln>
        </p:spPr>
      </p:sp>
      <p:sp>
        <p:nvSpPr>
          <p:cNvPr id="39" name="Text 37"/>
          <p:cNvSpPr txBox="1"/>
          <p:nvPr/>
        </p:nvSpPr>
        <p:spPr>
          <a:xfrm>
            <a:off x="640080" y="3200400"/>
            <a:ext cx="2286000" cy="457200"/>
          </a:xfrm>
          <a:prstGeom prst="rect">
            <a:avLst/>
          </a:prstGeom>
          <a:noFill/>
          <a:ln/>
        </p:spPr>
        <p:txBody>
          <a:bodyPr wrap="square" lIns="0" tIns="0" rIns="0" bIns="0" rtlCol="0" anchor="t"/>
          <a:lstStyle/>
          <a:p>
            <a:pPr indent="0" marL="0">
              <a:buNone/>
            </a:pPr>
            <a:r>
              <a:rPr lang="en-US" sz="1400" b="1" dirty="0">
                <a:solidFill>
                  <a:schemeClr val="tx2"/>
                </a:solidFill>
              </a:rPr>
              <a:t>Jede Angabe hat eine Quelle</a:t>
            </a:r>
            <a:endParaRPr lang="en-US" sz="1400" dirty="0"/>
          </a:p>
        </p:txBody>
      </p:sp>
      <p:sp>
        <p:nvSpPr>
          <p:cNvPr id="40" name="Text 38"/>
          <p:cNvSpPr txBox="1"/>
          <p:nvPr/>
        </p:nvSpPr>
        <p:spPr>
          <a:xfrm>
            <a:off x="640080" y="3657600"/>
            <a:ext cx="2286000" cy="548640"/>
          </a:xfrm>
          <a:prstGeom prst="rect">
            <a:avLst/>
          </a:prstGeom>
          <a:noFill/>
          <a:ln/>
        </p:spPr>
        <p:txBody>
          <a:bodyPr wrap="square" lIns="0" tIns="0" rIns="0" bIns="0" rtlCol="0" anchor="t"/>
          <a:lstStyle/>
          <a:p>
            <a:pPr indent="0" marL="0">
              <a:buNone/>
            </a:pPr>
            <a:r>
              <a:rPr lang="en-US" sz="1200" dirty="0">
                <a:solidFill>
                  <a:schemeClr val="tx1"/>
                </a:solidFill>
              </a:rPr>
              <a:t>Kunde · Foto (KI) · API · Simulation · Katalog</a:t>
            </a:r>
            <a:endParaRPr lang="en-US" sz="1200" dirty="0"/>
          </a:p>
        </p:txBody>
      </p:sp>
      <p:sp>
        <p:nvSpPr>
          <p:cNvPr id="41" name="Prinzip 2"/>
          <p:cNvSpPr/>
          <p:nvPr/>
        </p:nvSpPr>
        <p:spPr>
          <a:xfrm>
            <a:off x="3273552" y="3063240"/>
            <a:ext cx="2596896" cy="1280160"/>
          </a:xfrm>
          <a:prstGeom prst="roundRect">
            <a:avLst>
              <a:gd name="adj" fmla="val 5714"/>
            </a:avLst>
          </a:prstGeom>
          <a:solidFill>
            <a:schemeClr val="bg2"/>
          </a:solidFill>
          <a:ln w="12700">
            <a:solidFill>
              <a:schemeClr val="bg2"/>
            </a:solidFill>
            <a:prstDash val="solid"/>
          </a:ln>
        </p:spPr>
      </p:sp>
      <p:sp>
        <p:nvSpPr>
          <p:cNvPr id="42" name="Text 40"/>
          <p:cNvSpPr txBox="1"/>
          <p:nvPr/>
        </p:nvSpPr>
        <p:spPr>
          <a:xfrm>
            <a:off x="3456432" y="3200400"/>
            <a:ext cx="2286000" cy="457200"/>
          </a:xfrm>
          <a:prstGeom prst="rect">
            <a:avLst/>
          </a:prstGeom>
          <a:noFill/>
          <a:ln/>
        </p:spPr>
        <p:txBody>
          <a:bodyPr wrap="square" lIns="0" tIns="0" rIns="0" bIns="0" rtlCol="0" anchor="t"/>
          <a:lstStyle/>
          <a:p>
            <a:pPr indent="0" marL="0">
              <a:buNone/>
            </a:pPr>
            <a:r>
              <a:rPr lang="en-US" sz="1400" b="1" dirty="0">
                <a:solidFill>
                  <a:schemeClr val="tx2"/>
                </a:solidFill>
              </a:rPr>
              <a:t>Kein Absturz bei API-Fehlern</a:t>
            </a:r>
            <a:endParaRPr lang="en-US" sz="1400" dirty="0"/>
          </a:p>
        </p:txBody>
      </p:sp>
      <p:sp>
        <p:nvSpPr>
          <p:cNvPr id="43" name="Text 41"/>
          <p:cNvSpPr txBox="1"/>
          <p:nvPr/>
        </p:nvSpPr>
        <p:spPr>
          <a:xfrm>
            <a:off x="3456432" y="3657600"/>
            <a:ext cx="2286000" cy="548640"/>
          </a:xfrm>
          <a:prstGeom prst="rect">
            <a:avLst/>
          </a:prstGeom>
          <a:noFill/>
          <a:ln/>
        </p:spPr>
        <p:txBody>
          <a:bodyPr wrap="square" lIns="0" tIns="0" rIns="0" bIns="0" rtlCol="0" anchor="t"/>
          <a:lstStyle/>
          <a:p>
            <a:pPr indent="0" marL="0">
              <a:buNone/>
            </a:pPr>
            <a:r>
              <a:rPr lang="en-US" sz="1200" dirty="0">
                <a:solidFill>
                  <a:schemeClr val="tx1"/>
                </a:solidFill>
              </a:rPr>
              <a:t>Fallback + Teilergebnis + Log-Eintrag</a:t>
            </a:r>
            <a:endParaRPr lang="en-US" sz="1200" dirty="0"/>
          </a:p>
        </p:txBody>
      </p:sp>
      <p:sp>
        <p:nvSpPr>
          <p:cNvPr id="44" name="Prinzip 3"/>
          <p:cNvSpPr/>
          <p:nvPr/>
        </p:nvSpPr>
        <p:spPr>
          <a:xfrm>
            <a:off x="6089904" y="3063240"/>
            <a:ext cx="2596896" cy="1280160"/>
          </a:xfrm>
          <a:prstGeom prst="roundRect">
            <a:avLst>
              <a:gd name="adj" fmla="val 5714"/>
            </a:avLst>
          </a:prstGeom>
          <a:solidFill>
            <a:schemeClr val="bg2"/>
          </a:solidFill>
          <a:ln w="12700">
            <a:solidFill>
              <a:schemeClr val="bg2"/>
            </a:solidFill>
            <a:prstDash val="solid"/>
          </a:ln>
        </p:spPr>
      </p:sp>
      <p:sp>
        <p:nvSpPr>
          <p:cNvPr id="45" name="Text 43"/>
          <p:cNvSpPr txBox="1"/>
          <p:nvPr/>
        </p:nvSpPr>
        <p:spPr>
          <a:xfrm>
            <a:off x="6272784" y="3200400"/>
            <a:ext cx="2286000" cy="457200"/>
          </a:xfrm>
          <a:prstGeom prst="rect">
            <a:avLst/>
          </a:prstGeom>
          <a:noFill/>
          <a:ln/>
        </p:spPr>
        <p:txBody>
          <a:bodyPr wrap="square" lIns="0" tIns="0" rIns="0" bIns="0" rtlCol="0" anchor="t"/>
          <a:lstStyle/>
          <a:p>
            <a:pPr indent="0" marL="0">
              <a:buNone/>
            </a:pPr>
            <a:r>
              <a:rPr lang="en-US" sz="1400" b="1" dirty="0">
                <a:solidFill>
                  <a:schemeClr val="tx2"/>
                </a:solidFill>
              </a:rPr>
              <a:t>Alles messbar</a:t>
            </a:r>
            <a:endParaRPr lang="en-US" sz="1400" dirty="0"/>
          </a:p>
        </p:txBody>
      </p:sp>
      <p:sp>
        <p:nvSpPr>
          <p:cNvPr id="46" name="Text 44"/>
          <p:cNvSpPr txBox="1"/>
          <p:nvPr/>
        </p:nvSpPr>
        <p:spPr>
          <a:xfrm>
            <a:off x="6272784" y="3657600"/>
            <a:ext cx="2286000" cy="548640"/>
          </a:xfrm>
          <a:prstGeom prst="rect">
            <a:avLst/>
          </a:prstGeom>
          <a:noFill/>
          <a:ln/>
        </p:spPr>
        <p:txBody>
          <a:bodyPr wrap="square" lIns="0" tIns="0" rIns="0" bIns="0" rtlCol="0" anchor="t"/>
          <a:lstStyle/>
          <a:p>
            <a:pPr indent="0" marL="0">
              <a:buNone/>
            </a:pPr>
            <a:r>
              <a:rPr lang="en-US" sz="1200" dirty="0">
                <a:solidFill>
                  <a:schemeClr val="tx1"/>
                </a:solidFill>
              </a:rPr>
              <a:t>Status, Dauer, Tokens, Kosten pro Lauf</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LLM-ENGINE</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OpenRouter: ein Zugang, austauschbare Modelle</a:t>
            </a:r>
            <a:endParaRPr lang="en-US" sz="3000" dirty="0"/>
          </a:p>
        </p:txBody>
      </p:sp>
      <p:sp>
        <p:nvSpPr>
          <p:cNvPr id="4" name="n8n"/>
          <p:cNvSpPr/>
          <p:nvPr/>
        </p:nvSpPr>
        <p:spPr>
          <a:xfrm>
            <a:off x="457200" y="1463040"/>
            <a:ext cx="1645920" cy="1188720"/>
          </a:xfrm>
          <a:prstGeom prst="roundRect">
            <a:avLst>
              <a:gd name="adj" fmla="val 6154"/>
            </a:avLst>
          </a:prstGeom>
          <a:solidFill>
            <a:schemeClr val="tx2"/>
          </a:solidFill>
          <a:ln w="12700">
            <a:solidFill>
              <a:schemeClr val="tx2"/>
            </a:solidFill>
            <a:prstDash val="solid"/>
          </a:ln>
        </p:spPr>
      </p:sp>
      <p:sp>
        <p:nvSpPr>
          <p:cNvPr id="5" name="Text 3"/>
          <p:cNvSpPr txBox="1"/>
          <p:nvPr/>
        </p:nvSpPr>
        <p:spPr>
          <a:xfrm>
            <a:off x="457200" y="1600200"/>
            <a:ext cx="1645920" cy="365760"/>
          </a:xfrm>
          <a:prstGeom prst="rect">
            <a:avLst/>
          </a:prstGeom>
          <a:noFill/>
          <a:ln/>
        </p:spPr>
        <p:txBody>
          <a:bodyPr wrap="square" lIns="0" tIns="0" rIns="0" bIns="0" rtlCol="0" anchor="t"/>
          <a:lstStyle/>
          <a:p>
            <a:pPr algn="ctr" indent="0" marL="0">
              <a:buNone/>
            </a:pPr>
            <a:r>
              <a:rPr lang="en-US" sz="1800" b="1" dirty="0">
                <a:solidFill>
                  <a:schemeClr val="bg1"/>
                </a:solidFill>
              </a:rPr>
              <a:t>n8n</a:t>
            </a:r>
            <a:endParaRPr lang="en-US" sz="1800" dirty="0"/>
          </a:p>
        </p:txBody>
      </p:sp>
      <p:sp>
        <p:nvSpPr>
          <p:cNvPr id="6" name="Text 4"/>
          <p:cNvSpPr txBox="1"/>
          <p:nvPr/>
        </p:nvSpPr>
        <p:spPr>
          <a:xfrm>
            <a:off x="548640" y="2011680"/>
            <a:ext cx="1463040" cy="548640"/>
          </a:xfrm>
          <a:prstGeom prst="rect">
            <a:avLst/>
          </a:prstGeom>
          <a:noFill/>
          <a:ln/>
        </p:spPr>
        <p:txBody>
          <a:bodyPr wrap="square" lIns="0" tIns="0" rIns="0" bIns="0" rtlCol="0" anchor="t"/>
          <a:lstStyle/>
          <a:p>
            <a:pPr algn="ctr" indent="0" marL="0">
              <a:buNone/>
            </a:pPr>
            <a:r>
              <a:rPr lang="en-US" sz="1100" dirty="0">
                <a:solidFill>
                  <a:schemeClr val="bg2"/>
                </a:solidFill>
              </a:rPr>
              <a:t>2 Aufrufe pro Lauf:</a:t>
            </a:r>
            <a:endParaRPr lang="en-US" sz="1100" dirty="0"/>
          </a:p>
          <a:p>
            <a:pPr algn="ctr" indent="0" marL="0">
              <a:buNone/>
            </a:pPr>
            <a:r>
              <a:rPr lang="en-US" sz="1100" dirty="0">
                <a:solidFill>
                  <a:schemeClr val="bg2"/>
                </a:solidFill>
              </a:rPr>
              <a:t>Vision + Bericht</a:t>
            </a:r>
            <a:endParaRPr lang="en-US" sz="1100" dirty="0"/>
          </a:p>
        </p:txBody>
      </p:sp>
      <p:sp>
        <p:nvSpPr>
          <p:cNvPr id="7" name="Pfeil n8n OpenRouter"/>
          <p:cNvSpPr/>
          <p:nvPr/>
        </p:nvSpPr>
        <p:spPr>
          <a:xfrm>
            <a:off x="2148840" y="2057400"/>
            <a:ext cx="640080" cy="0"/>
          </a:xfrm>
          <a:prstGeom prst="line">
            <a:avLst/>
          </a:prstGeom>
          <a:noFill/>
          <a:ln w="19050">
            <a:solidFill>
              <a:srgbClr val="7A8599"/>
            </a:solidFill>
            <a:prstDash val="solid"/>
            <a:tailEnd type="triangle"/>
          </a:ln>
        </p:spPr>
      </p:sp>
      <p:sp>
        <p:nvSpPr>
          <p:cNvPr id="8" name="OpenRouter Kreis"/>
          <p:cNvSpPr/>
          <p:nvPr/>
        </p:nvSpPr>
        <p:spPr>
          <a:xfrm>
            <a:off x="2880360" y="1508760"/>
            <a:ext cx="1097280" cy="1097280"/>
          </a:xfrm>
          <a:prstGeom prst="ellipse">
            <a:avLst/>
          </a:prstGeom>
          <a:solidFill>
            <a:schemeClr val="accent1"/>
          </a:solidFill>
          <a:ln w="12700">
            <a:solidFill>
              <a:schemeClr val="accent1"/>
            </a:solidFill>
            <a:prstDash val="solid"/>
          </a:ln>
        </p:spPr>
      </p:sp>
      <p:pic>
        <p:nvPicPr>
          <p:cNvPr id="9" name="OpenRouter Symbol" descr="OpenRouter">    </p:cNvPr>
          <p:cNvPicPr>
            <a:picLocks noChangeAspect="1"/>
          </p:cNvPicPr>
          <p:nvPr/>
        </p:nvPicPr>
        <p:blipFill>
          <a:blip r:embed="rId1"/>
          <a:stretch>
            <a:fillRect/>
          </a:stretch>
        </p:blipFill>
        <p:spPr>
          <a:xfrm>
            <a:off x="3154680" y="1783080"/>
            <a:ext cx="548640" cy="548640"/>
          </a:xfrm>
          <a:prstGeom prst="rect">
            <a:avLst/>
          </a:prstGeom>
        </p:spPr>
      </p:pic>
      <p:sp>
        <p:nvSpPr>
          <p:cNvPr id="10" name="Text 7"/>
          <p:cNvSpPr txBox="1"/>
          <p:nvPr/>
        </p:nvSpPr>
        <p:spPr>
          <a:xfrm>
            <a:off x="2606040" y="2651760"/>
            <a:ext cx="1645920" cy="320040"/>
          </a:xfrm>
          <a:prstGeom prst="rect">
            <a:avLst/>
          </a:prstGeom>
          <a:noFill/>
          <a:ln/>
        </p:spPr>
        <p:txBody>
          <a:bodyPr wrap="square" lIns="0" tIns="0" rIns="0" bIns="0" rtlCol="0" anchor="t"/>
          <a:lstStyle/>
          <a:p>
            <a:pPr algn="ctr" indent="0" marL="0">
              <a:buNone/>
            </a:pPr>
            <a:r>
              <a:rPr lang="en-US" sz="1400" b="1" dirty="0">
                <a:solidFill>
                  <a:schemeClr val="tx2"/>
                </a:solidFill>
              </a:rPr>
              <a:t>OpenRouter</a:t>
            </a:r>
            <a:endParaRPr lang="en-US" sz="1400" dirty="0"/>
          </a:p>
        </p:txBody>
      </p:sp>
      <p:sp>
        <p:nvSpPr>
          <p:cNvPr id="11" name="Linie Modell 0"/>
          <p:cNvSpPr/>
          <p:nvPr/>
        </p:nvSpPr>
        <p:spPr>
          <a:xfrm>
            <a:off x="4023360" y="2057400"/>
            <a:ext cx="548640" cy="-530352"/>
          </a:xfrm>
          <a:prstGeom prst="line">
            <a:avLst/>
          </a:prstGeom>
          <a:noFill/>
          <a:ln w="12700">
            <a:solidFill>
              <a:srgbClr val="7A8599"/>
            </a:solidFill>
            <a:prstDash val="solid"/>
          </a:ln>
        </p:spPr>
      </p:sp>
      <p:sp>
        <p:nvSpPr>
          <p:cNvPr id="12" name="Modell openai/gpt-4.1-mini"/>
          <p:cNvSpPr/>
          <p:nvPr/>
        </p:nvSpPr>
        <p:spPr>
          <a:xfrm>
            <a:off x="4572000" y="1325880"/>
            <a:ext cx="2011680" cy="411480"/>
          </a:xfrm>
          <a:prstGeom prst="roundRect">
            <a:avLst>
              <a:gd name="adj" fmla="val 17778"/>
            </a:avLst>
          </a:prstGeom>
          <a:solidFill>
            <a:schemeClr val="accent2"/>
          </a:solidFill>
          <a:ln w="12700">
            <a:solidFill>
              <a:schemeClr val="accent2"/>
            </a:solidFill>
            <a:prstDash val="solid"/>
          </a:ln>
        </p:spPr>
      </p:sp>
      <p:sp>
        <p:nvSpPr>
          <p:cNvPr id="13" name="Text 10"/>
          <p:cNvSpPr txBox="1"/>
          <p:nvPr/>
        </p:nvSpPr>
        <p:spPr>
          <a:xfrm>
            <a:off x="4663440" y="1325880"/>
            <a:ext cx="1828800" cy="411480"/>
          </a:xfrm>
          <a:prstGeom prst="rect">
            <a:avLst/>
          </a:prstGeom>
          <a:noFill/>
          <a:ln/>
        </p:spPr>
        <p:txBody>
          <a:bodyPr wrap="square" lIns="0" tIns="0" rIns="0" bIns="0" rtlCol="0" anchor="ctr"/>
          <a:lstStyle/>
          <a:p>
            <a:pPr indent="0" marL="0">
              <a:buNone/>
            </a:pPr>
            <a:r>
              <a:rPr lang="en-US" sz="1150" b="1" dirty="0">
                <a:solidFill>
                  <a:schemeClr val="bg1"/>
                </a:solidFill>
              </a:rPr>
              <a:t>openai/gpt-4.1-mini</a:t>
            </a:r>
            <a:endParaRPr lang="en-US" sz="1150" dirty="0"/>
          </a:p>
        </p:txBody>
      </p:sp>
      <p:sp>
        <p:nvSpPr>
          <p:cNvPr id="14" name="Text 11"/>
          <p:cNvSpPr txBox="1"/>
          <p:nvPr/>
        </p:nvSpPr>
        <p:spPr>
          <a:xfrm>
            <a:off x="6675120" y="1325880"/>
            <a:ext cx="2011680" cy="411480"/>
          </a:xfrm>
          <a:prstGeom prst="rect">
            <a:avLst/>
          </a:prstGeom>
          <a:noFill/>
          <a:ln/>
        </p:spPr>
        <p:txBody>
          <a:bodyPr wrap="square" lIns="0" tIns="0" rIns="0" bIns="0" rtlCol="0" anchor="ctr"/>
          <a:lstStyle/>
          <a:p>
            <a:pPr indent="0" marL="0">
              <a:buNone/>
            </a:pPr>
            <a:r>
              <a:rPr lang="en-US" sz="1150" dirty="0">
                <a:solidFill>
                  <a:schemeClr val="tx1"/>
                </a:solidFill>
              </a:rPr>
              <a:t>Hauptmodell</a:t>
            </a:r>
            <a:endParaRPr lang="en-US" sz="1150" dirty="0"/>
          </a:p>
        </p:txBody>
      </p:sp>
      <p:sp>
        <p:nvSpPr>
          <p:cNvPr id="15" name="Linie Modell 1"/>
          <p:cNvSpPr/>
          <p:nvPr/>
        </p:nvSpPr>
        <p:spPr>
          <a:xfrm>
            <a:off x="4023360" y="2057400"/>
            <a:ext cx="548640" cy="18288"/>
          </a:xfrm>
          <a:prstGeom prst="line">
            <a:avLst/>
          </a:prstGeom>
          <a:noFill/>
          <a:ln w="12700">
            <a:solidFill>
              <a:srgbClr val="7A8599"/>
            </a:solidFill>
            <a:prstDash val="solid"/>
          </a:ln>
        </p:spPr>
      </p:sp>
      <p:sp>
        <p:nvSpPr>
          <p:cNvPr id="16" name="Modell openai/gpt-4o-mini"/>
          <p:cNvSpPr/>
          <p:nvPr/>
        </p:nvSpPr>
        <p:spPr>
          <a:xfrm>
            <a:off x="4572000" y="1874520"/>
            <a:ext cx="2011680" cy="411480"/>
          </a:xfrm>
          <a:prstGeom prst="roundRect">
            <a:avLst>
              <a:gd name="adj" fmla="val 17778"/>
            </a:avLst>
          </a:prstGeom>
          <a:solidFill>
            <a:schemeClr val="accent4"/>
          </a:solidFill>
          <a:ln w="12700">
            <a:solidFill>
              <a:schemeClr val="accent4"/>
            </a:solidFill>
            <a:prstDash val="solid"/>
          </a:ln>
        </p:spPr>
      </p:sp>
      <p:sp>
        <p:nvSpPr>
          <p:cNvPr id="17" name="Text 14"/>
          <p:cNvSpPr txBox="1"/>
          <p:nvPr/>
        </p:nvSpPr>
        <p:spPr>
          <a:xfrm>
            <a:off x="4663440" y="1874520"/>
            <a:ext cx="1828800" cy="411480"/>
          </a:xfrm>
          <a:prstGeom prst="rect">
            <a:avLst/>
          </a:prstGeom>
          <a:noFill/>
          <a:ln/>
        </p:spPr>
        <p:txBody>
          <a:bodyPr wrap="square" lIns="0" tIns="0" rIns="0" bIns="0" rtlCol="0" anchor="ctr"/>
          <a:lstStyle/>
          <a:p>
            <a:pPr indent="0" marL="0">
              <a:buNone/>
            </a:pPr>
            <a:r>
              <a:rPr lang="en-US" sz="1150" b="1" dirty="0">
                <a:solidFill>
                  <a:schemeClr val="bg1"/>
                </a:solidFill>
              </a:rPr>
              <a:t>openai/gpt-4o-mini</a:t>
            </a:r>
            <a:endParaRPr lang="en-US" sz="1150" dirty="0"/>
          </a:p>
        </p:txBody>
      </p:sp>
      <p:sp>
        <p:nvSpPr>
          <p:cNvPr id="18" name="Text 15"/>
          <p:cNvSpPr txBox="1"/>
          <p:nvPr/>
        </p:nvSpPr>
        <p:spPr>
          <a:xfrm>
            <a:off x="6675120" y="1874520"/>
            <a:ext cx="2011680" cy="411480"/>
          </a:xfrm>
          <a:prstGeom prst="rect">
            <a:avLst/>
          </a:prstGeom>
          <a:noFill/>
          <a:ln/>
        </p:spPr>
        <p:txBody>
          <a:bodyPr wrap="square" lIns="0" tIns="0" rIns="0" bIns="0" rtlCol="0" anchor="ctr"/>
          <a:lstStyle/>
          <a:p>
            <a:pPr indent="0" marL="0">
              <a:buNone/>
            </a:pPr>
            <a:r>
              <a:rPr lang="en-US" sz="1150" dirty="0">
                <a:solidFill>
                  <a:schemeClr val="tx1"/>
                </a:solidFill>
              </a:rPr>
              <a:t>Fallback automatisch</a:t>
            </a:r>
            <a:endParaRPr lang="en-US" sz="1150" dirty="0"/>
          </a:p>
        </p:txBody>
      </p:sp>
      <p:sp>
        <p:nvSpPr>
          <p:cNvPr id="19" name="Linie Modell 2"/>
          <p:cNvSpPr/>
          <p:nvPr/>
        </p:nvSpPr>
        <p:spPr>
          <a:xfrm>
            <a:off x="4023360" y="2057400"/>
            <a:ext cx="548640" cy="566928"/>
          </a:xfrm>
          <a:prstGeom prst="line">
            <a:avLst/>
          </a:prstGeom>
          <a:noFill/>
          <a:ln w="12700">
            <a:solidFill>
              <a:srgbClr val="7A8599"/>
            </a:solidFill>
            <a:prstDash val="solid"/>
          </a:ln>
        </p:spPr>
      </p:sp>
      <p:sp>
        <p:nvSpPr>
          <p:cNvPr id="20" name="Modell weitere Modelle"/>
          <p:cNvSpPr/>
          <p:nvPr/>
        </p:nvSpPr>
        <p:spPr>
          <a:xfrm>
            <a:off x="4572000" y="2423160"/>
            <a:ext cx="2011680" cy="411480"/>
          </a:xfrm>
          <a:prstGeom prst="roundRect">
            <a:avLst>
              <a:gd name="adj" fmla="val 17778"/>
            </a:avLst>
          </a:prstGeom>
          <a:solidFill>
            <a:schemeClr val="accent5"/>
          </a:solidFill>
          <a:ln w="12700">
            <a:solidFill>
              <a:schemeClr val="accent5"/>
            </a:solidFill>
            <a:prstDash val="solid"/>
          </a:ln>
        </p:spPr>
      </p:sp>
      <p:sp>
        <p:nvSpPr>
          <p:cNvPr id="21" name="Text 18"/>
          <p:cNvSpPr txBox="1"/>
          <p:nvPr/>
        </p:nvSpPr>
        <p:spPr>
          <a:xfrm>
            <a:off x="4663440" y="2423160"/>
            <a:ext cx="1828800" cy="411480"/>
          </a:xfrm>
          <a:prstGeom prst="rect">
            <a:avLst/>
          </a:prstGeom>
          <a:noFill/>
          <a:ln/>
        </p:spPr>
        <p:txBody>
          <a:bodyPr wrap="square" lIns="0" tIns="0" rIns="0" bIns="0" rtlCol="0" anchor="ctr"/>
          <a:lstStyle/>
          <a:p>
            <a:pPr indent="0" marL="0">
              <a:buNone/>
            </a:pPr>
            <a:r>
              <a:rPr lang="en-US" sz="1150" b="1" dirty="0">
                <a:solidFill>
                  <a:schemeClr val="bg1"/>
                </a:solidFill>
              </a:rPr>
              <a:t>weitere Modelle</a:t>
            </a:r>
            <a:endParaRPr lang="en-US" sz="1150" dirty="0"/>
          </a:p>
        </p:txBody>
      </p:sp>
      <p:sp>
        <p:nvSpPr>
          <p:cNvPr id="22" name="Text 19"/>
          <p:cNvSpPr txBox="1"/>
          <p:nvPr/>
        </p:nvSpPr>
        <p:spPr>
          <a:xfrm>
            <a:off x="6675120" y="2423160"/>
            <a:ext cx="2011680" cy="411480"/>
          </a:xfrm>
          <a:prstGeom prst="rect">
            <a:avLst/>
          </a:prstGeom>
          <a:noFill/>
          <a:ln/>
        </p:spPr>
        <p:txBody>
          <a:bodyPr wrap="square" lIns="0" tIns="0" rIns="0" bIns="0" rtlCol="0" anchor="ctr"/>
          <a:lstStyle/>
          <a:p>
            <a:pPr indent="0" marL="0">
              <a:buNone/>
            </a:pPr>
            <a:r>
              <a:rPr lang="en-US" sz="1150" dirty="0">
                <a:solidFill>
                  <a:schemeClr val="tx1"/>
                </a:solidFill>
              </a:rPr>
              <a:t>per Konfiguration</a:t>
            </a:r>
            <a:endParaRPr lang="en-US" sz="1150" dirty="0"/>
          </a:p>
        </p:txBody>
      </p:sp>
      <p:sp>
        <p:nvSpPr>
          <p:cNvPr id="23" name="Text 20"/>
          <p:cNvSpPr txBox="1"/>
          <p:nvPr/>
        </p:nvSpPr>
        <p:spPr>
          <a:xfrm>
            <a:off x="457200" y="3200400"/>
            <a:ext cx="8229600" cy="1280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Festes JSON-Schema (strict) – keine freien Texte, prüfbare Felder</a:t>
            </a:r>
            <a:endParaRPr lang="en-US" sz="1300" dirty="0"/>
          </a:p>
          <a:p>
            <a:pPr marL="342900" indent="-342900">
              <a:spcAft>
                <a:spcPts val="400"/>
              </a:spcAft>
              <a:buSzPct val="100000"/>
              <a:buChar char="•"/>
            </a:pPr>
            <a:r>
              <a:rPr lang="en-US" sz="1300" dirty="0">
                <a:solidFill>
                  <a:schemeClr val="tx1"/>
                </a:solidFill>
              </a:rPr>
              <a:t>Kosten pro Aufruf direkt aus der Antwort (usage.cost) – keine Schätzung</a:t>
            </a:r>
            <a:endParaRPr lang="en-US" sz="1300" dirty="0"/>
          </a:p>
          <a:p>
            <a:pPr marL="342900" indent="-342900">
              <a:spcAft>
                <a:spcPts val="400"/>
              </a:spcAft>
              <a:buSzPct val="100000"/>
              <a:buChar char="•"/>
            </a:pPr>
            <a:r>
              <a:rPr lang="en-US" sz="1300" dirty="0">
                <a:solidFill>
                  <a:schemeClr val="tx1"/>
                </a:solidFill>
              </a:rPr>
              <a:t>Modellwechsel = eine Zeile in Node 01, kein Umbau</a:t>
            </a:r>
            <a:endParaRPr lang="en-US" sz="1300" dirty="0"/>
          </a:p>
          <a:p>
            <a:pPr marL="342900" indent="-342900">
              <a:spcAft>
                <a:spcPts val="400"/>
              </a:spcAft>
              <a:buSzPct val="100000"/>
              <a:buChar char="•"/>
            </a:pPr>
            <a:r>
              <a:rPr lang="en-US" sz="1300" dirty="0">
                <a:solidFill>
                  <a:schemeClr val="tx1"/>
                </a:solidFill>
              </a:rPr>
              <a:t>Kundentext ist Daten, keine Anweisung (Schutz vor Prompt-Injection)</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API-INTEGRATIONEN</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Sechs Dienste, jeder mit eigenem Fallback</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463040"/>
                <a:gridCol w="2926080"/>
                <a:gridCol w="1188720"/>
                <a:gridCol w="2651760"/>
              </a:tblGrid>
              <a:tr h="384048">
                <a:tc>
                  <a:txBody>
                    <a:bodyPr/>
                    <a:lstStyle/>
                    <a:p>
                      <a:pPr indent="0" marL="0">
                        <a:buNone/>
                      </a:pPr>
                      <a:r>
                        <a:rPr lang="en-US" sz="1150" b="1" dirty="0">
                          <a:solidFill>
                            <a:schemeClr val="bg1"/>
                          </a:solidFill>
                        </a:rPr>
                        <a:t>Dienst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Wofür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Zugang</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Wenn er ausfällt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r>
              <a:tr h="384048">
                <a:tc>
                  <a:txBody>
                    <a:bodyPr/>
                    <a:lstStyle/>
                    <a:p>
                      <a:pPr indent="0" marL="0">
                        <a:buNone/>
                      </a:pPr>
                      <a:r>
                        <a:rPr lang="en-US" sz="1150" dirty="0">
                          <a:solidFill>
                            <a:schemeClr val="tx1"/>
                          </a:solidFill>
                        </a:rPr>
                        <a:t>OpenRouter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Fotos lesen + Bericht schreiben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Header Auth</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Fallback-Modell, sonst Vorlage + Alert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84048">
                <a:tc>
                  <a:txBody>
                    <a:bodyPr/>
                    <a:lstStyle/>
                    <a:p>
                      <a:pPr indent="0" marL="0">
                        <a:buNone/>
                      </a:pPr>
                      <a:r>
                        <a:rPr lang="en-US" sz="1150" dirty="0">
                          <a:solidFill>
                            <a:schemeClr val="tx1"/>
                          </a:solidFill>
                        </a:rPr>
                        <a:t>NHTSA vPIC</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FIN → Marke, Modell, Jahr; Plausibilität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öffentlich</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Weiter mit Kunden-/Fotodaten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384048">
                <a:tc>
                  <a:txBody>
                    <a:bodyPr/>
                    <a:lstStyle/>
                    <a:p>
                      <a:pPr indent="0" marL="0">
                        <a:buNone/>
                      </a:pPr>
                      <a:r>
                        <a:rPr lang="en-US" sz="1150" dirty="0">
                          <a:solidFill>
                            <a:schemeClr val="tx1"/>
                          </a:solidFill>
                        </a:rPr>
                        <a:t>NHTSA Rückrufe</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Offene Rückrufe zum Modell</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öffentlich</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Schritt wird geloggt, Lauf geht weiter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84048">
                <a:tc>
                  <a:txBody>
                    <a:bodyPr/>
                    <a:lstStyle/>
                    <a:p>
                      <a:pPr indent="0" marL="0">
                        <a:buNone/>
                      </a:pPr>
                      <a:r>
                        <a:rPr lang="en-US" sz="1150" dirty="0">
                          <a:solidFill>
                            <a:schemeClr val="tx1"/>
                          </a:solidFill>
                        </a:rPr>
                        <a:t>Google Calendar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Belegte Zeiten → 3 freie Termine</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OAuth2</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Termine aus Arbeitszeiten, markiert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384048">
                <a:tc>
                  <a:txBody>
                    <a:bodyPr/>
                    <a:lstStyle/>
                    <a:p>
                      <a:pPr indent="0" marL="0">
                        <a:buNone/>
                      </a:pPr>
                      <a:r>
                        <a:rPr lang="en-US" sz="1150" dirty="0">
                          <a:solidFill>
                            <a:schemeClr val="tx1"/>
                          </a:solidFill>
                        </a:rPr>
                        <a:t>Gmail</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Bericht an Werkstatt, Alerts</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OAuth2</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Status FEHLER + Alert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84048">
                <a:tc>
                  <a:txBody>
                    <a:bodyPr/>
                    <a:lstStyle/>
                    <a:p>
                      <a:pPr indent="0" marL="0">
                        <a:buNone/>
                      </a:pPr>
                      <a:r>
                        <a:rPr lang="en-US" sz="1150" dirty="0">
                          <a:solidFill>
                            <a:schemeClr val="tx1"/>
                          </a:solidFill>
                        </a:rPr>
                        <a:t>Supabase</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Läufe + Logs speichern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Service Key</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Teilergebnis + Alert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i="1" dirty="0">
                <a:solidFill>
                  <a:schemeClr val="accent5"/>
                </a:solidFill>
              </a:rPr>
              <a:t>Alle Zugangsdaten liegen in n8n-Credentials – kein Schlüssel im Code oder im Export.</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DATENBANK + LOGGING</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Jeder Lauf und jeder Schritt landet in Supabase</a:t>
            </a:r>
            <a:endParaRPr lang="en-US" sz="3000" dirty="0"/>
          </a:p>
        </p:txBody>
      </p:sp>
      <p:sp>
        <p:nvSpPr>
          <p:cNvPr id="4" name="autoscan_runs Kreis"/>
          <p:cNvSpPr/>
          <p:nvPr/>
        </p:nvSpPr>
        <p:spPr>
          <a:xfrm>
            <a:off x="457200" y="1417320"/>
            <a:ext cx="548640" cy="548640"/>
          </a:xfrm>
          <a:prstGeom prst="ellipse">
            <a:avLst/>
          </a:prstGeom>
          <a:solidFill>
            <a:schemeClr val="accent2"/>
          </a:solidFill>
          <a:ln w="12700">
            <a:solidFill>
              <a:schemeClr val="accent2"/>
            </a:solidFill>
            <a:prstDash val="solid"/>
          </a:ln>
        </p:spPr>
      </p:sp>
      <p:pic>
        <p:nvPicPr>
          <p:cNvPr id="5" name="autoscan_runs Symbol" descr="autoscan_runs">    </p:cNvPr>
          <p:cNvPicPr>
            <a:picLocks noChangeAspect="1"/>
          </p:cNvPicPr>
          <p:nvPr/>
        </p:nvPicPr>
        <p:blipFill>
          <a:blip r:embed="rId1"/>
          <a:stretch>
            <a:fillRect/>
          </a:stretch>
        </p:blipFill>
        <p:spPr>
          <a:xfrm>
            <a:off x="594360" y="1554480"/>
            <a:ext cx="274320" cy="274320"/>
          </a:xfrm>
          <a:prstGeom prst="rect">
            <a:avLst/>
          </a:prstGeom>
        </p:spPr>
      </p:pic>
      <p:sp>
        <p:nvSpPr>
          <p:cNvPr id="6" name="Text 3"/>
          <p:cNvSpPr txBox="1"/>
          <p:nvPr/>
        </p:nvSpPr>
        <p:spPr>
          <a:xfrm>
            <a:off x="1188720" y="1325880"/>
            <a:ext cx="4206240" cy="320040"/>
          </a:xfrm>
          <a:prstGeom prst="rect">
            <a:avLst/>
          </a:prstGeom>
          <a:noFill/>
          <a:ln/>
        </p:spPr>
        <p:txBody>
          <a:bodyPr wrap="square" lIns="0" tIns="0" rIns="0" bIns="0" rtlCol="0" anchor="t"/>
          <a:lstStyle/>
          <a:p>
            <a:pPr indent="0" marL="0">
              <a:buNone/>
            </a:pPr>
            <a:r>
              <a:rPr lang="en-US" sz="1500" b="1" dirty="0">
                <a:solidFill>
                  <a:schemeClr val="tx2"/>
                </a:solidFill>
              </a:rPr>
              <a:t>autoscan_runs</a:t>
            </a:r>
            <a:pPr indent="0" marL="0">
              <a:buNone/>
            </a:pPr>
            <a:r>
              <a:rPr lang="en-US" sz="1200" b="1" dirty="0">
                <a:solidFill>
                  <a:schemeClr val="accent2"/>
                </a:solidFill>
              </a:rPr>
              <a:t>   1 Zeile pro Lauf</a:t>
            </a:r>
            <a:endParaRPr lang="en-US" sz="1500" dirty="0"/>
          </a:p>
        </p:txBody>
      </p:sp>
      <p:sp>
        <p:nvSpPr>
          <p:cNvPr id="7" name="Text 4"/>
          <p:cNvSpPr txBox="1"/>
          <p:nvPr/>
        </p:nvSpPr>
        <p:spPr>
          <a:xfrm>
            <a:off x="1188720" y="1673352"/>
            <a:ext cx="4114800" cy="594360"/>
          </a:xfrm>
          <a:prstGeom prst="rect">
            <a:avLst/>
          </a:prstGeom>
          <a:noFill/>
          <a:ln/>
        </p:spPr>
        <p:txBody>
          <a:bodyPr wrap="square" lIns="0" tIns="0" rIns="0" bIns="0" rtlCol="0" anchor="t"/>
          <a:lstStyle/>
          <a:p>
            <a:pPr indent="0" marL="0">
              <a:buNone/>
            </a:pPr>
            <a:r>
              <a:rPr lang="en-US" sz="1150" dirty="0">
                <a:solidFill>
                  <a:schemeClr val="tx1"/>
                </a:solidFill>
              </a:rPr>
              <a:t>Status · Version · Fahrzeug · KI-Ergebnis · Tokens · Kosten · E-Mail- und Alert-Status · Dauer</a:t>
            </a:r>
            <a:endParaRPr lang="en-US" sz="1150" dirty="0"/>
          </a:p>
        </p:txBody>
      </p:sp>
      <p:sp>
        <p:nvSpPr>
          <p:cNvPr id="8" name="autoscan_logs Kreis"/>
          <p:cNvSpPr/>
          <p:nvPr/>
        </p:nvSpPr>
        <p:spPr>
          <a:xfrm>
            <a:off x="457200" y="2423160"/>
            <a:ext cx="548640" cy="548640"/>
          </a:xfrm>
          <a:prstGeom prst="ellipse">
            <a:avLst/>
          </a:prstGeom>
          <a:solidFill>
            <a:schemeClr val="accent4"/>
          </a:solidFill>
          <a:ln w="12700">
            <a:solidFill>
              <a:schemeClr val="accent4"/>
            </a:solidFill>
            <a:prstDash val="solid"/>
          </a:ln>
        </p:spPr>
      </p:sp>
      <p:pic>
        <p:nvPicPr>
          <p:cNvPr id="9" name="autoscan_logs Symbol" descr="autoscan_logs">    </p:cNvPr>
          <p:cNvPicPr>
            <a:picLocks noChangeAspect="1"/>
          </p:cNvPicPr>
          <p:nvPr/>
        </p:nvPicPr>
        <p:blipFill>
          <a:blip r:embed="rId2"/>
          <a:stretch>
            <a:fillRect/>
          </a:stretch>
        </p:blipFill>
        <p:spPr>
          <a:xfrm>
            <a:off x="594360" y="2560320"/>
            <a:ext cx="274320" cy="274320"/>
          </a:xfrm>
          <a:prstGeom prst="rect">
            <a:avLst/>
          </a:prstGeom>
        </p:spPr>
      </p:pic>
      <p:sp>
        <p:nvSpPr>
          <p:cNvPr id="10" name="Text 6"/>
          <p:cNvSpPr txBox="1"/>
          <p:nvPr/>
        </p:nvSpPr>
        <p:spPr>
          <a:xfrm>
            <a:off x="1188720" y="2331720"/>
            <a:ext cx="4206240" cy="320040"/>
          </a:xfrm>
          <a:prstGeom prst="rect">
            <a:avLst/>
          </a:prstGeom>
          <a:noFill/>
          <a:ln/>
        </p:spPr>
        <p:txBody>
          <a:bodyPr wrap="square" lIns="0" tIns="0" rIns="0" bIns="0" rtlCol="0" anchor="t"/>
          <a:lstStyle/>
          <a:p>
            <a:pPr indent="0" marL="0">
              <a:buNone/>
            </a:pPr>
            <a:r>
              <a:rPr lang="en-US" sz="1500" b="1" dirty="0">
                <a:solidFill>
                  <a:schemeClr val="tx2"/>
                </a:solidFill>
              </a:rPr>
              <a:t>autoscan_logs</a:t>
            </a:r>
            <a:pPr indent="0" marL="0">
              <a:buNone/>
            </a:pPr>
            <a:r>
              <a:rPr lang="en-US" sz="1200" b="1" dirty="0">
                <a:solidFill>
                  <a:schemeClr val="accent4"/>
                </a:solidFill>
              </a:rPr>
              <a:t>   1 Zeile pro Schritt</a:t>
            </a:r>
            <a:endParaRPr lang="en-US" sz="1500" dirty="0"/>
          </a:p>
        </p:txBody>
      </p:sp>
      <p:sp>
        <p:nvSpPr>
          <p:cNvPr id="11" name="Text 7"/>
          <p:cNvSpPr txBox="1"/>
          <p:nvPr/>
        </p:nvSpPr>
        <p:spPr>
          <a:xfrm>
            <a:off x="1188720" y="2679192"/>
            <a:ext cx="4114800" cy="594360"/>
          </a:xfrm>
          <a:prstGeom prst="rect">
            <a:avLst/>
          </a:prstGeom>
          <a:noFill/>
          <a:ln/>
        </p:spPr>
        <p:txBody>
          <a:bodyPr wrap="square" lIns="0" tIns="0" rIns="0" bIns="0" rtlCol="0" anchor="t"/>
          <a:lstStyle/>
          <a:p>
            <a:pPr indent="0" marL="0">
              <a:buNone/>
            </a:pPr>
            <a:r>
              <a:rPr lang="en-US" sz="1150" dirty="0">
                <a:solidFill>
                  <a:schemeClr val="tx1"/>
                </a:solidFill>
              </a:rPr>
              <a:t>Schritt · Status (OK / FEHLER / FALLBACK / ÜBERSPRUNGEN) · Dauer · Details</a:t>
            </a:r>
            <a:endParaRPr lang="en-US" sz="1150" dirty="0"/>
          </a:p>
        </p:txBody>
      </p:sp>
      <p:sp>
        <p:nvSpPr>
          <p:cNvPr id="12" name="Views Kreis"/>
          <p:cNvSpPr/>
          <p:nvPr/>
        </p:nvSpPr>
        <p:spPr>
          <a:xfrm>
            <a:off x="457200" y="3429000"/>
            <a:ext cx="548640" cy="548640"/>
          </a:xfrm>
          <a:prstGeom prst="ellipse">
            <a:avLst/>
          </a:prstGeom>
          <a:solidFill>
            <a:schemeClr val="accent1"/>
          </a:solidFill>
          <a:ln w="12700">
            <a:solidFill>
              <a:schemeClr val="accent1"/>
            </a:solidFill>
            <a:prstDash val="solid"/>
          </a:ln>
        </p:spPr>
      </p:sp>
      <p:pic>
        <p:nvPicPr>
          <p:cNvPr id="13" name="Views Symbol" descr="Views">    </p:cNvPr>
          <p:cNvPicPr>
            <a:picLocks noChangeAspect="1"/>
          </p:cNvPicPr>
          <p:nvPr/>
        </p:nvPicPr>
        <p:blipFill>
          <a:blip r:embed="rId3"/>
          <a:stretch>
            <a:fillRect/>
          </a:stretch>
        </p:blipFill>
        <p:spPr>
          <a:xfrm>
            <a:off x="594360" y="3566160"/>
            <a:ext cx="274320" cy="274320"/>
          </a:xfrm>
          <a:prstGeom prst="rect">
            <a:avLst/>
          </a:prstGeom>
        </p:spPr>
      </p:pic>
      <p:sp>
        <p:nvSpPr>
          <p:cNvPr id="14" name="Text 9"/>
          <p:cNvSpPr txBox="1"/>
          <p:nvPr/>
        </p:nvSpPr>
        <p:spPr>
          <a:xfrm>
            <a:off x="1188720" y="3337560"/>
            <a:ext cx="4206240" cy="320040"/>
          </a:xfrm>
          <a:prstGeom prst="rect">
            <a:avLst/>
          </a:prstGeom>
          <a:noFill/>
          <a:ln/>
        </p:spPr>
        <p:txBody>
          <a:bodyPr wrap="square" lIns="0" tIns="0" rIns="0" bIns="0" rtlCol="0" anchor="t"/>
          <a:lstStyle/>
          <a:p>
            <a:pPr indent="0" marL="0">
              <a:buNone/>
            </a:pPr>
            <a:r>
              <a:rPr lang="en-US" sz="1500" b="1" dirty="0">
                <a:solidFill>
                  <a:schemeClr val="tx2"/>
                </a:solidFill>
              </a:rPr>
              <a:t>Views</a:t>
            </a:r>
            <a:pPr indent="0" marL="0">
              <a:buNone/>
            </a:pPr>
            <a:r>
              <a:rPr lang="en-US" sz="1200" b="1" dirty="0">
                <a:solidFill>
                  <a:schemeClr val="accent1"/>
                </a:solidFill>
              </a:rPr>
              <a:t>   Auswertung</a:t>
            </a:r>
            <a:endParaRPr lang="en-US" sz="1500" dirty="0"/>
          </a:p>
        </p:txBody>
      </p:sp>
      <p:sp>
        <p:nvSpPr>
          <p:cNvPr id="15" name="Text 10"/>
          <p:cNvSpPr txBox="1"/>
          <p:nvPr/>
        </p:nvSpPr>
        <p:spPr>
          <a:xfrm>
            <a:off x="1188720" y="3685032"/>
            <a:ext cx="4114800" cy="594360"/>
          </a:xfrm>
          <a:prstGeom prst="rect">
            <a:avLst/>
          </a:prstGeom>
          <a:noFill/>
          <a:ln/>
        </p:spPr>
        <p:txBody>
          <a:bodyPr wrap="square" lIns="0" tIns="0" rIns="0" bIns="0" rtlCol="0" anchor="t"/>
          <a:lstStyle/>
          <a:p>
            <a:pPr indent="0" marL="0">
              <a:buNone/>
            </a:pPr>
            <a:r>
              <a:rPr lang="en-US" sz="1150" dirty="0">
                <a:solidFill>
                  <a:schemeClr val="tx1"/>
                </a:solidFill>
              </a:rPr>
              <a:t>autoscan_tagesstatistik: Läufe, Fehler, Tokens, Kosten pro Tag und Version · autoscan_schritt_performance: langsamster Schritt</a:t>
            </a:r>
            <a:endParaRPr lang="en-US" sz="1150" dirty="0"/>
          </a:p>
        </p:txBody>
      </p:sp>
      <p:sp>
        <p:nvSpPr>
          <p:cNvPr id="16" name="Beispiel Logs"/>
          <p:cNvSpPr/>
          <p:nvPr/>
        </p:nvSpPr>
        <p:spPr>
          <a:xfrm>
            <a:off x="5577840" y="1325880"/>
            <a:ext cx="3108960" cy="3017520"/>
          </a:xfrm>
          <a:prstGeom prst="roundRect">
            <a:avLst>
              <a:gd name="adj" fmla="val 2424"/>
            </a:avLst>
          </a:prstGeom>
          <a:solidFill>
            <a:schemeClr val="tx2"/>
          </a:solidFill>
          <a:ln w="12700">
            <a:solidFill>
              <a:schemeClr val="tx2"/>
            </a:solidFill>
            <a:prstDash val="solid"/>
          </a:ln>
        </p:spPr>
      </p:sp>
      <p:sp>
        <p:nvSpPr>
          <p:cNvPr id="17" name="Text 12"/>
          <p:cNvSpPr txBox="1"/>
          <p:nvPr/>
        </p:nvSpPr>
        <p:spPr>
          <a:xfrm>
            <a:off x="5760720" y="1417320"/>
            <a:ext cx="2743200" cy="274320"/>
          </a:xfrm>
          <a:prstGeom prst="rect">
            <a:avLst/>
          </a:prstGeom>
          <a:noFill/>
          <a:ln/>
        </p:spPr>
        <p:txBody>
          <a:bodyPr wrap="square" lIns="0" tIns="0" rIns="0" bIns="0" rtlCol="0" anchor="t"/>
          <a:lstStyle/>
          <a:p>
            <a:pPr indent="0" marL="0">
              <a:buNone/>
            </a:pPr>
            <a:r>
              <a:rPr lang="en-US" sz="1200" b="1" dirty="0">
                <a:solidFill>
                  <a:schemeClr val="accent1"/>
                </a:solidFill>
              </a:rPr>
              <a:t>Beispiel: Schritte eines Laufs</a:t>
            </a:r>
            <a:endParaRPr lang="en-US" sz="1200" dirty="0"/>
          </a:p>
        </p:txBody>
      </p:sp>
      <p:sp>
        <p:nvSpPr>
          <p:cNvPr id="18" name="Text 13"/>
          <p:cNvSpPr txBox="1"/>
          <p:nvPr/>
        </p:nvSpPr>
        <p:spPr>
          <a:xfrm>
            <a:off x="5760720" y="1755648"/>
            <a:ext cx="2011680" cy="25603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EINGABE</a:t>
            </a:r>
            <a:endParaRPr lang="en-US" sz="1050" dirty="0"/>
          </a:p>
        </p:txBody>
      </p:sp>
      <p:sp>
        <p:nvSpPr>
          <p:cNvPr id="19" name="Text 14"/>
          <p:cNvSpPr txBox="1"/>
          <p:nvPr/>
        </p:nvSpPr>
        <p:spPr>
          <a:xfrm>
            <a:off x="7772400" y="1755648"/>
            <a:ext cx="822960" cy="256032"/>
          </a:xfrm>
          <a:prstGeom prst="rect">
            <a:avLst/>
          </a:prstGeom>
          <a:noFill/>
          <a:ln/>
        </p:spPr>
        <p:txBody>
          <a:bodyPr wrap="square" lIns="0" tIns="0" rIns="0" bIns="0" rtlCol="0" anchor="t"/>
          <a:lstStyle/>
          <a:p>
            <a:pPr algn="r" indent="0" marL="0">
              <a:buNone/>
            </a:pPr>
            <a:r>
              <a:rPr lang="en-US" sz="1050" b="1" dirty="0">
                <a:solidFill>
                  <a:schemeClr val="accent2"/>
                </a:solidFill>
                <a:latin typeface="Courier New" pitchFamily="34" charset="0"/>
                <a:ea typeface="Courier New" pitchFamily="34" charset="-122"/>
                <a:cs typeface="Courier New" pitchFamily="34" charset="-120"/>
              </a:rPr>
              <a:t>OK</a:t>
            </a:r>
            <a:endParaRPr lang="en-US" sz="1050" dirty="0"/>
          </a:p>
        </p:txBody>
      </p:sp>
      <p:sp>
        <p:nvSpPr>
          <p:cNvPr id="20" name="Text 15"/>
          <p:cNvSpPr txBox="1"/>
          <p:nvPr/>
        </p:nvSpPr>
        <p:spPr>
          <a:xfrm>
            <a:off x="5760720" y="2029968"/>
            <a:ext cx="2011680" cy="25603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DB_START</a:t>
            </a:r>
            <a:endParaRPr lang="en-US" sz="1050" dirty="0"/>
          </a:p>
        </p:txBody>
      </p:sp>
      <p:sp>
        <p:nvSpPr>
          <p:cNvPr id="21" name="Text 16"/>
          <p:cNvSpPr txBox="1"/>
          <p:nvPr/>
        </p:nvSpPr>
        <p:spPr>
          <a:xfrm>
            <a:off x="7772400" y="2029968"/>
            <a:ext cx="822960" cy="256032"/>
          </a:xfrm>
          <a:prstGeom prst="rect">
            <a:avLst/>
          </a:prstGeom>
          <a:noFill/>
          <a:ln/>
        </p:spPr>
        <p:txBody>
          <a:bodyPr wrap="square" lIns="0" tIns="0" rIns="0" bIns="0" rtlCol="0" anchor="t"/>
          <a:lstStyle/>
          <a:p>
            <a:pPr algn="r" indent="0" marL="0">
              <a:buNone/>
            </a:pPr>
            <a:r>
              <a:rPr lang="en-US" sz="1050" b="1" dirty="0">
                <a:solidFill>
                  <a:schemeClr val="accent2"/>
                </a:solidFill>
                <a:latin typeface="Courier New" pitchFamily="34" charset="0"/>
                <a:ea typeface="Courier New" pitchFamily="34" charset="-122"/>
                <a:cs typeface="Courier New" pitchFamily="34" charset="-120"/>
              </a:rPr>
              <a:t>OK</a:t>
            </a:r>
            <a:endParaRPr lang="en-US" sz="1050" dirty="0"/>
          </a:p>
        </p:txBody>
      </p:sp>
      <p:sp>
        <p:nvSpPr>
          <p:cNvPr id="22" name="Text 17"/>
          <p:cNvSpPr txBox="1"/>
          <p:nvPr/>
        </p:nvSpPr>
        <p:spPr>
          <a:xfrm>
            <a:off x="5760720" y="2304288"/>
            <a:ext cx="2011680" cy="25603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LLM_BILD</a:t>
            </a:r>
            <a:endParaRPr lang="en-US" sz="1050" dirty="0"/>
          </a:p>
        </p:txBody>
      </p:sp>
      <p:sp>
        <p:nvSpPr>
          <p:cNvPr id="23" name="Text 18"/>
          <p:cNvSpPr txBox="1"/>
          <p:nvPr/>
        </p:nvSpPr>
        <p:spPr>
          <a:xfrm>
            <a:off x="7772400" y="2304288"/>
            <a:ext cx="822960" cy="256032"/>
          </a:xfrm>
          <a:prstGeom prst="rect">
            <a:avLst/>
          </a:prstGeom>
          <a:noFill/>
          <a:ln/>
        </p:spPr>
        <p:txBody>
          <a:bodyPr wrap="square" lIns="0" tIns="0" rIns="0" bIns="0" rtlCol="0" anchor="t"/>
          <a:lstStyle/>
          <a:p>
            <a:pPr algn="r" indent="0" marL="0">
              <a:buNone/>
            </a:pPr>
            <a:r>
              <a:rPr lang="en-US" sz="1050" b="1" dirty="0">
                <a:solidFill>
                  <a:schemeClr val="accent2"/>
                </a:solidFill>
                <a:latin typeface="Courier New" pitchFamily="34" charset="0"/>
                <a:ea typeface="Courier New" pitchFamily="34" charset="-122"/>
                <a:cs typeface="Courier New" pitchFamily="34" charset="-120"/>
              </a:rPr>
              <a:t>OK</a:t>
            </a:r>
            <a:endParaRPr lang="en-US" sz="1050" dirty="0"/>
          </a:p>
        </p:txBody>
      </p:sp>
      <p:sp>
        <p:nvSpPr>
          <p:cNvPr id="24" name="Text 19"/>
          <p:cNvSpPr txBox="1"/>
          <p:nvPr/>
        </p:nvSpPr>
        <p:spPr>
          <a:xfrm>
            <a:off x="5760720" y="2578608"/>
            <a:ext cx="2011680" cy="25603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FAHRZEUG_API_VPIC</a:t>
            </a:r>
            <a:endParaRPr lang="en-US" sz="1050" dirty="0"/>
          </a:p>
        </p:txBody>
      </p:sp>
      <p:sp>
        <p:nvSpPr>
          <p:cNvPr id="25" name="Text 20"/>
          <p:cNvSpPr txBox="1"/>
          <p:nvPr/>
        </p:nvSpPr>
        <p:spPr>
          <a:xfrm>
            <a:off x="7772400" y="2578608"/>
            <a:ext cx="822960" cy="256032"/>
          </a:xfrm>
          <a:prstGeom prst="rect">
            <a:avLst/>
          </a:prstGeom>
          <a:noFill/>
          <a:ln/>
        </p:spPr>
        <p:txBody>
          <a:bodyPr wrap="square" lIns="0" tIns="0" rIns="0" bIns="0" rtlCol="0" anchor="t"/>
          <a:lstStyle/>
          <a:p>
            <a:pPr algn="r" indent="0" marL="0">
              <a:buNone/>
            </a:pPr>
            <a:r>
              <a:rPr lang="en-US" sz="1050" b="1" dirty="0">
                <a:solidFill>
                  <a:schemeClr val="accent2"/>
                </a:solidFill>
                <a:latin typeface="Courier New" pitchFamily="34" charset="0"/>
                <a:ea typeface="Courier New" pitchFamily="34" charset="-122"/>
                <a:cs typeface="Courier New" pitchFamily="34" charset="-120"/>
              </a:rPr>
              <a:t>OK</a:t>
            </a:r>
            <a:endParaRPr lang="en-US" sz="1050" dirty="0"/>
          </a:p>
        </p:txBody>
      </p:sp>
      <p:sp>
        <p:nvSpPr>
          <p:cNvPr id="26" name="Text 21"/>
          <p:cNvSpPr txBox="1"/>
          <p:nvPr/>
        </p:nvSpPr>
        <p:spPr>
          <a:xfrm>
            <a:off x="5760720" y="2852928"/>
            <a:ext cx="2011680" cy="25603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RUECKRUF_API</a:t>
            </a:r>
            <a:endParaRPr lang="en-US" sz="1050" dirty="0"/>
          </a:p>
        </p:txBody>
      </p:sp>
      <p:sp>
        <p:nvSpPr>
          <p:cNvPr id="27" name="Text 22"/>
          <p:cNvSpPr txBox="1"/>
          <p:nvPr/>
        </p:nvSpPr>
        <p:spPr>
          <a:xfrm>
            <a:off x="7772400" y="2852928"/>
            <a:ext cx="822960" cy="256032"/>
          </a:xfrm>
          <a:prstGeom prst="rect">
            <a:avLst/>
          </a:prstGeom>
          <a:noFill/>
          <a:ln/>
        </p:spPr>
        <p:txBody>
          <a:bodyPr wrap="square" lIns="0" tIns="0" rIns="0" bIns="0" rtlCol="0" anchor="t"/>
          <a:lstStyle/>
          <a:p>
            <a:pPr algn="r" indent="0" marL="0">
              <a:buNone/>
            </a:pPr>
            <a:r>
              <a:rPr lang="en-US" sz="1050" b="1" dirty="0">
                <a:solidFill>
                  <a:schemeClr val="accent2"/>
                </a:solidFill>
                <a:latin typeface="Courier New" pitchFamily="34" charset="0"/>
                <a:ea typeface="Courier New" pitchFamily="34" charset="-122"/>
                <a:cs typeface="Courier New" pitchFamily="34" charset="-120"/>
              </a:rPr>
              <a:t>OK</a:t>
            </a:r>
            <a:endParaRPr lang="en-US" sz="1050" dirty="0"/>
          </a:p>
        </p:txBody>
      </p:sp>
      <p:sp>
        <p:nvSpPr>
          <p:cNvPr id="28" name="Text 23"/>
          <p:cNvSpPr txBox="1"/>
          <p:nvPr/>
        </p:nvSpPr>
        <p:spPr>
          <a:xfrm>
            <a:off x="5760720" y="3127248"/>
            <a:ext cx="2011680" cy="25603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OBD2_WISSENSBASIS</a:t>
            </a:r>
            <a:endParaRPr lang="en-US" sz="1050" dirty="0"/>
          </a:p>
        </p:txBody>
      </p:sp>
      <p:sp>
        <p:nvSpPr>
          <p:cNvPr id="29" name="Text 24"/>
          <p:cNvSpPr txBox="1"/>
          <p:nvPr/>
        </p:nvSpPr>
        <p:spPr>
          <a:xfrm>
            <a:off x="7772400" y="3127248"/>
            <a:ext cx="822960" cy="256032"/>
          </a:xfrm>
          <a:prstGeom prst="rect">
            <a:avLst/>
          </a:prstGeom>
          <a:noFill/>
          <a:ln/>
        </p:spPr>
        <p:txBody>
          <a:bodyPr wrap="square" lIns="0" tIns="0" rIns="0" bIns="0" rtlCol="0" anchor="t"/>
          <a:lstStyle/>
          <a:p>
            <a:pPr algn="r" indent="0" marL="0">
              <a:buNone/>
            </a:pPr>
            <a:r>
              <a:rPr lang="en-US" sz="1050" b="1" dirty="0">
                <a:solidFill>
                  <a:schemeClr val="accent2"/>
                </a:solidFill>
                <a:latin typeface="Courier New" pitchFamily="34" charset="0"/>
                <a:ea typeface="Courier New" pitchFamily="34" charset="-122"/>
                <a:cs typeface="Courier New" pitchFamily="34" charset="-120"/>
              </a:rPr>
              <a:t>OK</a:t>
            </a:r>
            <a:endParaRPr lang="en-US" sz="1050" dirty="0"/>
          </a:p>
        </p:txBody>
      </p:sp>
      <p:sp>
        <p:nvSpPr>
          <p:cNvPr id="30" name="Text 25"/>
          <p:cNvSpPr txBox="1"/>
          <p:nvPr/>
        </p:nvSpPr>
        <p:spPr>
          <a:xfrm>
            <a:off x="5760720" y="3401568"/>
            <a:ext cx="2011680" cy="25603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KALENDER</a:t>
            </a:r>
            <a:endParaRPr lang="en-US" sz="1050" dirty="0"/>
          </a:p>
        </p:txBody>
      </p:sp>
      <p:sp>
        <p:nvSpPr>
          <p:cNvPr id="31" name="Text 26"/>
          <p:cNvSpPr txBox="1"/>
          <p:nvPr/>
        </p:nvSpPr>
        <p:spPr>
          <a:xfrm>
            <a:off x="7772400" y="3401568"/>
            <a:ext cx="822960" cy="256032"/>
          </a:xfrm>
          <a:prstGeom prst="rect">
            <a:avLst/>
          </a:prstGeom>
          <a:noFill/>
          <a:ln/>
        </p:spPr>
        <p:txBody>
          <a:bodyPr wrap="square" lIns="0" tIns="0" rIns="0" bIns="0" rtlCol="0" anchor="t"/>
          <a:lstStyle/>
          <a:p>
            <a:pPr algn="r" indent="0" marL="0">
              <a:buNone/>
            </a:pPr>
            <a:r>
              <a:rPr lang="en-US" sz="1050" b="1" dirty="0">
                <a:solidFill>
                  <a:schemeClr val="accent1"/>
                </a:solidFill>
                <a:latin typeface="Courier New" pitchFamily="34" charset="0"/>
                <a:ea typeface="Courier New" pitchFamily="34" charset="-122"/>
                <a:cs typeface="Courier New" pitchFamily="34" charset="-120"/>
              </a:rPr>
              <a:t>FALLBACK</a:t>
            </a:r>
            <a:endParaRPr lang="en-US" sz="1050" dirty="0"/>
          </a:p>
        </p:txBody>
      </p:sp>
      <p:sp>
        <p:nvSpPr>
          <p:cNvPr id="32" name="Text 27"/>
          <p:cNvSpPr txBox="1"/>
          <p:nvPr/>
        </p:nvSpPr>
        <p:spPr>
          <a:xfrm>
            <a:off x="5760720" y="3675888"/>
            <a:ext cx="2011680" cy="25603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LLM_BERICHT</a:t>
            </a:r>
            <a:endParaRPr lang="en-US" sz="1050" dirty="0"/>
          </a:p>
        </p:txBody>
      </p:sp>
      <p:sp>
        <p:nvSpPr>
          <p:cNvPr id="33" name="Text 28"/>
          <p:cNvSpPr txBox="1"/>
          <p:nvPr/>
        </p:nvSpPr>
        <p:spPr>
          <a:xfrm>
            <a:off x="7772400" y="3675888"/>
            <a:ext cx="822960" cy="256032"/>
          </a:xfrm>
          <a:prstGeom prst="rect">
            <a:avLst/>
          </a:prstGeom>
          <a:noFill/>
          <a:ln/>
        </p:spPr>
        <p:txBody>
          <a:bodyPr wrap="square" lIns="0" tIns="0" rIns="0" bIns="0" rtlCol="0" anchor="t"/>
          <a:lstStyle/>
          <a:p>
            <a:pPr algn="r" indent="0" marL="0">
              <a:buNone/>
            </a:pPr>
            <a:r>
              <a:rPr lang="en-US" sz="1050" b="1" dirty="0">
                <a:solidFill>
                  <a:schemeClr val="accent2"/>
                </a:solidFill>
                <a:latin typeface="Courier New" pitchFamily="34" charset="0"/>
                <a:ea typeface="Courier New" pitchFamily="34" charset="-122"/>
                <a:cs typeface="Courier New" pitchFamily="34" charset="-120"/>
              </a:rPr>
              <a:t>OK</a:t>
            </a:r>
            <a:endParaRPr lang="en-US" sz="1050" dirty="0"/>
          </a:p>
        </p:txBody>
      </p:sp>
      <p:sp>
        <p:nvSpPr>
          <p:cNvPr id="34" name="Text 29"/>
          <p:cNvSpPr txBox="1"/>
          <p:nvPr/>
        </p:nvSpPr>
        <p:spPr>
          <a:xfrm>
            <a:off x="5760720" y="3950208"/>
            <a:ext cx="2011680" cy="256032"/>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EMAIL_WERKSTATT</a:t>
            </a:r>
            <a:endParaRPr lang="en-US" sz="1050" dirty="0"/>
          </a:p>
        </p:txBody>
      </p:sp>
      <p:sp>
        <p:nvSpPr>
          <p:cNvPr id="35" name="Text 30"/>
          <p:cNvSpPr txBox="1"/>
          <p:nvPr/>
        </p:nvSpPr>
        <p:spPr>
          <a:xfrm>
            <a:off x="7772400" y="3950208"/>
            <a:ext cx="822960" cy="256032"/>
          </a:xfrm>
          <a:prstGeom prst="rect">
            <a:avLst/>
          </a:prstGeom>
          <a:noFill/>
          <a:ln/>
        </p:spPr>
        <p:txBody>
          <a:bodyPr wrap="square" lIns="0" tIns="0" rIns="0" bIns="0" rtlCol="0" anchor="t"/>
          <a:lstStyle/>
          <a:p>
            <a:pPr algn="r" indent="0" marL="0">
              <a:buNone/>
            </a:pPr>
            <a:r>
              <a:rPr lang="en-US" sz="1050" b="1" dirty="0">
                <a:solidFill>
                  <a:schemeClr val="accent2"/>
                </a:solidFill>
                <a:latin typeface="Courier New" pitchFamily="34" charset="0"/>
                <a:ea typeface="Courier New" pitchFamily="34" charset="-122"/>
                <a:cs typeface="Courier New" pitchFamily="34" charset="-120"/>
              </a:rPr>
              <a:t>OK</a:t>
            </a:r>
            <a:endParaRPr lang="en-US" sz="10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FEHLERBEHANDLUNG + ALERTS</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Drei Ebenen, damit kein Fehler unbemerkt bleibt</a:t>
            </a:r>
            <a:endParaRPr lang="en-US" sz="3000" dirty="0"/>
          </a:p>
        </p:txBody>
      </p:sp>
      <p:sp>
        <p:nvSpPr>
          <p:cNvPr id="4" name="Ebene 1"/>
          <p:cNvSpPr/>
          <p:nvPr/>
        </p:nvSpPr>
        <p:spPr>
          <a:xfrm>
            <a:off x="457200" y="1371600"/>
            <a:ext cx="2596896" cy="2971800"/>
          </a:xfrm>
          <a:prstGeom prst="roundRect">
            <a:avLst>
              <a:gd name="adj" fmla="val 2817"/>
            </a:avLst>
          </a:prstGeom>
          <a:solidFill>
            <a:schemeClr val="bg2"/>
          </a:solidFill>
          <a:ln w="12700">
            <a:solidFill>
              <a:schemeClr val="bg2"/>
            </a:solidFill>
            <a:prstDash val="solid"/>
          </a:ln>
        </p:spPr>
      </p:sp>
      <p:sp>
        <p:nvSpPr>
          <p:cNvPr id="5" name="Ebene 1: Fallback Kreis"/>
          <p:cNvSpPr/>
          <p:nvPr/>
        </p:nvSpPr>
        <p:spPr>
          <a:xfrm>
            <a:off x="685800" y="1600200"/>
            <a:ext cx="594360" cy="594360"/>
          </a:xfrm>
          <a:prstGeom prst="ellipse">
            <a:avLst/>
          </a:prstGeom>
          <a:solidFill>
            <a:schemeClr val="accent2"/>
          </a:solidFill>
          <a:ln w="12700">
            <a:solidFill>
              <a:schemeClr val="accent2"/>
            </a:solidFill>
            <a:prstDash val="solid"/>
          </a:ln>
        </p:spPr>
      </p:sp>
      <p:pic>
        <p:nvPicPr>
          <p:cNvPr id="6" name="Ebene 1: Fallback Symbol" descr="Ebene 1: Fallback">    </p:cNvPr>
          <p:cNvPicPr>
            <a:picLocks noChangeAspect="1"/>
          </p:cNvPicPr>
          <p:nvPr/>
        </p:nvPicPr>
        <p:blipFill>
          <a:blip r:embed="rId1"/>
          <a:stretch>
            <a:fillRect/>
          </a:stretch>
        </p:blipFill>
        <p:spPr>
          <a:xfrm>
            <a:off x="834390" y="1748790"/>
            <a:ext cx="297180" cy="297180"/>
          </a:xfrm>
          <a:prstGeom prst="rect">
            <a:avLst/>
          </a:prstGeom>
        </p:spPr>
      </p:pic>
      <p:sp>
        <p:nvSpPr>
          <p:cNvPr id="7" name="Text 4"/>
          <p:cNvSpPr txBox="1"/>
          <p:nvPr/>
        </p:nvSpPr>
        <p:spPr>
          <a:xfrm>
            <a:off x="685800" y="2331720"/>
            <a:ext cx="2194560" cy="365760"/>
          </a:xfrm>
          <a:prstGeom prst="rect">
            <a:avLst/>
          </a:prstGeom>
          <a:noFill/>
          <a:ln/>
        </p:spPr>
        <p:txBody>
          <a:bodyPr wrap="square" lIns="0" tIns="0" rIns="0" bIns="0" rtlCol="0" anchor="t"/>
          <a:lstStyle/>
          <a:p>
            <a:pPr indent="0" marL="0">
              <a:buNone/>
            </a:pPr>
            <a:r>
              <a:rPr lang="en-US" sz="1500" b="1" dirty="0">
                <a:solidFill>
                  <a:schemeClr val="tx2"/>
                </a:solidFill>
              </a:rPr>
              <a:t>Ebene 1: Fallback</a:t>
            </a:r>
            <a:endParaRPr lang="en-US" sz="1500" dirty="0"/>
          </a:p>
        </p:txBody>
      </p:sp>
      <p:sp>
        <p:nvSpPr>
          <p:cNvPr id="8" name="Text 5"/>
          <p:cNvSpPr txBox="1"/>
          <p:nvPr/>
        </p:nvSpPr>
        <p:spPr>
          <a:xfrm>
            <a:off x="685800" y="2743200"/>
            <a:ext cx="2194560" cy="1005840"/>
          </a:xfrm>
          <a:prstGeom prst="rect">
            <a:avLst/>
          </a:prstGeom>
          <a:noFill/>
          <a:ln/>
        </p:spPr>
        <p:txBody>
          <a:bodyPr wrap="square" lIns="0" tIns="0" rIns="0" bIns="0" rtlCol="0" anchor="t"/>
          <a:lstStyle/>
          <a:p>
            <a:pPr indent="0" marL="0">
              <a:buNone/>
            </a:pPr>
            <a:r>
              <a:rPr lang="en-US" sz="1250" dirty="0">
                <a:solidFill>
                  <a:schemeClr val="tx1"/>
                </a:solidFill>
              </a:rPr>
              <a:t>Ein Dienst fällt aus → Ersatzweg, Teilergebnis, Log-Eintrag. Der Kunde merkt nichts.</a:t>
            </a:r>
            <a:endParaRPr lang="en-US" sz="1250" dirty="0"/>
          </a:p>
        </p:txBody>
      </p:sp>
      <p:sp>
        <p:nvSpPr>
          <p:cNvPr id="9" name="Text 6"/>
          <p:cNvSpPr txBox="1"/>
          <p:nvPr/>
        </p:nvSpPr>
        <p:spPr>
          <a:xfrm>
            <a:off x="685800" y="3840480"/>
            <a:ext cx="2194560" cy="365760"/>
          </a:xfrm>
          <a:prstGeom prst="rect">
            <a:avLst/>
          </a:prstGeom>
          <a:noFill/>
          <a:ln/>
        </p:spPr>
        <p:txBody>
          <a:bodyPr wrap="square" lIns="0" tIns="0" rIns="0" bIns="0" rtlCol="0" anchor="t"/>
          <a:lstStyle/>
          <a:p>
            <a:pPr indent="0" marL="0">
              <a:buNone/>
            </a:pPr>
            <a:r>
              <a:rPr lang="en-US" sz="1100" i="1" dirty="0">
                <a:solidFill>
                  <a:schemeClr val="accent2"/>
                </a:solidFill>
              </a:rPr>
              <a:t>z. B. Kalender → Arbeitszeiten</a:t>
            </a:r>
            <a:endParaRPr lang="en-US" sz="1100" dirty="0"/>
          </a:p>
        </p:txBody>
      </p:sp>
      <p:sp>
        <p:nvSpPr>
          <p:cNvPr id="10" name="Ebene 2"/>
          <p:cNvSpPr/>
          <p:nvPr/>
        </p:nvSpPr>
        <p:spPr>
          <a:xfrm>
            <a:off x="3273552" y="1371600"/>
            <a:ext cx="2596896" cy="2971800"/>
          </a:xfrm>
          <a:prstGeom prst="roundRect">
            <a:avLst>
              <a:gd name="adj" fmla="val 2817"/>
            </a:avLst>
          </a:prstGeom>
          <a:solidFill>
            <a:schemeClr val="bg2"/>
          </a:solidFill>
          <a:ln w="12700">
            <a:solidFill>
              <a:schemeClr val="bg2"/>
            </a:solidFill>
            <a:prstDash val="solid"/>
          </a:ln>
        </p:spPr>
      </p:sp>
      <p:sp>
        <p:nvSpPr>
          <p:cNvPr id="11" name="Ebene 2: Alert-Mail Kreis"/>
          <p:cNvSpPr/>
          <p:nvPr/>
        </p:nvSpPr>
        <p:spPr>
          <a:xfrm>
            <a:off x="3502152" y="1600200"/>
            <a:ext cx="594360" cy="594360"/>
          </a:xfrm>
          <a:prstGeom prst="ellipse">
            <a:avLst/>
          </a:prstGeom>
          <a:solidFill>
            <a:schemeClr val="accent1"/>
          </a:solidFill>
          <a:ln w="12700">
            <a:solidFill>
              <a:schemeClr val="accent1"/>
            </a:solidFill>
            <a:prstDash val="solid"/>
          </a:ln>
        </p:spPr>
      </p:sp>
      <p:pic>
        <p:nvPicPr>
          <p:cNvPr id="12" name="Ebene 2: Alert-Mail Symbol" descr="Ebene 2: Alert-Mail">    </p:cNvPr>
          <p:cNvPicPr>
            <a:picLocks noChangeAspect="1"/>
          </p:cNvPicPr>
          <p:nvPr/>
        </p:nvPicPr>
        <p:blipFill>
          <a:blip r:embed="rId2"/>
          <a:stretch>
            <a:fillRect/>
          </a:stretch>
        </p:blipFill>
        <p:spPr>
          <a:xfrm>
            <a:off x="3650742" y="1748790"/>
            <a:ext cx="297180" cy="297180"/>
          </a:xfrm>
          <a:prstGeom prst="rect">
            <a:avLst/>
          </a:prstGeom>
        </p:spPr>
      </p:pic>
      <p:sp>
        <p:nvSpPr>
          <p:cNvPr id="13" name="Text 9"/>
          <p:cNvSpPr txBox="1"/>
          <p:nvPr/>
        </p:nvSpPr>
        <p:spPr>
          <a:xfrm>
            <a:off x="3502152" y="2331720"/>
            <a:ext cx="2194560" cy="365760"/>
          </a:xfrm>
          <a:prstGeom prst="rect">
            <a:avLst/>
          </a:prstGeom>
          <a:noFill/>
          <a:ln/>
        </p:spPr>
        <p:txBody>
          <a:bodyPr wrap="square" lIns="0" tIns="0" rIns="0" bIns="0" rtlCol="0" anchor="t"/>
          <a:lstStyle/>
          <a:p>
            <a:pPr indent="0" marL="0">
              <a:buNone/>
            </a:pPr>
            <a:r>
              <a:rPr lang="en-US" sz="1500" b="1" dirty="0">
                <a:solidFill>
                  <a:schemeClr val="tx2"/>
                </a:solidFill>
              </a:rPr>
              <a:t>Ebene 2: Alert-Mail</a:t>
            </a:r>
            <a:endParaRPr lang="en-US" sz="1500" dirty="0"/>
          </a:p>
        </p:txBody>
      </p:sp>
      <p:sp>
        <p:nvSpPr>
          <p:cNvPr id="14" name="Text 10"/>
          <p:cNvSpPr txBox="1"/>
          <p:nvPr/>
        </p:nvSpPr>
        <p:spPr>
          <a:xfrm>
            <a:off x="3502152" y="2743200"/>
            <a:ext cx="2194560" cy="1005840"/>
          </a:xfrm>
          <a:prstGeom prst="rect">
            <a:avLst/>
          </a:prstGeom>
          <a:noFill/>
          <a:ln/>
        </p:spPr>
        <p:txBody>
          <a:bodyPr wrap="square" lIns="0" tIns="0" rIns="0" bIns="0" rtlCol="0" anchor="t"/>
          <a:lstStyle/>
          <a:p>
            <a:pPr indent="0" marL="0">
              <a:buNone/>
            </a:pPr>
            <a:r>
              <a:rPr lang="en-US" sz="1250" dirty="0">
                <a:solidFill>
                  <a:schemeClr val="tx1"/>
                </a:solidFill>
              </a:rPr>
              <a:t>Kritischer Fehler (KI, Datenbank oder E-Mail) → Gmail an den Admin, mit Lauf-ID, ohne Kundendaten.</a:t>
            </a:r>
            <a:endParaRPr lang="en-US" sz="1250" dirty="0"/>
          </a:p>
        </p:txBody>
      </p:sp>
      <p:sp>
        <p:nvSpPr>
          <p:cNvPr id="15" name="Text 11"/>
          <p:cNvSpPr txBox="1"/>
          <p:nvPr/>
        </p:nvSpPr>
        <p:spPr>
          <a:xfrm>
            <a:off x="3502152" y="3840480"/>
            <a:ext cx="2194560" cy="365760"/>
          </a:xfrm>
          <a:prstGeom prst="rect">
            <a:avLst/>
          </a:prstGeom>
          <a:noFill/>
          <a:ln/>
        </p:spPr>
        <p:txBody>
          <a:bodyPr wrap="square" lIns="0" tIns="0" rIns="0" bIns="0" rtlCol="0" anchor="t"/>
          <a:lstStyle/>
          <a:p>
            <a:pPr indent="0" marL="0">
              <a:buNone/>
            </a:pPr>
            <a:r>
              <a:rPr lang="en-US" sz="1100" i="1" dirty="0">
                <a:solidFill>
                  <a:schemeClr val="accent1"/>
                </a:solidFill>
              </a:rPr>
              <a:t>z. B. OpenRouter-Schlüssel ungültig</a:t>
            </a:r>
            <a:endParaRPr lang="en-US" sz="1100" dirty="0"/>
          </a:p>
        </p:txBody>
      </p:sp>
      <p:sp>
        <p:nvSpPr>
          <p:cNvPr id="16" name="Ebene 3"/>
          <p:cNvSpPr/>
          <p:nvPr/>
        </p:nvSpPr>
        <p:spPr>
          <a:xfrm>
            <a:off x="6089904" y="1371600"/>
            <a:ext cx="2596896" cy="2971800"/>
          </a:xfrm>
          <a:prstGeom prst="roundRect">
            <a:avLst>
              <a:gd name="adj" fmla="val 2817"/>
            </a:avLst>
          </a:prstGeom>
          <a:solidFill>
            <a:schemeClr val="bg2"/>
          </a:solidFill>
          <a:ln w="12700">
            <a:solidFill>
              <a:schemeClr val="bg2"/>
            </a:solidFill>
            <a:prstDash val="solid"/>
          </a:ln>
        </p:spPr>
      </p:sp>
      <p:sp>
        <p:nvSpPr>
          <p:cNvPr id="17" name="Ebene 3: Fehler-Workflow Kreis"/>
          <p:cNvSpPr/>
          <p:nvPr/>
        </p:nvSpPr>
        <p:spPr>
          <a:xfrm>
            <a:off x="6318504" y="1600200"/>
            <a:ext cx="594360" cy="594360"/>
          </a:xfrm>
          <a:prstGeom prst="ellipse">
            <a:avLst/>
          </a:prstGeom>
          <a:solidFill>
            <a:schemeClr val="accent3"/>
          </a:solidFill>
          <a:ln w="12700">
            <a:solidFill>
              <a:schemeClr val="accent3"/>
            </a:solidFill>
            <a:prstDash val="solid"/>
          </a:ln>
        </p:spPr>
      </p:sp>
      <p:pic>
        <p:nvPicPr>
          <p:cNvPr id="18" name="Ebene 3: Fehler-Workflow Symbol" descr="Ebene 3: Fehler-Workflow">    </p:cNvPr>
          <p:cNvPicPr>
            <a:picLocks noChangeAspect="1"/>
          </p:cNvPicPr>
          <p:nvPr/>
        </p:nvPicPr>
        <p:blipFill>
          <a:blip r:embed="rId3"/>
          <a:stretch>
            <a:fillRect/>
          </a:stretch>
        </p:blipFill>
        <p:spPr>
          <a:xfrm>
            <a:off x="6467094" y="1748790"/>
            <a:ext cx="297180" cy="297180"/>
          </a:xfrm>
          <a:prstGeom prst="rect">
            <a:avLst/>
          </a:prstGeom>
        </p:spPr>
      </p:pic>
      <p:sp>
        <p:nvSpPr>
          <p:cNvPr id="19" name="Text 14"/>
          <p:cNvSpPr txBox="1"/>
          <p:nvPr/>
        </p:nvSpPr>
        <p:spPr>
          <a:xfrm>
            <a:off x="6318504" y="2331720"/>
            <a:ext cx="2194560" cy="365760"/>
          </a:xfrm>
          <a:prstGeom prst="rect">
            <a:avLst/>
          </a:prstGeom>
          <a:noFill/>
          <a:ln/>
        </p:spPr>
        <p:txBody>
          <a:bodyPr wrap="square" lIns="0" tIns="0" rIns="0" bIns="0" rtlCol="0" anchor="t"/>
          <a:lstStyle/>
          <a:p>
            <a:pPr indent="0" marL="0">
              <a:buNone/>
            </a:pPr>
            <a:r>
              <a:rPr lang="en-US" sz="1500" b="1" dirty="0">
                <a:solidFill>
                  <a:schemeClr val="tx2"/>
                </a:solidFill>
              </a:rPr>
              <a:t>Ebene 3: Fehler-Workflow</a:t>
            </a:r>
            <a:endParaRPr lang="en-US" sz="1500" dirty="0"/>
          </a:p>
        </p:txBody>
      </p:sp>
      <p:sp>
        <p:nvSpPr>
          <p:cNvPr id="20" name="Text 15"/>
          <p:cNvSpPr txBox="1"/>
          <p:nvPr/>
        </p:nvSpPr>
        <p:spPr>
          <a:xfrm>
            <a:off x="6318504" y="2743200"/>
            <a:ext cx="2194560" cy="1005840"/>
          </a:xfrm>
          <a:prstGeom prst="rect">
            <a:avLst/>
          </a:prstGeom>
          <a:noFill/>
          <a:ln/>
        </p:spPr>
        <p:txBody>
          <a:bodyPr wrap="square" lIns="0" tIns="0" rIns="0" bIns="0" rtlCol="0" anchor="t"/>
          <a:lstStyle/>
          <a:p>
            <a:pPr indent="0" marL="0">
              <a:buNone/>
            </a:pPr>
            <a:r>
              <a:rPr lang="en-US" sz="1250" dirty="0">
                <a:solidFill>
                  <a:schemeClr val="tx1"/>
                </a:solidFill>
              </a:rPr>
              <a:t>Der Workflow stürzt ab → eigener n8n-Fehler-Workflow meldet Node und Fehlermeldung.</a:t>
            </a:r>
            <a:endParaRPr lang="en-US" sz="1250" dirty="0"/>
          </a:p>
        </p:txBody>
      </p:sp>
      <p:sp>
        <p:nvSpPr>
          <p:cNvPr id="21" name="Text 16"/>
          <p:cNvSpPr txBox="1"/>
          <p:nvPr/>
        </p:nvSpPr>
        <p:spPr>
          <a:xfrm>
            <a:off x="6318504" y="3840480"/>
            <a:ext cx="2194560" cy="365760"/>
          </a:xfrm>
          <a:prstGeom prst="rect">
            <a:avLst/>
          </a:prstGeom>
          <a:noFill/>
          <a:ln/>
        </p:spPr>
        <p:txBody>
          <a:bodyPr wrap="square" lIns="0" tIns="0" rIns="0" bIns="0" rtlCol="0" anchor="t"/>
          <a:lstStyle/>
          <a:p>
            <a:pPr indent="0" marL="0">
              <a:buNone/>
            </a:pPr>
            <a:r>
              <a:rPr lang="en-US" sz="1100" i="1" dirty="0">
                <a:solidFill>
                  <a:schemeClr val="accent3"/>
                </a:solidFill>
              </a:rPr>
              <a:t>z. B. Code-Fehler nach Änderung</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1"/>
                </a:solidFill>
              </a:rPr>
              <a:t>LIVE-DEMO</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bg1"/>
                </a:solidFill>
              </a:rPr>
              <a:t>Live-Demo: eine Anfrage auf Türkisch</a:t>
            </a:r>
            <a:endParaRPr lang="en-US" sz="3000" dirty="0"/>
          </a:p>
        </p:txBody>
      </p:sp>
      <p:sp>
        <p:nvSpPr>
          <p:cNvPr id="4" name="Demo 1"/>
          <p:cNvSpPr/>
          <p:nvPr/>
        </p:nvSpPr>
        <p:spPr>
          <a:xfrm>
            <a:off x="457200" y="132588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457200" y="132588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6" name="Text 4"/>
          <p:cNvSpPr txBox="1"/>
          <p:nvPr/>
        </p:nvSpPr>
        <p:spPr>
          <a:xfrm>
            <a:off x="1143000" y="1307592"/>
            <a:ext cx="4572000" cy="274320"/>
          </a:xfrm>
          <a:prstGeom prst="rect">
            <a:avLst/>
          </a:prstGeom>
          <a:noFill/>
          <a:ln/>
        </p:spPr>
        <p:txBody>
          <a:bodyPr wrap="square" lIns="0" tIns="0" rIns="0" bIns="0" rtlCol="0" anchor="t"/>
          <a:lstStyle/>
          <a:p>
            <a:pPr indent="0" marL="0">
              <a:buNone/>
            </a:pPr>
            <a:r>
              <a:rPr lang="en-US" sz="1500" b="1" dirty="0">
                <a:solidFill>
                  <a:schemeClr val="bg1"/>
                </a:solidFill>
              </a:rPr>
              <a:t>Demo-Start</a:t>
            </a:r>
            <a:endParaRPr lang="en-US" sz="1500" dirty="0"/>
          </a:p>
        </p:txBody>
      </p:sp>
      <p:sp>
        <p:nvSpPr>
          <p:cNvPr id="7" name="Text 5"/>
          <p:cNvSpPr txBox="1"/>
          <p:nvPr/>
        </p:nvSpPr>
        <p:spPr>
          <a:xfrm>
            <a:off x="1143000" y="1581912"/>
            <a:ext cx="4754880" cy="320040"/>
          </a:xfrm>
          <a:prstGeom prst="rect">
            <a:avLst/>
          </a:prstGeom>
          <a:noFill/>
          <a:ln/>
        </p:spPr>
        <p:txBody>
          <a:bodyPr wrap="square" lIns="0" tIns="0" rIns="0" bIns="0" rtlCol="0" anchor="t"/>
          <a:lstStyle/>
          <a:p>
            <a:pPr indent="0" marL="0">
              <a:buNone/>
            </a:pPr>
            <a:r>
              <a:rPr lang="en-US" sz="1200" dirty="0">
                <a:solidFill>
                  <a:schemeClr val="bg2"/>
                </a:solidFill>
              </a:rPr>
              <a:t>Türkischer Kundentext · BMW X3 2011 · 185.000 km · OBD2 P0300</a:t>
            </a:r>
            <a:endParaRPr lang="en-US" sz="1200" dirty="0"/>
          </a:p>
        </p:txBody>
      </p:sp>
      <p:sp>
        <p:nvSpPr>
          <p:cNvPr id="8" name="Demo 2"/>
          <p:cNvSpPr/>
          <p:nvPr/>
        </p:nvSpPr>
        <p:spPr>
          <a:xfrm>
            <a:off x="457200" y="2075688"/>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457200" y="2075688"/>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10" name="Text 8"/>
          <p:cNvSpPr txBox="1"/>
          <p:nvPr/>
        </p:nvSpPr>
        <p:spPr>
          <a:xfrm>
            <a:off x="1143000" y="2057400"/>
            <a:ext cx="4572000" cy="274320"/>
          </a:xfrm>
          <a:prstGeom prst="rect">
            <a:avLst/>
          </a:prstGeom>
          <a:noFill/>
          <a:ln/>
        </p:spPr>
        <p:txBody>
          <a:bodyPr wrap="square" lIns="0" tIns="0" rIns="0" bIns="0" rtlCol="0" anchor="t"/>
          <a:lstStyle/>
          <a:p>
            <a:pPr indent="0" marL="0">
              <a:buNone/>
            </a:pPr>
            <a:r>
              <a:rPr lang="en-US" sz="1500" b="1" dirty="0">
                <a:solidFill>
                  <a:schemeClr val="bg1"/>
                </a:solidFill>
              </a:rPr>
              <a:t>Workflow beobachten</a:t>
            </a:r>
            <a:endParaRPr lang="en-US" sz="1500" dirty="0"/>
          </a:p>
        </p:txBody>
      </p:sp>
      <p:sp>
        <p:nvSpPr>
          <p:cNvPr id="11" name="Text 9"/>
          <p:cNvSpPr txBox="1"/>
          <p:nvPr/>
        </p:nvSpPr>
        <p:spPr>
          <a:xfrm>
            <a:off x="1143000" y="2331720"/>
            <a:ext cx="4754880" cy="320040"/>
          </a:xfrm>
          <a:prstGeom prst="rect">
            <a:avLst/>
          </a:prstGeom>
          <a:noFill/>
          <a:ln/>
        </p:spPr>
        <p:txBody>
          <a:bodyPr wrap="square" lIns="0" tIns="0" rIns="0" bIns="0" rtlCol="0" anchor="t"/>
          <a:lstStyle/>
          <a:p>
            <a:pPr indent="0" marL="0">
              <a:buNone/>
            </a:pPr>
            <a:r>
              <a:rPr lang="en-US" sz="1200" dirty="0">
                <a:solidFill>
                  <a:schemeClr val="bg2"/>
                </a:solidFill>
              </a:rPr>
              <a:t>Alle 7 Stufen auf dem n8n-Canvas, Node 30 = Ergebnis</a:t>
            </a:r>
            <a:endParaRPr lang="en-US" sz="1200" dirty="0"/>
          </a:p>
        </p:txBody>
      </p:sp>
      <p:sp>
        <p:nvSpPr>
          <p:cNvPr id="12" name="Demo 3"/>
          <p:cNvSpPr/>
          <p:nvPr/>
        </p:nvSpPr>
        <p:spPr>
          <a:xfrm>
            <a:off x="457200" y="2825496"/>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457200" y="2825496"/>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4" name="Text 12"/>
          <p:cNvSpPr txBox="1"/>
          <p:nvPr/>
        </p:nvSpPr>
        <p:spPr>
          <a:xfrm>
            <a:off x="1143000" y="2807208"/>
            <a:ext cx="4572000" cy="274320"/>
          </a:xfrm>
          <a:prstGeom prst="rect">
            <a:avLst/>
          </a:prstGeom>
          <a:noFill/>
          <a:ln/>
        </p:spPr>
        <p:txBody>
          <a:bodyPr wrap="square" lIns="0" tIns="0" rIns="0" bIns="0" rtlCol="0" anchor="t"/>
          <a:lstStyle/>
          <a:p>
            <a:pPr indent="0" marL="0">
              <a:buNone/>
            </a:pPr>
            <a:r>
              <a:rPr lang="en-US" sz="1500" b="1" dirty="0">
                <a:solidFill>
                  <a:schemeClr val="bg1"/>
                </a:solidFill>
              </a:rPr>
              <a:t>E-Mail im Postfach</a:t>
            </a:r>
            <a:endParaRPr lang="en-US" sz="1500" dirty="0"/>
          </a:p>
        </p:txBody>
      </p:sp>
      <p:sp>
        <p:nvSpPr>
          <p:cNvPr id="15" name="Text 13"/>
          <p:cNvSpPr txBox="1"/>
          <p:nvPr/>
        </p:nvSpPr>
        <p:spPr>
          <a:xfrm>
            <a:off x="1143000" y="3081528"/>
            <a:ext cx="4754880" cy="320040"/>
          </a:xfrm>
          <a:prstGeom prst="rect">
            <a:avLst/>
          </a:prstGeom>
          <a:noFill/>
          <a:ln/>
        </p:spPr>
        <p:txBody>
          <a:bodyPr wrap="square" lIns="0" tIns="0" rIns="0" bIns="0" rtlCol="0" anchor="t"/>
          <a:lstStyle/>
          <a:p>
            <a:pPr indent="0" marL="0">
              <a:buNone/>
            </a:pPr>
            <a:r>
              <a:rPr lang="en-US" sz="1200" dirty="0">
                <a:solidFill>
                  <a:schemeClr val="bg2"/>
                </a:solidFill>
              </a:rPr>
              <a:t>Bericht mit Ursachen, Kosten, Empfehlung, Terminen, Antwort auf Türkisch</a:t>
            </a:r>
            <a:endParaRPr lang="en-US" sz="1200" dirty="0"/>
          </a:p>
        </p:txBody>
      </p:sp>
      <p:sp>
        <p:nvSpPr>
          <p:cNvPr id="16" name="Demo 4"/>
          <p:cNvSpPr/>
          <p:nvPr/>
        </p:nvSpPr>
        <p:spPr>
          <a:xfrm>
            <a:off x="457200" y="3575304"/>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457200" y="3575304"/>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18" name="Text 16"/>
          <p:cNvSpPr txBox="1"/>
          <p:nvPr/>
        </p:nvSpPr>
        <p:spPr>
          <a:xfrm>
            <a:off x="1143000" y="3557016"/>
            <a:ext cx="4572000" cy="274320"/>
          </a:xfrm>
          <a:prstGeom prst="rect">
            <a:avLst/>
          </a:prstGeom>
          <a:noFill/>
          <a:ln/>
        </p:spPr>
        <p:txBody>
          <a:bodyPr wrap="square" lIns="0" tIns="0" rIns="0" bIns="0" rtlCol="0" anchor="t"/>
          <a:lstStyle/>
          <a:p>
            <a:pPr indent="0" marL="0">
              <a:buNone/>
            </a:pPr>
            <a:r>
              <a:rPr lang="en-US" sz="1500" b="1" dirty="0">
                <a:solidFill>
                  <a:schemeClr val="bg1"/>
                </a:solidFill>
              </a:rPr>
              <a:t>Supabase</a:t>
            </a:r>
            <a:endParaRPr lang="en-US" sz="1500" dirty="0"/>
          </a:p>
        </p:txBody>
      </p:sp>
      <p:sp>
        <p:nvSpPr>
          <p:cNvPr id="19" name="Text 17"/>
          <p:cNvSpPr txBox="1"/>
          <p:nvPr/>
        </p:nvSpPr>
        <p:spPr>
          <a:xfrm>
            <a:off x="1143000" y="3831336"/>
            <a:ext cx="4754880" cy="320040"/>
          </a:xfrm>
          <a:prstGeom prst="rect">
            <a:avLst/>
          </a:prstGeom>
          <a:noFill/>
          <a:ln/>
        </p:spPr>
        <p:txBody>
          <a:bodyPr wrap="square" lIns="0" tIns="0" rIns="0" bIns="0" rtlCol="0" anchor="t"/>
          <a:lstStyle/>
          <a:p>
            <a:pPr indent="0" marL="0">
              <a:buNone/>
            </a:pPr>
            <a:r>
              <a:rPr lang="en-US" sz="1200" dirty="0">
                <a:solidFill>
                  <a:schemeClr val="bg2"/>
                </a:solidFill>
              </a:rPr>
              <a:t>Neue Zeile in autoscan_runs, Schritte in autoscan_logs, Kosten in der Statistik</a:t>
            </a:r>
            <a:endParaRPr lang="en-US" sz="1200" dirty="0"/>
          </a:p>
        </p:txBody>
      </p:sp>
      <p:sp>
        <p:nvSpPr>
          <p:cNvPr id="20" name="Plan B"/>
          <p:cNvSpPr/>
          <p:nvPr/>
        </p:nvSpPr>
        <p:spPr>
          <a:xfrm>
            <a:off x="6126480" y="1325880"/>
            <a:ext cx="2560320" cy="2651760"/>
          </a:xfrm>
          <a:prstGeom prst="roundRect">
            <a:avLst>
              <a:gd name="adj" fmla="val 2857"/>
            </a:avLst>
          </a:prstGeom>
          <a:solidFill>
            <a:srgbClr val="22325A"/>
          </a:solidFill>
          <a:ln w="12700">
            <a:solidFill>
              <a:srgbClr val="22325A"/>
            </a:solidFill>
            <a:prstDash val="solid"/>
          </a:ln>
        </p:spPr>
      </p:sp>
      <p:sp>
        <p:nvSpPr>
          <p:cNvPr id="21" name="Text 19"/>
          <p:cNvSpPr txBox="1"/>
          <p:nvPr/>
        </p:nvSpPr>
        <p:spPr>
          <a:xfrm>
            <a:off x="6309360" y="1463040"/>
            <a:ext cx="2286000" cy="2377440"/>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Plan B</a:t>
            </a:r>
            <a:endParaRPr lang="en-US" sz="1250" dirty="0"/>
          </a:p>
          <a:p>
            <a:pPr marL="342900" indent="-342900">
              <a:spcAft>
                <a:spcPts val="600"/>
              </a:spcAft>
              <a:buSzPct val="100000"/>
              <a:buChar char="•"/>
            </a:pPr>
            <a:r>
              <a:rPr lang="en-US" sz="1250" dirty="0">
                <a:solidFill>
                  <a:schemeClr val="bg1"/>
                </a:solidFill>
              </a:rPr>
              <a:t>Vorbereiteter Lauf in n8n-Executions</a:t>
            </a:r>
            <a:endParaRPr lang="en-US" sz="1250" dirty="0"/>
          </a:p>
          <a:p>
            <a:pPr marL="342900" indent="-342900">
              <a:spcAft>
                <a:spcPts val="600"/>
              </a:spcAft>
              <a:buSzPct val="100000"/>
              <a:buChar char="•"/>
            </a:pPr>
            <a:r>
              <a:rPr lang="en-US" sz="1250" dirty="0">
                <a:solidFill>
                  <a:schemeClr val="bg1"/>
                </a:solidFill>
              </a:rPr>
              <a:t>E-Mail der Generalprobe</a:t>
            </a:r>
            <a:endParaRPr lang="en-US" sz="1250" dirty="0"/>
          </a:p>
          <a:p>
            <a:pPr marL="342900" indent="-342900">
              <a:spcAft>
                <a:spcPts val="600"/>
              </a:spcAft>
              <a:buSzPct val="100000"/>
              <a:buChar char="•"/>
            </a:pPr>
            <a:r>
              <a:rPr lang="en-US" sz="1250" dirty="0">
                <a:solidFill>
                  <a:schemeClr val="bg1"/>
                </a:solidFill>
              </a:rPr>
              <a:t>Supabase-Tabellen live zeigen</a:t>
            </a:r>
            <a:endParaRPr lang="en-US" sz="12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F2F4F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ENTSCHEIDUNGSHILFE</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Reparieren oder verkaufen? Eine Regel entscheidet</a:t>
            </a:r>
            <a:endParaRPr lang="en-US" sz="3000" dirty="0"/>
          </a:p>
        </p:txBody>
      </p:sp>
      <p:sp>
        <p:nvSpPr>
          <p:cNvPr id="4" name="Zone Reparieren"/>
          <p:cNvSpPr/>
          <p:nvPr/>
        </p:nvSpPr>
        <p:spPr>
          <a:xfrm>
            <a:off x="457200" y="1463040"/>
            <a:ext cx="2468880" cy="685800"/>
          </a:xfrm>
          <a:prstGeom prst="rect">
            <a:avLst/>
          </a:prstGeom>
          <a:solidFill>
            <a:schemeClr val="accent2"/>
          </a:solidFill>
          <a:ln w="25400">
            <a:solidFill>
              <a:srgbClr val="FFFFFF"/>
            </a:solidFill>
            <a:prstDash val="solid"/>
          </a:ln>
        </p:spPr>
      </p:sp>
      <p:sp>
        <p:nvSpPr>
          <p:cNvPr id="5" name="Text 3"/>
          <p:cNvSpPr txBox="1"/>
          <p:nvPr/>
        </p:nvSpPr>
        <p:spPr>
          <a:xfrm>
            <a:off x="594360" y="1463040"/>
            <a:ext cx="2194560" cy="685800"/>
          </a:xfrm>
          <a:prstGeom prst="rect">
            <a:avLst/>
          </a:prstGeom>
          <a:noFill/>
          <a:ln/>
        </p:spPr>
        <p:txBody>
          <a:bodyPr wrap="square" lIns="0" tIns="0" rIns="0" bIns="0" rtlCol="0" anchor="ctr"/>
          <a:lstStyle/>
          <a:p>
            <a:pPr indent="0" marL="0">
              <a:buNone/>
            </a:pPr>
            <a:r>
              <a:rPr lang="en-US" sz="1500" b="1" dirty="0">
                <a:solidFill>
                  <a:schemeClr val="bg1"/>
                </a:solidFill>
              </a:rPr>
              <a:t>&lt; 30 %  </a:t>
            </a:r>
            <a:pPr indent="0" marL="0">
              <a:buNone/>
            </a:pPr>
            <a:r>
              <a:rPr lang="en-US" sz="1500" dirty="0">
                <a:solidFill>
                  <a:schemeClr val="bg1"/>
                </a:solidFill>
              </a:rPr>
              <a:t>Reparieren</a:t>
            </a:r>
            <a:endParaRPr lang="en-US" sz="1500" dirty="0"/>
          </a:p>
        </p:txBody>
      </p:sp>
      <p:sp>
        <p:nvSpPr>
          <p:cNvPr id="6" name="Zone Abwägen"/>
          <p:cNvSpPr/>
          <p:nvPr/>
        </p:nvSpPr>
        <p:spPr>
          <a:xfrm>
            <a:off x="2926080" y="1463040"/>
            <a:ext cx="3291840" cy="685800"/>
          </a:xfrm>
          <a:prstGeom prst="rect">
            <a:avLst/>
          </a:prstGeom>
          <a:solidFill>
            <a:schemeClr val="accent1"/>
          </a:solidFill>
          <a:ln w="25400">
            <a:solidFill>
              <a:srgbClr val="FFFFFF"/>
            </a:solidFill>
            <a:prstDash val="solid"/>
          </a:ln>
        </p:spPr>
      </p:sp>
      <p:sp>
        <p:nvSpPr>
          <p:cNvPr id="7" name="Text 5"/>
          <p:cNvSpPr txBox="1"/>
          <p:nvPr/>
        </p:nvSpPr>
        <p:spPr>
          <a:xfrm>
            <a:off x="3063240" y="1463040"/>
            <a:ext cx="3017520" cy="685800"/>
          </a:xfrm>
          <a:prstGeom prst="rect">
            <a:avLst/>
          </a:prstGeom>
          <a:noFill/>
          <a:ln/>
        </p:spPr>
        <p:txBody>
          <a:bodyPr wrap="square" lIns="0" tIns="0" rIns="0" bIns="0" rtlCol="0" anchor="ctr"/>
          <a:lstStyle/>
          <a:p>
            <a:pPr indent="0" marL="0">
              <a:buNone/>
            </a:pPr>
            <a:r>
              <a:rPr lang="en-US" sz="1500" b="1" dirty="0">
                <a:solidFill>
                  <a:schemeClr val="tx2"/>
                </a:solidFill>
              </a:rPr>
              <a:t>30–70 %  </a:t>
            </a:r>
            <a:pPr indent="0" marL="0">
              <a:buNone/>
            </a:pPr>
            <a:r>
              <a:rPr lang="en-US" sz="1500" dirty="0">
                <a:solidFill>
                  <a:schemeClr val="tx2"/>
                </a:solidFill>
              </a:rPr>
              <a:t>Abwägen</a:t>
            </a:r>
            <a:endParaRPr lang="en-US" sz="1500" dirty="0"/>
          </a:p>
        </p:txBody>
      </p:sp>
      <p:sp>
        <p:nvSpPr>
          <p:cNvPr id="8" name="Zone Verkauf erwägen"/>
          <p:cNvSpPr/>
          <p:nvPr/>
        </p:nvSpPr>
        <p:spPr>
          <a:xfrm>
            <a:off x="6217920" y="1463040"/>
            <a:ext cx="2468880" cy="685800"/>
          </a:xfrm>
          <a:prstGeom prst="rect">
            <a:avLst/>
          </a:prstGeom>
          <a:solidFill>
            <a:schemeClr val="accent3"/>
          </a:solidFill>
          <a:ln w="25400">
            <a:solidFill>
              <a:srgbClr val="FFFFFF"/>
            </a:solidFill>
            <a:prstDash val="solid"/>
          </a:ln>
        </p:spPr>
      </p:sp>
      <p:sp>
        <p:nvSpPr>
          <p:cNvPr id="9" name="Text 7"/>
          <p:cNvSpPr txBox="1"/>
          <p:nvPr/>
        </p:nvSpPr>
        <p:spPr>
          <a:xfrm>
            <a:off x="6355080" y="1463040"/>
            <a:ext cx="2194560" cy="685800"/>
          </a:xfrm>
          <a:prstGeom prst="rect">
            <a:avLst/>
          </a:prstGeom>
          <a:noFill/>
          <a:ln/>
        </p:spPr>
        <p:txBody>
          <a:bodyPr wrap="square" lIns="0" tIns="0" rIns="0" bIns="0" rtlCol="0" anchor="ctr"/>
          <a:lstStyle/>
          <a:p>
            <a:pPr indent="0" marL="0">
              <a:buNone/>
            </a:pPr>
            <a:r>
              <a:rPr lang="en-US" sz="1500" b="1" dirty="0">
                <a:solidFill>
                  <a:schemeClr val="bg1"/>
                </a:solidFill>
              </a:rPr>
              <a:t>&gt; 70 %  </a:t>
            </a:r>
            <a:pPr indent="0" marL="0">
              <a:buNone/>
            </a:pPr>
            <a:r>
              <a:rPr lang="en-US" sz="1500" dirty="0">
                <a:solidFill>
                  <a:schemeClr val="bg1"/>
                </a:solidFill>
              </a:rPr>
              <a:t>Verkauf erwägen</a:t>
            </a:r>
            <a:endParaRPr lang="en-US" sz="1500" dirty="0"/>
          </a:p>
        </p:txBody>
      </p:sp>
      <p:sp>
        <p:nvSpPr>
          <p:cNvPr id="10" name="Text 8"/>
          <p:cNvSpPr txBox="1"/>
          <p:nvPr/>
        </p:nvSpPr>
        <p:spPr>
          <a:xfrm>
            <a:off x="457200" y="2240280"/>
            <a:ext cx="8229600" cy="274320"/>
          </a:xfrm>
          <a:prstGeom prst="rect">
            <a:avLst/>
          </a:prstGeom>
          <a:noFill/>
          <a:ln/>
        </p:spPr>
        <p:txBody>
          <a:bodyPr wrap="square" lIns="0" tIns="0" rIns="0" bIns="0" rtlCol="0" anchor="t"/>
          <a:lstStyle/>
          <a:p>
            <a:pPr indent="0" marL="0">
              <a:buNone/>
            </a:pPr>
            <a:r>
              <a:rPr lang="en-US" sz="1100" i="1" dirty="0">
                <a:solidFill>
                  <a:schemeClr val="accent5"/>
                </a:solidFill>
              </a:rPr>
              <a:t>Reparaturkosten (max.) im Verhältnis zum geschätzten Fahrzeugwert</a:t>
            </a:r>
            <a:endParaRPr lang="en-US" sz="1100" dirty="0"/>
          </a:p>
        </p:txBody>
      </p:sp>
      <p:sp>
        <p:nvSpPr>
          <p:cNvPr id="11" name="Beispiel Kosten"/>
          <p:cNvSpPr/>
          <p:nvPr/>
        </p:nvSpPr>
        <p:spPr>
          <a:xfrm>
            <a:off x="457200" y="2697480"/>
            <a:ext cx="2596896" cy="1417320"/>
          </a:xfrm>
          <a:prstGeom prst="roundRect">
            <a:avLst>
              <a:gd name="adj" fmla="val 5161"/>
            </a:avLst>
          </a:prstGeom>
          <a:solidFill>
            <a:schemeClr val="bg2"/>
          </a:solidFill>
          <a:ln w="12700">
            <a:solidFill>
              <a:schemeClr val="bg2"/>
            </a:solidFill>
            <a:prstDash val="solid"/>
          </a:ln>
        </p:spPr>
      </p:sp>
      <p:sp>
        <p:nvSpPr>
          <p:cNvPr id="12" name="Text 10"/>
          <p:cNvSpPr txBox="1"/>
          <p:nvPr/>
        </p:nvSpPr>
        <p:spPr>
          <a:xfrm>
            <a:off x="640080" y="2788920"/>
            <a:ext cx="2286000" cy="274320"/>
          </a:xfrm>
          <a:prstGeom prst="rect">
            <a:avLst/>
          </a:prstGeom>
          <a:noFill/>
          <a:ln/>
        </p:spPr>
        <p:txBody>
          <a:bodyPr wrap="square" lIns="0" tIns="0" rIns="0" bIns="0" rtlCol="0" anchor="t"/>
          <a:lstStyle/>
          <a:p>
            <a:pPr indent="0" marL="0">
              <a:buNone/>
            </a:pPr>
            <a:r>
              <a:rPr lang="en-US" sz="1200" b="1" dirty="0">
                <a:solidFill>
                  <a:schemeClr val="accent5"/>
                </a:solidFill>
              </a:rPr>
              <a:t>Kosten</a:t>
            </a:r>
            <a:endParaRPr lang="en-US" sz="1200" dirty="0"/>
          </a:p>
        </p:txBody>
      </p:sp>
      <p:sp>
        <p:nvSpPr>
          <p:cNvPr id="13" name="Text 11"/>
          <p:cNvSpPr txBox="1"/>
          <p:nvPr/>
        </p:nvSpPr>
        <p:spPr>
          <a:xfrm>
            <a:off x="640080" y="3063240"/>
            <a:ext cx="2286000" cy="457200"/>
          </a:xfrm>
          <a:prstGeom prst="rect">
            <a:avLst/>
          </a:prstGeom>
          <a:noFill/>
          <a:ln/>
        </p:spPr>
        <p:txBody>
          <a:bodyPr wrap="square" lIns="0" tIns="0" rIns="0" bIns="0" rtlCol="0" anchor="t"/>
          <a:lstStyle/>
          <a:p>
            <a:pPr indent="0" marL="0">
              <a:buNone/>
            </a:pPr>
            <a:r>
              <a:rPr lang="en-US" sz="2400" b="1" dirty="0">
                <a:solidFill>
                  <a:schemeClr val="tx2"/>
                </a:solidFill>
              </a:rPr>
              <a:t>195–538 €</a:t>
            </a:r>
            <a:endParaRPr lang="en-US" sz="2400" dirty="0"/>
          </a:p>
        </p:txBody>
      </p:sp>
      <p:sp>
        <p:nvSpPr>
          <p:cNvPr id="14" name="Text 12"/>
          <p:cNvSpPr txBox="1"/>
          <p:nvPr/>
        </p:nvSpPr>
        <p:spPr>
          <a:xfrm>
            <a:off x="640080" y="3566160"/>
            <a:ext cx="2286000" cy="457200"/>
          </a:xfrm>
          <a:prstGeom prst="rect">
            <a:avLst/>
          </a:prstGeom>
          <a:noFill/>
          <a:ln/>
        </p:spPr>
        <p:txBody>
          <a:bodyPr wrap="square" lIns="0" tIns="0" rIns="0" bIns="0" rtlCol="0" anchor="t"/>
          <a:lstStyle/>
          <a:p>
            <a:pPr indent="0" marL="0">
              <a:buNone/>
            </a:pPr>
            <a:r>
              <a:rPr lang="en-US" sz="1150" dirty="0">
                <a:solidFill>
                  <a:schemeClr val="tx1"/>
                </a:solidFill>
              </a:rPr>
              <a:t>Teile aus Katalog + Arbeitszeit × 95 €/h</a:t>
            </a:r>
            <a:endParaRPr lang="en-US" sz="1150" dirty="0"/>
          </a:p>
        </p:txBody>
      </p:sp>
      <p:sp>
        <p:nvSpPr>
          <p:cNvPr id="15" name="Beispiel Fahrzeugwert"/>
          <p:cNvSpPr/>
          <p:nvPr/>
        </p:nvSpPr>
        <p:spPr>
          <a:xfrm>
            <a:off x="3273552" y="2697480"/>
            <a:ext cx="2596896" cy="1417320"/>
          </a:xfrm>
          <a:prstGeom prst="roundRect">
            <a:avLst>
              <a:gd name="adj" fmla="val 5161"/>
            </a:avLst>
          </a:prstGeom>
          <a:solidFill>
            <a:schemeClr val="bg2"/>
          </a:solidFill>
          <a:ln w="12700">
            <a:solidFill>
              <a:schemeClr val="bg2"/>
            </a:solidFill>
            <a:prstDash val="solid"/>
          </a:ln>
        </p:spPr>
      </p:sp>
      <p:sp>
        <p:nvSpPr>
          <p:cNvPr id="16" name="Text 14"/>
          <p:cNvSpPr txBox="1"/>
          <p:nvPr/>
        </p:nvSpPr>
        <p:spPr>
          <a:xfrm>
            <a:off x="3456432" y="2788920"/>
            <a:ext cx="2286000" cy="274320"/>
          </a:xfrm>
          <a:prstGeom prst="rect">
            <a:avLst/>
          </a:prstGeom>
          <a:noFill/>
          <a:ln/>
        </p:spPr>
        <p:txBody>
          <a:bodyPr wrap="square" lIns="0" tIns="0" rIns="0" bIns="0" rtlCol="0" anchor="t"/>
          <a:lstStyle/>
          <a:p>
            <a:pPr indent="0" marL="0">
              <a:buNone/>
            </a:pPr>
            <a:r>
              <a:rPr lang="en-US" sz="1200" b="1" dirty="0">
                <a:solidFill>
                  <a:schemeClr val="accent5"/>
                </a:solidFill>
              </a:rPr>
              <a:t>Fahrzeugwert</a:t>
            </a:r>
            <a:endParaRPr lang="en-US" sz="1200" dirty="0"/>
          </a:p>
        </p:txBody>
      </p:sp>
      <p:sp>
        <p:nvSpPr>
          <p:cNvPr id="17" name="Text 15"/>
          <p:cNvSpPr txBox="1"/>
          <p:nvPr/>
        </p:nvSpPr>
        <p:spPr>
          <a:xfrm>
            <a:off x="3456432" y="3063240"/>
            <a:ext cx="2286000" cy="457200"/>
          </a:xfrm>
          <a:prstGeom prst="rect">
            <a:avLst/>
          </a:prstGeom>
          <a:noFill/>
          <a:ln/>
        </p:spPr>
        <p:txBody>
          <a:bodyPr wrap="square" lIns="0" tIns="0" rIns="0" bIns="0" rtlCol="0" anchor="t"/>
          <a:lstStyle/>
          <a:p>
            <a:pPr indent="0" marL="0">
              <a:buNone/>
            </a:pPr>
            <a:r>
              <a:rPr lang="en-US" sz="2400" b="1" dirty="0">
                <a:solidFill>
                  <a:schemeClr val="tx2"/>
                </a:solidFill>
              </a:rPr>
              <a:t>6.000–9.000 €</a:t>
            </a:r>
            <a:endParaRPr lang="en-US" sz="2400" dirty="0"/>
          </a:p>
        </p:txBody>
      </p:sp>
      <p:sp>
        <p:nvSpPr>
          <p:cNvPr id="18" name="Text 16"/>
          <p:cNvSpPr txBox="1"/>
          <p:nvPr/>
        </p:nvSpPr>
        <p:spPr>
          <a:xfrm>
            <a:off x="3456432" y="3566160"/>
            <a:ext cx="2286000" cy="457200"/>
          </a:xfrm>
          <a:prstGeom prst="rect">
            <a:avLst/>
          </a:prstGeom>
          <a:noFill/>
          <a:ln/>
        </p:spPr>
        <p:txBody>
          <a:bodyPr wrap="square" lIns="0" tIns="0" rIns="0" bIns="0" rtlCol="0" anchor="t"/>
          <a:lstStyle/>
          <a:p>
            <a:pPr indent="0" marL="0">
              <a:buNone/>
            </a:pPr>
            <a:r>
              <a:rPr lang="en-US" sz="1150" dirty="0">
                <a:solidFill>
                  <a:schemeClr val="tx1"/>
                </a:solidFill>
              </a:rPr>
              <a:t>KI-Schätzung aus Modell, Jahr, km</a:t>
            </a:r>
            <a:endParaRPr lang="en-US" sz="1150" dirty="0"/>
          </a:p>
        </p:txBody>
      </p:sp>
      <p:sp>
        <p:nvSpPr>
          <p:cNvPr id="19" name="Beispiel Ergebnis"/>
          <p:cNvSpPr/>
          <p:nvPr/>
        </p:nvSpPr>
        <p:spPr>
          <a:xfrm>
            <a:off x="6089904" y="2697480"/>
            <a:ext cx="2596896" cy="1417320"/>
          </a:xfrm>
          <a:prstGeom prst="roundRect">
            <a:avLst>
              <a:gd name="adj" fmla="val 5161"/>
            </a:avLst>
          </a:prstGeom>
          <a:solidFill>
            <a:schemeClr val="bg2"/>
          </a:solidFill>
          <a:ln w="12700">
            <a:solidFill>
              <a:schemeClr val="bg2"/>
            </a:solidFill>
            <a:prstDash val="solid"/>
          </a:ln>
        </p:spPr>
      </p:sp>
      <p:sp>
        <p:nvSpPr>
          <p:cNvPr id="20" name="Text 18"/>
          <p:cNvSpPr txBox="1"/>
          <p:nvPr/>
        </p:nvSpPr>
        <p:spPr>
          <a:xfrm>
            <a:off x="6272784" y="2788920"/>
            <a:ext cx="2286000" cy="274320"/>
          </a:xfrm>
          <a:prstGeom prst="rect">
            <a:avLst/>
          </a:prstGeom>
          <a:noFill/>
          <a:ln/>
        </p:spPr>
        <p:txBody>
          <a:bodyPr wrap="square" lIns="0" tIns="0" rIns="0" bIns="0" rtlCol="0" anchor="t"/>
          <a:lstStyle/>
          <a:p>
            <a:pPr indent="0" marL="0">
              <a:buNone/>
            </a:pPr>
            <a:r>
              <a:rPr lang="en-US" sz="1200" b="1" dirty="0">
                <a:solidFill>
                  <a:schemeClr val="accent5"/>
                </a:solidFill>
              </a:rPr>
              <a:t>Ergebnis</a:t>
            </a:r>
            <a:endParaRPr lang="en-US" sz="1200" dirty="0"/>
          </a:p>
        </p:txBody>
      </p:sp>
      <p:sp>
        <p:nvSpPr>
          <p:cNvPr id="21" name="Text 19"/>
          <p:cNvSpPr txBox="1"/>
          <p:nvPr/>
        </p:nvSpPr>
        <p:spPr>
          <a:xfrm>
            <a:off x="6272784" y="3063240"/>
            <a:ext cx="2286000" cy="457200"/>
          </a:xfrm>
          <a:prstGeom prst="rect">
            <a:avLst/>
          </a:prstGeom>
          <a:noFill/>
          <a:ln/>
        </p:spPr>
        <p:txBody>
          <a:bodyPr wrap="square" lIns="0" tIns="0" rIns="0" bIns="0" rtlCol="0" anchor="t"/>
          <a:lstStyle/>
          <a:p>
            <a:pPr indent="0" marL="0">
              <a:buNone/>
            </a:pPr>
            <a:r>
              <a:rPr lang="en-US" sz="2400" b="1" dirty="0">
                <a:solidFill>
                  <a:schemeClr val="accent2"/>
                </a:solidFill>
              </a:rPr>
              <a:t>Reparieren</a:t>
            </a:r>
            <a:endParaRPr lang="en-US" sz="2400" dirty="0"/>
          </a:p>
        </p:txBody>
      </p:sp>
      <p:sp>
        <p:nvSpPr>
          <p:cNvPr id="22" name="Text 20"/>
          <p:cNvSpPr txBox="1"/>
          <p:nvPr/>
        </p:nvSpPr>
        <p:spPr>
          <a:xfrm>
            <a:off x="6272784" y="3566160"/>
            <a:ext cx="2286000" cy="457200"/>
          </a:xfrm>
          <a:prstGeom prst="rect">
            <a:avLst/>
          </a:prstGeom>
          <a:noFill/>
          <a:ln/>
        </p:spPr>
        <p:txBody>
          <a:bodyPr wrap="square" lIns="0" tIns="0" rIns="0" bIns="0" rtlCol="0" anchor="t"/>
          <a:lstStyle/>
          <a:p>
            <a:pPr indent="0" marL="0">
              <a:buNone/>
            </a:pPr>
            <a:r>
              <a:rPr lang="en-US" sz="1150" dirty="0">
                <a:solidFill>
                  <a:schemeClr val="tx1"/>
                </a:solidFill>
              </a:rPr>
              <a:t>538 € ≈ 7 % des Werts</a:t>
            </a:r>
            <a:endParaRPr lang="en-US" sz="1150" dirty="0"/>
          </a:p>
        </p:txBody>
      </p:sp>
      <p:sp>
        <p:nvSpPr>
          <p:cNvPr id="23" name="Text 21"/>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100" i="1" dirty="0">
                <a:solidFill>
                  <a:schemeClr val="accent5"/>
                </a:solidFill>
              </a:rPr>
              <a:t>Beispielrechnung aus dem Testlauf (BMW X3, P0300). Unverbindlich – der Besitzer entscheidet nach Werkstattprüfung.</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TESTS</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Vier Szenarien, auch gezielte Ausfälle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377440"/>
                <a:gridCol w="2743200"/>
                <a:gridCol w="1005840"/>
                <a:gridCol w="1051560"/>
                <a:gridCol w="1051560"/>
              </a:tblGrid>
              <a:tr h="438912">
                <a:tc>
                  <a:txBody>
                    <a:bodyPr/>
                    <a:lstStyle/>
                    <a:p>
                      <a:pPr indent="0" marL="0">
                        <a:buNone/>
                      </a:pPr>
                      <a:r>
                        <a:rPr lang="en-US" sz="1150" b="1" dirty="0">
                          <a:solidFill>
                            <a:schemeClr val="bg1"/>
                          </a:solidFill>
                        </a:rPr>
                        <a:t>Szenario</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Ergebnis</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E-Mail</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DB</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Alert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r>
              <a:tr h="438912">
                <a:tc>
                  <a:txBody>
                    <a:bodyPr/>
                    <a:lstStyle/>
                    <a:p>
                      <a:pPr indent="0" marL="0">
                        <a:buNone/>
                      </a:pPr>
                      <a:r>
                        <a:rPr lang="en-US" sz="1150" dirty="0">
                          <a:solidFill>
                            <a:schemeClr val="tx1"/>
                          </a:solidFill>
                        </a:rPr>
                        <a:t>A  Alles funktioniert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ABGESCHLOSSEN · Empfehlung · 3 Termine</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gesendet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gespeichert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nicht nötig</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438912">
                <a:tc>
                  <a:txBody>
                    <a:bodyPr/>
                    <a:lstStyle/>
                    <a:p>
                      <a:pPr indent="0" marL="0">
                        <a:buNone/>
                      </a:pPr>
                      <a:r>
                        <a:rPr lang="en-US" sz="1150" dirty="0">
                          <a:solidFill>
                            <a:schemeClr val="tx1"/>
                          </a:solidFill>
                        </a:rPr>
                        <a:t>B  2 Fotos, KI-Bericht 401</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Fotowerte mit Quelle, Vorlage statt KI</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gesendet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gespeichert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gesendet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438912">
                <a:tc>
                  <a:txBody>
                    <a:bodyPr/>
                    <a:lstStyle/>
                    <a:p>
                      <a:pPr indent="0" marL="0">
                        <a:buNone/>
                      </a:pPr>
                      <a:r>
                        <a:rPr lang="en-US" sz="1150" dirty="0">
                          <a:solidFill>
                            <a:schemeClr val="tx1"/>
                          </a:solidFill>
                        </a:rPr>
                        <a:t>C  Ungültige Eingabe</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EINGABEFEHLER, keine KI-Kosten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nicht gesendet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gespeichert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nicht nötig</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438912">
                <a:tc>
                  <a:txBody>
                    <a:bodyPr/>
                    <a:lstStyle/>
                    <a:p>
                      <a:pPr indent="0" marL="0">
                        <a:buNone/>
                      </a:pPr>
                      <a:r>
                        <a:rPr lang="en-US" sz="1150" dirty="0">
                          <a:solidFill>
                            <a:schemeClr val="tx1"/>
                          </a:solidFill>
                        </a:rPr>
                        <a:t>D  Kalender, vPIC, Gmail, DB fallen aus</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TEILERGEBNIS, Termine per Fallback</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Fehler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Fehler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gesendet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457200" y="3794760"/>
            <a:ext cx="8229600" cy="548640"/>
          </a:xfrm>
          <a:prstGeom prst="rect">
            <a:avLst/>
          </a:prstGeom>
          <a:noFill/>
          <a:ln/>
        </p:spPr>
        <p:txBody>
          <a:bodyPr wrap="square" lIns="0" tIns="0" rIns="0" bIns="0" rtlCol="0" anchor="t"/>
          <a:lstStyle/>
          <a:p>
            <a:pPr indent="0" marL="0">
              <a:buNone/>
            </a:pPr>
            <a:r>
              <a:rPr lang="en-US" sz="1200" i="1" dirty="0">
                <a:solidFill>
                  <a:schemeClr val="accent5"/>
                </a:solidFill>
              </a:rPr>
              <a:t>Getestet mit nachgebauten API-Antworten (alle Nodes, alle Verbindungen). Dazu die Generalprobe in n8n mit echten Diensten.</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KOSTEN</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KI-Kosten im Cent-Bereich – und pro Lauf gemessen</a:t>
            </a:r>
            <a:endParaRPr lang="en-US" sz="3000" dirty="0"/>
          </a:p>
        </p:txBody>
      </p:sp>
      <p:sp>
        <p:nvSpPr>
          <p:cNvPr id="4" name="Kosten 1"/>
          <p:cNvSpPr/>
          <p:nvPr/>
        </p:nvSpPr>
        <p:spPr>
          <a:xfrm>
            <a:off x="457200" y="1371600"/>
            <a:ext cx="2596896" cy="1417320"/>
          </a:xfrm>
          <a:prstGeom prst="roundRect">
            <a:avLst>
              <a:gd name="adj" fmla="val 5161"/>
            </a:avLst>
          </a:prstGeom>
          <a:solidFill>
            <a:schemeClr val="bg2"/>
          </a:solidFill>
          <a:ln w="12700">
            <a:solidFill>
              <a:schemeClr val="bg2"/>
            </a:solidFill>
            <a:prstDash val="solid"/>
          </a:ln>
        </p:spPr>
      </p:sp>
      <p:sp>
        <p:nvSpPr>
          <p:cNvPr id="5" name="Text 3"/>
          <p:cNvSpPr txBox="1"/>
          <p:nvPr/>
        </p:nvSpPr>
        <p:spPr>
          <a:xfrm>
            <a:off x="640080" y="1481328"/>
            <a:ext cx="2286000" cy="640080"/>
          </a:xfrm>
          <a:prstGeom prst="rect">
            <a:avLst/>
          </a:prstGeom>
          <a:noFill/>
          <a:ln/>
        </p:spPr>
        <p:txBody>
          <a:bodyPr wrap="square" lIns="0" tIns="0" rIns="0" bIns="0" rtlCol="0" anchor="t"/>
          <a:lstStyle/>
          <a:p>
            <a:pPr indent="0" marL="0">
              <a:buNone/>
            </a:pPr>
            <a:r>
              <a:rPr lang="en-US" sz="3000" b="1" dirty="0">
                <a:solidFill>
                  <a:schemeClr val="accent2"/>
                </a:solidFill>
              </a:rPr>
              <a:t>0,000664 $</a:t>
            </a:r>
            <a:endParaRPr lang="en-US" sz="3000" dirty="0"/>
          </a:p>
        </p:txBody>
      </p:sp>
      <p:sp>
        <p:nvSpPr>
          <p:cNvPr id="6" name="Text 4"/>
          <p:cNvSpPr txBox="1"/>
          <p:nvPr/>
        </p:nvSpPr>
        <p:spPr>
          <a:xfrm>
            <a:off x="640080" y="2148840"/>
            <a:ext cx="2286000" cy="548640"/>
          </a:xfrm>
          <a:prstGeom prst="rect">
            <a:avLst/>
          </a:prstGeom>
          <a:noFill/>
          <a:ln/>
        </p:spPr>
        <p:txBody>
          <a:bodyPr wrap="square" lIns="0" tIns="0" rIns="0" bIns="0" rtlCol="0" anchor="t"/>
          <a:lstStyle/>
          <a:p>
            <a:pPr indent="0" marL="0">
              <a:buNone/>
            </a:pPr>
            <a:r>
              <a:rPr lang="en-US" sz="1200" dirty="0">
                <a:solidFill>
                  <a:schemeClr val="tx1"/>
                </a:solidFill>
              </a:rPr>
              <a:t>gemessen: ein Text-Aufruf gpt-4.1-mini (691 Tokens)</a:t>
            </a:r>
            <a:endParaRPr lang="en-US" sz="1200" dirty="0"/>
          </a:p>
        </p:txBody>
      </p:sp>
      <p:sp>
        <p:nvSpPr>
          <p:cNvPr id="7" name="Kosten 2"/>
          <p:cNvSpPr/>
          <p:nvPr/>
        </p:nvSpPr>
        <p:spPr>
          <a:xfrm>
            <a:off x="3273552" y="1371600"/>
            <a:ext cx="2596896" cy="1417320"/>
          </a:xfrm>
          <a:prstGeom prst="roundRect">
            <a:avLst>
              <a:gd name="adj" fmla="val 5161"/>
            </a:avLst>
          </a:prstGeom>
          <a:solidFill>
            <a:schemeClr val="bg2"/>
          </a:solidFill>
          <a:ln w="12700">
            <a:solidFill>
              <a:schemeClr val="bg2"/>
            </a:solidFill>
            <a:prstDash val="solid"/>
          </a:ln>
        </p:spPr>
      </p:sp>
      <p:sp>
        <p:nvSpPr>
          <p:cNvPr id="8" name="Text 6"/>
          <p:cNvSpPr txBox="1"/>
          <p:nvPr/>
        </p:nvSpPr>
        <p:spPr>
          <a:xfrm>
            <a:off x="3456432" y="1481328"/>
            <a:ext cx="2286000" cy="640080"/>
          </a:xfrm>
          <a:prstGeom prst="rect">
            <a:avLst/>
          </a:prstGeom>
          <a:noFill/>
          <a:ln/>
        </p:spPr>
        <p:txBody>
          <a:bodyPr wrap="square" lIns="0" tIns="0" rIns="0" bIns="0" rtlCol="0" anchor="t"/>
          <a:lstStyle/>
          <a:p>
            <a:pPr indent="0" marL="0">
              <a:buNone/>
            </a:pPr>
            <a:r>
              <a:rPr lang="en-US" sz="3000" b="1" dirty="0">
                <a:solidFill>
                  <a:schemeClr val="accent1"/>
                </a:solidFill>
              </a:rPr>
              <a:t>≈ 2 $</a:t>
            </a:r>
            <a:endParaRPr lang="en-US" sz="3000" dirty="0"/>
          </a:p>
        </p:txBody>
      </p:sp>
      <p:sp>
        <p:nvSpPr>
          <p:cNvPr id="9" name="Text 7"/>
          <p:cNvSpPr txBox="1"/>
          <p:nvPr/>
        </p:nvSpPr>
        <p:spPr>
          <a:xfrm>
            <a:off x="3456432" y="2148840"/>
            <a:ext cx="2286000" cy="548640"/>
          </a:xfrm>
          <a:prstGeom prst="rect">
            <a:avLst/>
          </a:prstGeom>
          <a:noFill/>
          <a:ln/>
        </p:spPr>
        <p:txBody>
          <a:bodyPr wrap="square" lIns="0" tIns="0" rIns="0" bIns="0" rtlCol="0" anchor="t"/>
          <a:lstStyle/>
          <a:p>
            <a:pPr indent="0" marL="0">
              <a:buNone/>
            </a:pPr>
            <a:r>
              <a:rPr lang="en-US" sz="1200" dirty="0">
                <a:solidFill>
                  <a:schemeClr val="tx1"/>
                </a:solidFill>
              </a:rPr>
              <a:t>pro Monat bei 100 Text-Anfragen am Tag</a:t>
            </a:r>
            <a:endParaRPr lang="en-US" sz="1200" dirty="0"/>
          </a:p>
        </p:txBody>
      </p:sp>
      <p:sp>
        <p:nvSpPr>
          <p:cNvPr id="10" name="Kosten 3"/>
          <p:cNvSpPr/>
          <p:nvPr/>
        </p:nvSpPr>
        <p:spPr>
          <a:xfrm>
            <a:off x="6089904" y="1371600"/>
            <a:ext cx="2596896" cy="1417320"/>
          </a:xfrm>
          <a:prstGeom prst="roundRect">
            <a:avLst>
              <a:gd name="adj" fmla="val 5161"/>
            </a:avLst>
          </a:prstGeom>
          <a:solidFill>
            <a:schemeClr val="bg2"/>
          </a:solidFill>
          <a:ln w="12700">
            <a:solidFill>
              <a:schemeClr val="bg2"/>
            </a:solidFill>
            <a:prstDash val="solid"/>
          </a:ln>
        </p:spPr>
      </p:sp>
      <p:sp>
        <p:nvSpPr>
          <p:cNvPr id="11" name="Text 9"/>
          <p:cNvSpPr txBox="1"/>
          <p:nvPr/>
        </p:nvSpPr>
        <p:spPr>
          <a:xfrm>
            <a:off x="6272784" y="1481328"/>
            <a:ext cx="2286000" cy="640080"/>
          </a:xfrm>
          <a:prstGeom prst="rect">
            <a:avLst/>
          </a:prstGeom>
          <a:noFill/>
          <a:ln/>
        </p:spPr>
        <p:txBody>
          <a:bodyPr wrap="square" lIns="0" tIns="0" rIns="0" bIns="0" rtlCol="0" anchor="t"/>
          <a:lstStyle/>
          <a:p>
            <a:pPr indent="0" marL="0">
              <a:buNone/>
            </a:pPr>
            <a:r>
              <a:rPr lang="en-US" sz="3000" b="1" dirty="0">
                <a:solidFill>
                  <a:schemeClr val="accent4"/>
                </a:solidFill>
              </a:rPr>
              <a:t>0 $</a:t>
            </a:r>
            <a:endParaRPr lang="en-US" sz="3000" dirty="0"/>
          </a:p>
        </p:txBody>
      </p:sp>
      <p:sp>
        <p:nvSpPr>
          <p:cNvPr id="12" name="Text 10"/>
          <p:cNvSpPr txBox="1"/>
          <p:nvPr/>
        </p:nvSpPr>
        <p:spPr>
          <a:xfrm>
            <a:off x="6272784" y="2148840"/>
            <a:ext cx="2286000" cy="548640"/>
          </a:xfrm>
          <a:prstGeom prst="rect">
            <a:avLst/>
          </a:prstGeom>
          <a:noFill/>
          <a:ln/>
        </p:spPr>
        <p:txBody>
          <a:bodyPr wrap="square" lIns="0" tIns="0" rIns="0" bIns="0" rtlCol="0" anchor="t"/>
          <a:lstStyle/>
          <a:p>
            <a:pPr indent="0" marL="0">
              <a:buNone/>
            </a:pPr>
            <a:r>
              <a:rPr lang="en-US" sz="1200" dirty="0">
                <a:solidFill>
                  <a:schemeClr val="tx1"/>
                </a:solidFill>
              </a:rPr>
              <a:t>für vPIC, Rückrufe, Kalender, Gmail (kostenlose Kontingente)</a:t>
            </a:r>
            <a:endParaRPr lang="en-US" sz="1200" dirty="0"/>
          </a:p>
        </p:txBody>
      </p:sp>
      <p:sp>
        <p:nvSpPr>
          <p:cNvPr id="13" name="Text 11"/>
          <p:cNvSpPr txBox="1"/>
          <p:nvPr/>
        </p:nvSpPr>
        <p:spPr>
          <a:xfrm>
            <a:off x="457200" y="301752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v3 misst jeden Lauf: Tokens + Kosten je KI-Aufruf direkt von OpenRouter → Spalten kosten_usd, tokens_gesamt.</a:t>
            </a:r>
            <a:endParaRPr lang="en-US" sz="1300" dirty="0"/>
          </a:p>
          <a:p>
            <a:pPr marL="342900" indent="-342900">
              <a:spcAft>
                <a:spcPts val="600"/>
              </a:spcAft>
              <a:buSzPct val="100000"/>
              <a:buChar char="•"/>
            </a:pPr>
            <a:r>
              <a:rPr lang="en-US" sz="1300" dirty="0">
                <a:solidFill>
                  <a:schemeClr val="tx1"/>
                </a:solidFill>
              </a:rPr>
              <a:t>Ein Foto-Lauf hat 2 KI-Aufrufe; der echte Wert steht nach der Generalprobe in autoscan_tagesstatistik.</a:t>
            </a:r>
            <a:endParaRPr lang="en-US" sz="1300" dirty="0"/>
          </a:p>
          <a:p>
            <a:pPr marL="342900" indent="-342900">
              <a:spcAft>
                <a:spcPts val="600"/>
              </a:spcAft>
              <a:buSzPct val="100000"/>
              <a:buChar char="•"/>
            </a:pPr>
            <a:r>
              <a:rPr lang="en-US" sz="1300" dirty="0">
                <a:solidFill>
                  <a:schemeClr val="tx1"/>
                </a:solidFill>
              </a:rPr>
              <a:t>Kostenhebel: günstigeres Modell per Konfiguration, kein KI-Aufruf bei ungültiger Eingabe.</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VERSIONIERUNG</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Jede Version ist nachvollziehbar</a:t>
            </a:r>
            <a:endParaRPr lang="en-US" sz="3000" dirty="0"/>
          </a:p>
        </p:txBody>
      </p:sp>
      <p:sp>
        <p:nvSpPr>
          <p:cNvPr id="4" name="Zeitachse"/>
          <p:cNvSpPr/>
          <p:nvPr/>
        </p:nvSpPr>
        <p:spPr>
          <a:xfrm>
            <a:off x="731520" y="1737360"/>
            <a:ext cx="7680960" cy="0"/>
          </a:xfrm>
          <a:prstGeom prst="line">
            <a:avLst/>
          </a:prstGeom>
          <a:noFill/>
          <a:ln w="25400">
            <a:solidFill>
              <a:srgbClr val="D5DAE3"/>
            </a:solidFill>
            <a:prstDash val="solid"/>
          </a:ln>
        </p:spPr>
      </p:sp>
      <p:sp>
        <p:nvSpPr>
          <p:cNvPr id="5" name="Version 1.x"/>
          <p:cNvSpPr/>
          <p:nvPr/>
        </p:nvSpPr>
        <p:spPr>
          <a:xfrm>
            <a:off x="548640" y="1508760"/>
            <a:ext cx="457200" cy="457200"/>
          </a:xfrm>
          <a:prstGeom prst="ellipse">
            <a:avLst/>
          </a:prstGeom>
          <a:solidFill>
            <a:schemeClr val="accent5"/>
          </a:solidFill>
          <a:ln w="12700">
            <a:solidFill>
              <a:schemeClr val="accent5"/>
            </a:solidFill>
            <a:prstDash val="solid"/>
          </a:ln>
        </p:spPr>
      </p:sp>
      <p:sp>
        <p:nvSpPr>
          <p:cNvPr id="6" name="Text 4"/>
          <p:cNvSpPr txBox="1"/>
          <p:nvPr/>
        </p:nvSpPr>
        <p:spPr>
          <a:xfrm>
            <a:off x="1143000" y="1481328"/>
            <a:ext cx="1463040" cy="274320"/>
          </a:xfrm>
          <a:prstGeom prst="rect">
            <a:avLst/>
          </a:prstGeom>
          <a:noFill/>
          <a:ln/>
        </p:spPr>
        <p:txBody>
          <a:bodyPr wrap="square" lIns="0" tIns="0" rIns="0" bIns="0" rtlCol="0" anchor="t"/>
          <a:lstStyle/>
          <a:p>
            <a:pPr indent="0" marL="0">
              <a:buNone/>
            </a:pPr>
            <a:r>
              <a:rPr lang="en-US" sz="1700" b="1" dirty="0">
                <a:solidFill>
                  <a:schemeClr val="tx2"/>
                </a:solidFill>
              </a:rPr>
              <a:t>1.x</a:t>
            </a:r>
            <a:endParaRPr lang="en-US" sz="1700" dirty="0"/>
          </a:p>
        </p:txBody>
      </p:sp>
      <p:sp>
        <p:nvSpPr>
          <p:cNvPr id="7" name="Text 5"/>
          <p:cNvSpPr txBox="1"/>
          <p:nvPr/>
        </p:nvSpPr>
        <p:spPr>
          <a:xfrm>
            <a:off x="1143000" y="1755648"/>
            <a:ext cx="1463040" cy="228600"/>
          </a:xfrm>
          <a:prstGeom prst="rect">
            <a:avLst/>
          </a:prstGeom>
          <a:noFill/>
          <a:ln/>
        </p:spPr>
        <p:txBody>
          <a:bodyPr wrap="square" lIns="0" tIns="0" rIns="0" bIns="0" rtlCol="0" anchor="t"/>
          <a:lstStyle/>
          <a:p>
            <a:pPr indent="0" marL="0">
              <a:buNone/>
            </a:pPr>
            <a:r>
              <a:rPr lang="en-US" sz="1100" b="1" dirty="0">
                <a:solidFill>
                  <a:schemeClr val="accent5"/>
                </a:solidFill>
              </a:rPr>
              <a:t>Woche 4</a:t>
            </a:r>
            <a:endParaRPr lang="en-US" sz="1100" dirty="0"/>
          </a:p>
        </p:txBody>
      </p:sp>
      <p:sp>
        <p:nvSpPr>
          <p:cNvPr id="8" name="Text 6"/>
          <p:cNvSpPr txBox="1"/>
          <p:nvPr/>
        </p:nvSpPr>
        <p:spPr>
          <a:xfrm>
            <a:off x="548640" y="2148840"/>
            <a:ext cx="2468880" cy="731520"/>
          </a:xfrm>
          <a:prstGeom prst="rect">
            <a:avLst/>
          </a:prstGeom>
          <a:noFill/>
          <a:ln/>
        </p:spPr>
        <p:txBody>
          <a:bodyPr wrap="square" lIns="0" tIns="0" rIns="0" bIns="0" rtlCol="0" anchor="t"/>
          <a:lstStyle/>
          <a:p>
            <a:pPr indent="0" marL="0">
              <a:buNone/>
            </a:pPr>
            <a:r>
              <a:rPr lang="en-US" sz="1200" dirty="0">
                <a:solidFill>
                  <a:schemeClr val="tx1"/>
                </a:solidFill>
              </a:rPr>
              <a:t>Text-Workflow, OpenAI, vPIC, Supabase, Kosten pro Run</a:t>
            </a:r>
            <a:endParaRPr lang="en-US" sz="1200" dirty="0"/>
          </a:p>
        </p:txBody>
      </p:sp>
      <p:sp>
        <p:nvSpPr>
          <p:cNvPr id="9" name="Version 2.x"/>
          <p:cNvSpPr/>
          <p:nvPr/>
        </p:nvSpPr>
        <p:spPr>
          <a:xfrm>
            <a:off x="3364992" y="1508760"/>
            <a:ext cx="457200" cy="457200"/>
          </a:xfrm>
          <a:prstGeom prst="ellipse">
            <a:avLst/>
          </a:prstGeom>
          <a:solidFill>
            <a:schemeClr val="accent4"/>
          </a:solidFill>
          <a:ln w="12700">
            <a:solidFill>
              <a:schemeClr val="accent4"/>
            </a:solidFill>
            <a:prstDash val="solid"/>
          </a:ln>
        </p:spPr>
      </p:sp>
      <p:sp>
        <p:nvSpPr>
          <p:cNvPr id="10" name="Text 8"/>
          <p:cNvSpPr txBox="1"/>
          <p:nvPr/>
        </p:nvSpPr>
        <p:spPr>
          <a:xfrm>
            <a:off x="3959352" y="1481328"/>
            <a:ext cx="1463040" cy="274320"/>
          </a:xfrm>
          <a:prstGeom prst="rect">
            <a:avLst/>
          </a:prstGeom>
          <a:noFill/>
          <a:ln/>
        </p:spPr>
        <p:txBody>
          <a:bodyPr wrap="square" lIns="0" tIns="0" rIns="0" bIns="0" rtlCol="0" anchor="t"/>
          <a:lstStyle/>
          <a:p>
            <a:pPr indent="0" marL="0">
              <a:buNone/>
            </a:pPr>
            <a:r>
              <a:rPr lang="en-US" sz="1700" b="1" dirty="0">
                <a:solidFill>
                  <a:schemeClr val="tx2"/>
                </a:solidFill>
              </a:rPr>
              <a:t>2.x</a:t>
            </a:r>
            <a:endParaRPr lang="en-US" sz="1700" dirty="0"/>
          </a:p>
        </p:txBody>
      </p:sp>
      <p:sp>
        <p:nvSpPr>
          <p:cNvPr id="11" name="Text 9"/>
          <p:cNvSpPr txBox="1"/>
          <p:nvPr/>
        </p:nvSpPr>
        <p:spPr>
          <a:xfrm>
            <a:off x="3959352" y="1755648"/>
            <a:ext cx="1463040" cy="228600"/>
          </a:xfrm>
          <a:prstGeom prst="rect">
            <a:avLst/>
          </a:prstGeom>
          <a:noFill/>
          <a:ln/>
        </p:spPr>
        <p:txBody>
          <a:bodyPr wrap="square" lIns="0" tIns="0" rIns="0" bIns="0" rtlCol="0" anchor="t"/>
          <a:lstStyle/>
          <a:p>
            <a:pPr indent="0" marL="0">
              <a:buNone/>
            </a:pPr>
            <a:r>
              <a:rPr lang="en-US" sz="1100" b="1" dirty="0">
                <a:solidFill>
                  <a:schemeClr val="accent4"/>
                </a:solidFill>
              </a:rPr>
              <a:t>Woche 5</a:t>
            </a:r>
            <a:endParaRPr lang="en-US" sz="1100" dirty="0"/>
          </a:p>
        </p:txBody>
      </p:sp>
      <p:sp>
        <p:nvSpPr>
          <p:cNvPr id="12" name="Text 10"/>
          <p:cNvSpPr txBox="1"/>
          <p:nvPr/>
        </p:nvSpPr>
        <p:spPr>
          <a:xfrm>
            <a:off x="3364992" y="2148840"/>
            <a:ext cx="2468880" cy="731520"/>
          </a:xfrm>
          <a:prstGeom prst="rect">
            <a:avLst/>
          </a:prstGeom>
          <a:noFill/>
          <a:ln/>
        </p:spPr>
        <p:txBody>
          <a:bodyPr wrap="square" lIns="0" tIns="0" rIns="0" bIns="0" rtlCol="0" anchor="t"/>
          <a:lstStyle/>
          <a:p>
            <a:pPr indent="0" marL="0">
              <a:buNone/>
            </a:pPr>
            <a:r>
              <a:rPr lang="en-US" sz="1200" dirty="0">
                <a:solidFill>
                  <a:schemeClr val="tx1"/>
                </a:solidFill>
              </a:rPr>
              <a:t>Fahrzeugschein-Foto, OBD2-Subworkflow, Prompt-Vergleich</a:t>
            </a:r>
            <a:endParaRPr lang="en-US" sz="1200" dirty="0"/>
          </a:p>
        </p:txBody>
      </p:sp>
      <p:sp>
        <p:nvSpPr>
          <p:cNvPr id="13" name="Version 3.0.0"/>
          <p:cNvSpPr/>
          <p:nvPr/>
        </p:nvSpPr>
        <p:spPr>
          <a:xfrm>
            <a:off x="6181344" y="1508760"/>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6775704" y="1481328"/>
            <a:ext cx="1463040" cy="274320"/>
          </a:xfrm>
          <a:prstGeom prst="rect">
            <a:avLst/>
          </a:prstGeom>
          <a:noFill/>
          <a:ln/>
        </p:spPr>
        <p:txBody>
          <a:bodyPr wrap="square" lIns="0" tIns="0" rIns="0" bIns="0" rtlCol="0" anchor="t"/>
          <a:lstStyle/>
          <a:p>
            <a:pPr indent="0" marL="0">
              <a:buNone/>
            </a:pPr>
            <a:r>
              <a:rPr lang="en-US" sz="1700" b="1" dirty="0">
                <a:solidFill>
                  <a:schemeClr val="tx2"/>
                </a:solidFill>
              </a:rPr>
              <a:t>3.0.0</a:t>
            </a:r>
            <a:endParaRPr lang="en-US" sz="1700" dirty="0"/>
          </a:p>
        </p:txBody>
      </p:sp>
      <p:sp>
        <p:nvSpPr>
          <p:cNvPr id="15" name="Text 13"/>
          <p:cNvSpPr txBox="1"/>
          <p:nvPr/>
        </p:nvSpPr>
        <p:spPr>
          <a:xfrm>
            <a:off x="6775704" y="1755648"/>
            <a:ext cx="1463040" cy="228600"/>
          </a:xfrm>
          <a:prstGeom prst="rect">
            <a:avLst/>
          </a:prstGeom>
          <a:noFill/>
          <a:ln/>
        </p:spPr>
        <p:txBody>
          <a:bodyPr wrap="square" lIns="0" tIns="0" rIns="0" bIns="0" rtlCol="0" anchor="t"/>
          <a:lstStyle/>
          <a:p>
            <a:pPr indent="0" marL="0">
              <a:buNone/>
            </a:pPr>
            <a:r>
              <a:rPr lang="en-US" sz="1100" b="1" dirty="0">
                <a:solidFill>
                  <a:schemeClr val="accent1"/>
                </a:solidFill>
              </a:rPr>
              <a:t>heute</a:t>
            </a:r>
            <a:endParaRPr lang="en-US" sz="1100" dirty="0"/>
          </a:p>
        </p:txBody>
      </p:sp>
      <p:sp>
        <p:nvSpPr>
          <p:cNvPr id="16" name="Text 14"/>
          <p:cNvSpPr txBox="1"/>
          <p:nvPr/>
        </p:nvSpPr>
        <p:spPr>
          <a:xfrm>
            <a:off x="6181344" y="2148840"/>
            <a:ext cx="2468880" cy="731520"/>
          </a:xfrm>
          <a:prstGeom prst="rect">
            <a:avLst/>
          </a:prstGeom>
          <a:noFill/>
          <a:ln/>
        </p:spPr>
        <p:txBody>
          <a:bodyPr wrap="square" lIns="0" tIns="0" rIns="0" bIns="0" rtlCol="0" anchor="t"/>
          <a:lstStyle/>
          <a:p>
            <a:pPr indent="0" marL="0">
              <a:buNone/>
            </a:pPr>
            <a:r>
              <a:rPr lang="en-US" sz="1200" dirty="0">
                <a:solidFill>
                  <a:schemeClr val="tx1"/>
                </a:solidFill>
              </a:rPr>
              <a:t>OpenRouter, Mehrsprachigkeit, 6 Dienste, Wissensbasis, Empfehlung, Logging, Alerts</a:t>
            </a:r>
            <a:endParaRPr lang="en-US" sz="1200" dirty="0"/>
          </a:p>
        </p:txBody>
      </p:sp>
      <p:sp>
        <p:nvSpPr>
          <p:cNvPr id="17" name="Versionierung 1"/>
          <p:cNvSpPr/>
          <p:nvPr/>
        </p:nvSpPr>
        <p:spPr>
          <a:xfrm>
            <a:off x="457200" y="3108960"/>
            <a:ext cx="2596896" cy="1234440"/>
          </a:xfrm>
          <a:prstGeom prst="roundRect">
            <a:avLst>
              <a:gd name="adj" fmla="val 5926"/>
            </a:avLst>
          </a:prstGeom>
          <a:solidFill>
            <a:schemeClr val="bg2"/>
          </a:solidFill>
          <a:ln w="12700">
            <a:solidFill>
              <a:schemeClr val="bg2"/>
            </a:solidFill>
            <a:prstDash val="solid"/>
          </a:ln>
        </p:spPr>
      </p:sp>
      <p:sp>
        <p:nvSpPr>
          <p:cNvPr id="18" name="workflow_version + prompt_version Kreis"/>
          <p:cNvSpPr/>
          <p:nvPr/>
        </p:nvSpPr>
        <p:spPr>
          <a:xfrm>
            <a:off x="640080" y="3246120"/>
            <a:ext cx="457200" cy="457200"/>
          </a:xfrm>
          <a:prstGeom prst="ellipse">
            <a:avLst/>
          </a:prstGeom>
          <a:solidFill>
            <a:schemeClr val="accent6"/>
          </a:solidFill>
          <a:ln w="12700">
            <a:solidFill>
              <a:schemeClr val="accent6"/>
            </a:solidFill>
            <a:prstDash val="solid"/>
          </a:ln>
        </p:spPr>
      </p:sp>
      <p:pic>
        <p:nvPicPr>
          <p:cNvPr id="19" name="workflow_version + prompt_version Symbol" descr="workflow_version + prompt_version">    </p:cNvPr>
          <p:cNvPicPr>
            <a:picLocks noChangeAspect="1"/>
          </p:cNvPicPr>
          <p:nvPr/>
        </p:nvPicPr>
        <p:blipFill>
          <a:blip r:embed="rId1"/>
          <a:stretch>
            <a:fillRect/>
          </a:stretch>
        </p:blipFill>
        <p:spPr>
          <a:xfrm>
            <a:off x="754380" y="3360420"/>
            <a:ext cx="228600" cy="228600"/>
          </a:xfrm>
          <a:prstGeom prst="rect">
            <a:avLst/>
          </a:prstGeom>
        </p:spPr>
      </p:pic>
      <p:sp>
        <p:nvSpPr>
          <p:cNvPr id="20" name="Text 17"/>
          <p:cNvSpPr txBox="1"/>
          <p:nvPr/>
        </p:nvSpPr>
        <p:spPr>
          <a:xfrm>
            <a:off x="1234440" y="3246120"/>
            <a:ext cx="1737360" cy="502920"/>
          </a:xfrm>
          <a:prstGeom prst="rect">
            <a:avLst/>
          </a:prstGeom>
          <a:noFill/>
          <a:ln/>
        </p:spPr>
        <p:txBody>
          <a:bodyPr wrap="square" lIns="0" tIns="0" rIns="0" bIns="0" rtlCol="0" anchor="t"/>
          <a:lstStyle/>
          <a:p>
            <a:pPr indent="0" marL="0">
              <a:buNone/>
            </a:pPr>
            <a:r>
              <a:rPr lang="en-US" sz="1250" b="1" dirty="0">
                <a:solidFill>
                  <a:schemeClr val="tx2"/>
                </a:solidFill>
              </a:rPr>
              <a:t>workflow_version + prompt_version</a:t>
            </a:r>
            <a:endParaRPr lang="en-US" sz="1250" dirty="0"/>
          </a:p>
        </p:txBody>
      </p:sp>
      <p:sp>
        <p:nvSpPr>
          <p:cNvPr id="21" name="Text 18"/>
          <p:cNvSpPr txBox="1"/>
          <p:nvPr/>
        </p:nvSpPr>
        <p:spPr>
          <a:xfrm>
            <a:off x="640080" y="3794760"/>
            <a:ext cx="2286000" cy="457200"/>
          </a:xfrm>
          <a:prstGeom prst="rect">
            <a:avLst/>
          </a:prstGeom>
          <a:noFill/>
          <a:ln/>
        </p:spPr>
        <p:txBody>
          <a:bodyPr wrap="square" lIns="0" tIns="0" rIns="0" bIns="0" rtlCol="0" anchor="t"/>
          <a:lstStyle/>
          <a:p>
            <a:pPr indent="0" marL="0">
              <a:buNone/>
            </a:pPr>
            <a:r>
              <a:rPr lang="en-US" sz="1150" dirty="0">
                <a:solidFill>
                  <a:schemeClr val="tx1"/>
                </a:solidFill>
              </a:rPr>
              <a:t>in Node 01 und in jedem Datensatz</a:t>
            </a:r>
            <a:endParaRPr lang="en-US" sz="1150" dirty="0"/>
          </a:p>
        </p:txBody>
      </p:sp>
      <p:sp>
        <p:nvSpPr>
          <p:cNvPr id="22" name="Versionierung 2"/>
          <p:cNvSpPr/>
          <p:nvPr/>
        </p:nvSpPr>
        <p:spPr>
          <a:xfrm>
            <a:off x="3273552" y="3108960"/>
            <a:ext cx="2596896" cy="1234440"/>
          </a:xfrm>
          <a:prstGeom prst="roundRect">
            <a:avLst>
              <a:gd name="adj" fmla="val 5926"/>
            </a:avLst>
          </a:prstGeom>
          <a:solidFill>
            <a:schemeClr val="bg2"/>
          </a:solidFill>
          <a:ln w="12700">
            <a:solidFill>
              <a:schemeClr val="bg2"/>
            </a:solidFill>
            <a:prstDash val="solid"/>
          </a:ln>
        </p:spPr>
      </p:sp>
      <p:sp>
        <p:nvSpPr>
          <p:cNvPr id="23" name="Changelog im Workflow Kreis"/>
          <p:cNvSpPr/>
          <p:nvPr/>
        </p:nvSpPr>
        <p:spPr>
          <a:xfrm>
            <a:off x="3456432" y="3246120"/>
            <a:ext cx="457200" cy="457200"/>
          </a:xfrm>
          <a:prstGeom prst="ellipse">
            <a:avLst/>
          </a:prstGeom>
          <a:solidFill>
            <a:schemeClr val="accent6"/>
          </a:solidFill>
          <a:ln w="12700">
            <a:solidFill>
              <a:schemeClr val="accent6"/>
            </a:solidFill>
            <a:prstDash val="solid"/>
          </a:ln>
        </p:spPr>
      </p:sp>
      <p:pic>
        <p:nvPicPr>
          <p:cNvPr id="24" name="Changelog im Workflow Symbol" descr="Changelog im Workflow">    </p:cNvPr>
          <p:cNvPicPr>
            <a:picLocks noChangeAspect="1"/>
          </p:cNvPicPr>
          <p:nvPr/>
        </p:nvPicPr>
        <p:blipFill>
          <a:blip r:embed="rId2"/>
          <a:stretch>
            <a:fillRect/>
          </a:stretch>
        </p:blipFill>
        <p:spPr>
          <a:xfrm>
            <a:off x="3570732" y="3360420"/>
            <a:ext cx="228600" cy="228600"/>
          </a:xfrm>
          <a:prstGeom prst="rect">
            <a:avLst/>
          </a:prstGeom>
        </p:spPr>
      </p:pic>
      <p:sp>
        <p:nvSpPr>
          <p:cNvPr id="25" name="Text 21"/>
          <p:cNvSpPr txBox="1"/>
          <p:nvPr/>
        </p:nvSpPr>
        <p:spPr>
          <a:xfrm>
            <a:off x="4050792" y="3246120"/>
            <a:ext cx="1737360" cy="502920"/>
          </a:xfrm>
          <a:prstGeom prst="rect">
            <a:avLst/>
          </a:prstGeom>
          <a:noFill/>
          <a:ln/>
        </p:spPr>
        <p:txBody>
          <a:bodyPr wrap="square" lIns="0" tIns="0" rIns="0" bIns="0" rtlCol="0" anchor="t"/>
          <a:lstStyle/>
          <a:p>
            <a:pPr indent="0" marL="0">
              <a:buNone/>
            </a:pPr>
            <a:r>
              <a:rPr lang="en-US" sz="1250" b="1" dirty="0">
                <a:solidFill>
                  <a:schemeClr val="tx2"/>
                </a:solidFill>
              </a:rPr>
              <a:t>Changelog im Workflow</a:t>
            </a:r>
            <a:endParaRPr lang="en-US" sz="1250" dirty="0"/>
          </a:p>
        </p:txBody>
      </p:sp>
      <p:sp>
        <p:nvSpPr>
          <p:cNvPr id="26" name="Text 22"/>
          <p:cNvSpPr txBox="1"/>
          <p:nvPr/>
        </p:nvSpPr>
        <p:spPr>
          <a:xfrm>
            <a:off x="3456432" y="3794760"/>
            <a:ext cx="2286000" cy="457200"/>
          </a:xfrm>
          <a:prstGeom prst="rect">
            <a:avLst/>
          </a:prstGeom>
          <a:noFill/>
          <a:ln/>
        </p:spPr>
        <p:txBody>
          <a:bodyPr wrap="square" lIns="0" tIns="0" rIns="0" bIns="0" rtlCol="0" anchor="t"/>
          <a:lstStyle/>
          <a:p>
            <a:pPr indent="0" marL="0">
              <a:buNone/>
            </a:pPr>
            <a:r>
              <a:rPr lang="en-US" sz="1150" dirty="0">
                <a:solidFill>
                  <a:schemeClr val="tx1"/>
                </a:solidFill>
              </a:rPr>
              <a:t>Sticky Note + n8n-Versionshistorie</a:t>
            </a:r>
            <a:endParaRPr lang="en-US" sz="1150" dirty="0"/>
          </a:p>
        </p:txBody>
      </p:sp>
      <p:sp>
        <p:nvSpPr>
          <p:cNvPr id="27" name="Versionierung 3"/>
          <p:cNvSpPr/>
          <p:nvPr/>
        </p:nvSpPr>
        <p:spPr>
          <a:xfrm>
            <a:off x="6089904" y="3108960"/>
            <a:ext cx="2596896" cy="1234440"/>
          </a:xfrm>
          <a:prstGeom prst="roundRect">
            <a:avLst>
              <a:gd name="adj" fmla="val 5926"/>
            </a:avLst>
          </a:prstGeom>
          <a:solidFill>
            <a:schemeClr val="bg2"/>
          </a:solidFill>
          <a:ln w="12700">
            <a:solidFill>
              <a:schemeClr val="bg2"/>
            </a:solidFill>
            <a:prstDash val="solid"/>
          </a:ln>
        </p:spPr>
      </p:sp>
      <p:sp>
        <p:nvSpPr>
          <p:cNvPr id="28" name="Auswertung je Version Kreis"/>
          <p:cNvSpPr/>
          <p:nvPr/>
        </p:nvSpPr>
        <p:spPr>
          <a:xfrm>
            <a:off x="6272784" y="3246120"/>
            <a:ext cx="457200" cy="457200"/>
          </a:xfrm>
          <a:prstGeom prst="ellipse">
            <a:avLst/>
          </a:prstGeom>
          <a:solidFill>
            <a:schemeClr val="accent6"/>
          </a:solidFill>
          <a:ln w="12700">
            <a:solidFill>
              <a:schemeClr val="accent6"/>
            </a:solidFill>
            <a:prstDash val="solid"/>
          </a:ln>
        </p:spPr>
      </p:sp>
      <p:pic>
        <p:nvPicPr>
          <p:cNvPr id="29" name="Auswertung je Version Symbol" descr="Auswertung je Version">    </p:cNvPr>
          <p:cNvPicPr>
            <a:picLocks noChangeAspect="1"/>
          </p:cNvPicPr>
          <p:nvPr/>
        </p:nvPicPr>
        <p:blipFill>
          <a:blip r:embed="rId3"/>
          <a:stretch>
            <a:fillRect/>
          </a:stretch>
        </p:blipFill>
        <p:spPr>
          <a:xfrm>
            <a:off x="6387084" y="3360420"/>
            <a:ext cx="228600" cy="228600"/>
          </a:xfrm>
          <a:prstGeom prst="rect">
            <a:avLst/>
          </a:prstGeom>
        </p:spPr>
      </p:pic>
      <p:sp>
        <p:nvSpPr>
          <p:cNvPr id="30" name="Text 25"/>
          <p:cNvSpPr txBox="1"/>
          <p:nvPr/>
        </p:nvSpPr>
        <p:spPr>
          <a:xfrm>
            <a:off x="6867144" y="3246120"/>
            <a:ext cx="1737360" cy="502920"/>
          </a:xfrm>
          <a:prstGeom prst="rect">
            <a:avLst/>
          </a:prstGeom>
          <a:noFill/>
          <a:ln/>
        </p:spPr>
        <p:txBody>
          <a:bodyPr wrap="square" lIns="0" tIns="0" rIns="0" bIns="0" rtlCol="0" anchor="t"/>
          <a:lstStyle/>
          <a:p>
            <a:pPr indent="0" marL="0">
              <a:buNone/>
            </a:pPr>
            <a:r>
              <a:rPr lang="en-US" sz="1250" b="1" dirty="0">
                <a:solidFill>
                  <a:schemeClr val="tx2"/>
                </a:solidFill>
              </a:rPr>
              <a:t>Auswertung je Version</a:t>
            </a:r>
            <a:endParaRPr lang="en-US" sz="1250" dirty="0"/>
          </a:p>
        </p:txBody>
      </p:sp>
      <p:sp>
        <p:nvSpPr>
          <p:cNvPr id="31" name="Text 26"/>
          <p:cNvSpPr txBox="1"/>
          <p:nvPr/>
        </p:nvSpPr>
        <p:spPr>
          <a:xfrm>
            <a:off x="6272784" y="3794760"/>
            <a:ext cx="2286000" cy="457200"/>
          </a:xfrm>
          <a:prstGeom prst="rect">
            <a:avLst/>
          </a:prstGeom>
          <a:noFill/>
          <a:ln/>
        </p:spPr>
        <p:txBody>
          <a:bodyPr wrap="square" lIns="0" tIns="0" rIns="0" bIns="0" rtlCol="0" anchor="t"/>
          <a:lstStyle/>
          <a:p>
            <a:pPr indent="0" marL="0">
              <a:buNone/>
            </a:pPr>
            <a:r>
              <a:rPr lang="en-US" sz="1150" dirty="0">
                <a:solidFill>
                  <a:schemeClr val="tx1"/>
                </a:solidFill>
              </a:rPr>
              <a:t>Fehlerquote, Dauer, Kosten pro Version vergleichen</a:t>
            </a:r>
            <a:endParaRPr lang="en-US" sz="11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1"/>
                </a:solidFill>
              </a:rPr>
              <a:t>AUSBLICK + FEEDBACK</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bg1"/>
                </a:solidFill>
              </a:rPr>
              <a:t>Nächste Schritte – und eure Meinung</a:t>
            </a:r>
            <a:endParaRPr lang="en-US" sz="3000" dirty="0"/>
          </a:p>
        </p:txBody>
      </p:sp>
      <p:sp>
        <p:nvSpPr>
          <p:cNvPr id="4" name="Echter OBD2-Adapter statt Simulation Kreis"/>
          <p:cNvSpPr/>
          <p:nvPr/>
        </p:nvSpPr>
        <p:spPr>
          <a:xfrm>
            <a:off x="457200" y="1371600"/>
            <a:ext cx="457200" cy="457200"/>
          </a:xfrm>
          <a:prstGeom prst="ellipse">
            <a:avLst/>
          </a:prstGeom>
          <a:solidFill>
            <a:schemeClr val="accent1"/>
          </a:solidFill>
          <a:ln w="12700">
            <a:solidFill>
              <a:schemeClr val="accent1"/>
            </a:solidFill>
            <a:prstDash val="solid"/>
          </a:ln>
        </p:spPr>
      </p:sp>
      <p:pic>
        <p:nvPicPr>
          <p:cNvPr id="5" name="Echter OBD2-Adapter statt Simulation Symbol" descr="Echter OBD2-Adapter statt Simulation">    </p:cNvPr>
          <p:cNvPicPr>
            <a:picLocks noChangeAspect="1"/>
          </p:cNvPicPr>
          <p:nvPr/>
        </p:nvPicPr>
        <p:blipFill>
          <a:blip r:embed="rId1"/>
          <a:stretch>
            <a:fillRect/>
          </a:stretch>
        </p:blipFill>
        <p:spPr>
          <a:xfrm>
            <a:off x="571500" y="1485900"/>
            <a:ext cx="228600" cy="228600"/>
          </a:xfrm>
          <a:prstGeom prst="rect">
            <a:avLst/>
          </a:prstGeom>
        </p:spPr>
      </p:pic>
      <p:sp>
        <p:nvSpPr>
          <p:cNvPr id="6" name="Text 3"/>
          <p:cNvSpPr txBox="1"/>
          <p:nvPr/>
        </p:nvSpPr>
        <p:spPr>
          <a:xfrm>
            <a:off x="1097280" y="1371600"/>
            <a:ext cx="3291840" cy="457200"/>
          </a:xfrm>
          <a:prstGeom prst="rect">
            <a:avLst/>
          </a:prstGeom>
          <a:noFill/>
          <a:ln/>
        </p:spPr>
        <p:txBody>
          <a:bodyPr wrap="square" lIns="0" tIns="0" rIns="0" bIns="0" rtlCol="0" anchor="ctr"/>
          <a:lstStyle/>
          <a:p>
            <a:pPr indent="0" marL="0">
              <a:buNone/>
            </a:pPr>
            <a:r>
              <a:rPr lang="en-US" sz="1400" dirty="0">
                <a:solidFill>
                  <a:schemeClr val="bg1"/>
                </a:solidFill>
              </a:rPr>
              <a:t>Echter OBD2-Adapter statt Simulation</a:t>
            </a:r>
            <a:endParaRPr lang="en-US" sz="1400" dirty="0"/>
          </a:p>
        </p:txBody>
      </p:sp>
      <p:sp>
        <p:nvSpPr>
          <p:cNvPr id="7" name="Preisliste der Werkstatt in Supabase Kreis"/>
          <p:cNvSpPr/>
          <p:nvPr/>
        </p:nvSpPr>
        <p:spPr>
          <a:xfrm>
            <a:off x="457200" y="2029968"/>
            <a:ext cx="457200" cy="457200"/>
          </a:xfrm>
          <a:prstGeom prst="ellipse">
            <a:avLst/>
          </a:prstGeom>
          <a:solidFill>
            <a:schemeClr val="accent1"/>
          </a:solidFill>
          <a:ln w="12700">
            <a:solidFill>
              <a:schemeClr val="accent1"/>
            </a:solidFill>
            <a:prstDash val="solid"/>
          </a:ln>
        </p:spPr>
      </p:sp>
      <p:pic>
        <p:nvPicPr>
          <p:cNvPr id="8" name="Preisliste der Werkstatt in Supabase Symbol" descr="Preisliste der Werkstatt in Supabase">    </p:cNvPr>
          <p:cNvPicPr>
            <a:picLocks noChangeAspect="1"/>
          </p:cNvPicPr>
          <p:nvPr/>
        </p:nvPicPr>
        <p:blipFill>
          <a:blip r:embed="rId2"/>
          <a:stretch>
            <a:fillRect/>
          </a:stretch>
        </p:blipFill>
        <p:spPr>
          <a:xfrm>
            <a:off x="571500" y="2144268"/>
            <a:ext cx="228600" cy="228600"/>
          </a:xfrm>
          <a:prstGeom prst="rect">
            <a:avLst/>
          </a:prstGeom>
        </p:spPr>
      </p:pic>
      <p:sp>
        <p:nvSpPr>
          <p:cNvPr id="9" name="Text 5"/>
          <p:cNvSpPr txBox="1"/>
          <p:nvPr/>
        </p:nvSpPr>
        <p:spPr>
          <a:xfrm>
            <a:off x="1097280" y="2029968"/>
            <a:ext cx="3291840" cy="457200"/>
          </a:xfrm>
          <a:prstGeom prst="rect">
            <a:avLst/>
          </a:prstGeom>
          <a:noFill/>
          <a:ln/>
        </p:spPr>
        <p:txBody>
          <a:bodyPr wrap="square" lIns="0" tIns="0" rIns="0" bIns="0" rtlCol="0" anchor="ctr"/>
          <a:lstStyle/>
          <a:p>
            <a:pPr indent="0" marL="0">
              <a:buNone/>
            </a:pPr>
            <a:r>
              <a:rPr lang="en-US" sz="1400" dirty="0">
                <a:solidFill>
                  <a:schemeClr val="bg1"/>
                </a:solidFill>
              </a:rPr>
              <a:t>Preisliste der Werkstatt in Supabase</a:t>
            </a:r>
            <a:endParaRPr lang="en-US" sz="1400" dirty="0"/>
          </a:p>
        </p:txBody>
      </p:sp>
      <p:sp>
        <p:nvSpPr>
          <p:cNvPr id="10" name="Antwort direkt an den Kunden senden Kreis"/>
          <p:cNvSpPr/>
          <p:nvPr/>
        </p:nvSpPr>
        <p:spPr>
          <a:xfrm>
            <a:off x="457200" y="2688336"/>
            <a:ext cx="457200" cy="457200"/>
          </a:xfrm>
          <a:prstGeom prst="ellipse">
            <a:avLst/>
          </a:prstGeom>
          <a:solidFill>
            <a:schemeClr val="accent1"/>
          </a:solidFill>
          <a:ln w="12700">
            <a:solidFill>
              <a:schemeClr val="accent1"/>
            </a:solidFill>
            <a:prstDash val="solid"/>
          </a:ln>
        </p:spPr>
      </p:sp>
      <p:pic>
        <p:nvPicPr>
          <p:cNvPr id="11" name="Antwort direkt an den Kunden senden Symbol" descr="Antwort direkt an den Kunden senden">    </p:cNvPr>
          <p:cNvPicPr>
            <a:picLocks noChangeAspect="1"/>
          </p:cNvPicPr>
          <p:nvPr/>
        </p:nvPicPr>
        <p:blipFill>
          <a:blip r:embed="rId3"/>
          <a:stretch>
            <a:fillRect/>
          </a:stretch>
        </p:blipFill>
        <p:spPr>
          <a:xfrm>
            <a:off x="571500" y="2802636"/>
            <a:ext cx="228600" cy="228600"/>
          </a:xfrm>
          <a:prstGeom prst="rect">
            <a:avLst/>
          </a:prstGeom>
        </p:spPr>
      </p:pic>
      <p:sp>
        <p:nvSpPr>
          <p:cNvPr id="12" name="Text 7"/>
          <p:cNvSpPr txBox="1"/>
          <p:nvPr/>
        </p:nvSpPr>
        <p:spPr>
          <a:xfrm>
            <a:off x="1097280" y="2688336"/>
            <a:ext cx="3291840" cy="457200"/>
          </a:xfrm>
          <a:prstGeom prst="rect">
            <a:avLst/>
          </a:prstGeom>
          <a:noFill/>
          <a:ln/>
        </p:spPr>
        <p:txBody>
          <a:bodyPr wrap="square" lIns="0" tIns="0" rIns="0" bIns="0" rtlCol="0" anchor="ctr"/>
          <a:lstStyle/>
          <a:p>
            <a:pPr indent="0" marL="0">
              <a:buNone/>
            </a:pPr>
            <a:r>
              <a:rPr lang="en-US" sz="1400" dirty="0">
                <a:solidFill>
                  <a:schemeClr val="bg1"/>
                </a:solidFill>
              </a:rPr>
              <a:t>Antwort direkt an den Kunden senden</a:t>
            </a:r>
            <a:endParaRPr lang="en-US" sz="1400" dirty="0"/>
          </a:p>
        </p:txBody>
      </p:sp>
      <p:sp>
        <p:nvSpPr>
          <p:cNvPr id="13" name="Dashboard in der React-App Kreis"/>
          <p:cNvSpPr/>
          <p:nvPr/>
        </p:nvSpPr>
        <p:spPr>
          <a:xfrm>
            <a:off x="457200" y="3346704"/>
            <a:ext cx="457200" cy="457200"/>
          </a:xfrm>
          <a:prstGeom prst="ellipse">
            <a:avLst/>
          </a:prstGeom>
          <a:solidFill>
            <a:schemeClr val="accent1"/>
          </a:solidFill>
          <a:ln w="12700">
            <a:solidFill>
              <a:schemeClr val="accent1"/>
            </a:solidFill>
            <a:prstDash val="solid"/>
          </a:ln>
        </p:spPr>
      </p:sp>
      <p:pic>
        <p:nvPicPr>
          <p:cNvPr id="14" name="Dashboard in der React-App Symbol" descr="Dashboard in der React-App">    </p:cNvPr>
          <p:cNvPicPr>
            <a:picLocks noChangeAspect="1"/>
          </p:cNvPicPr>
          <p:nvPr/>
        </p:nvPicPr>
        <p:blipFill>
          <a:blip r:embed="rId4"/>
          <a:stretch>
            <a:fillRect/>
          </a:stretch>
        </p:blipFill>
        <p:spPr>
          <a:xfrm>
            <a:off x="571500" y="3461004"/>
            <a:ext cx="228600" cy="228600"/>
          </a:xfrm>
          <a:prstGeom prst="rect">
            <a:avLst/>
          </a:prstGeom>
        </p:spPr>
      </p:pic>
      <p:sp>
        <p:nvSpPr>
          <p:cNvPr id="15" name="Text 9"/>
          <p:cNvSpPr txBox="1"/>
          <p:nvPr/>
        </p:nvSpPr>
        <p:spPr>
          <a:xfrm>
            <a:off x="1097280" y="3346704"/>
            <a:ext cx="3291840" cy="457200"/>
          </a:xfrm>
          <a:prstGeom prst="rect">
            <a:avLst/>
          </a:prstGeom>
          <a:noFill/>
          <a:ln/>
        </p:spPr>
        <p:txBody>
          <a:bodyPr wrap="square" lIns="0" tIns="0" rIns="0" bIns="0" rtlCol="0" anchor="ctr"/>
          <a:lstStyle/>
          <a:p>
            <a:pPr indent="0" marL="0">
              <a:buNone/>
            </a:pPr>
            <a:r>
              <a:rPr lang="en-US" sz="1400" dirty="0">
                <a:solidFill>
                  <a:schemeClr val="bg1"/>
                </a:solidFill>
              </a:rPr>
              <a:t>Dashboard in der React-App</a:t>
            </a:r>
            <a:endParaRPr lang="en-US" sz="1400" dirty="0"/>
          </a:p>
        </p:txBody>
      </p:sp>
      <p:sp>
        <p:nvSpPr>
          <p:cNvPr id="16" name="Frage 1"/>
          <p:cNvSpPr/>
          <p:nvPr/>
        </p:nvSpPr>
        <p:spPr>
          <a:xfrm>
            <a:off x="4754880" y="1371600"/>
            <a:ext cx="3931920" cy="685800"/>
          </a:xfrm>
          <a:prstGeom prst="roundRect">
            <a:avLst>
              <a:gd name="adj" fmla="val 10667"/>
            </a:avLst>
          </a:prstGeom>
          <a:solidFill>
            <a:srgbClr val="22325A"/>
          </a:solidFill>
          <a:ln w="12700">
            <a:solidFill>
              <a:srgbClr val="22325A"/>
            </a:solidFill>
            <a:prstDash val="solid"/>
          </a:ln>
        </p:spPr>
      </p:sp>
      <p:sp>
        <p:nvSpPr>
          <p:cNvPr id="17" name="Text 11"/>
          <p:cNvSpPr txBox="1"/>
          <p:nvPr/>
        </p:nvSpPr>
        <p:spPr>
          <a:xfrm>
            <a:off x="4937760" y="1371600"/>
            <a:ext cx="3657600" cy="685800"/>
          </a:xfrm>
          <a:prstGeom prst="rect">
            <a:avLst/>
          </a:prstGeom>
          <a:noFill/>
          <a:ln/>
        </p:spPr>
        <p:txBody>
          <a:bodyPr wrap="square" lIns="0" tIns="0" rIns="0" bIns="0" rtlCol="0" anchor="ctr"/>
          <a:lstStyle/>
          <a:p>
            <a:pPr indent="0" marL="0">
              <a:buNone/>
            </a:pPr>
            <a:r>
              <a:rPr lang="en-US" sz="1500" b="1" dirty="0">
                <a:solidFill>
                  <a:schemeClr val="accent1"/>
                </a:solidFill>
              </a:rPr>
              <a:t>1  </a:t>
            </a:r>
            <a:pPr indent="0" marL="0">
              <a:buNone/>
            </a:pPr>
            <a:r>
              <a:rPr lang="en-US" sz="1500" dirty="0">
                <a:solidFill>
                  <a:schemeClr val="bg1"/>
                </a:solidFill>
              </a:rPr>
              <a:t>Was fehlt euch im Bericht?</a:t>
            </a:r>
            <a:endParaRPr lang="en-US" sz="1500" dirty="0"/>
          </a:p>
        </p:txBody>
      </p:sp>
      <p:sp>
        <p:nvSpPr>
          <p:cNvPr id="18" name="Frage 2"/>
          <p:cNvSpPr/>
          <p:nvPr/>
        </p:nvSpPr>
        <p:spPr>
          <a:xfrm>
            <a:off x="4754880" y="2240280"/>
            <a:ext cx="3931920" cy="685800"/>
          </a:xfrm>
          <a:prstGeom prst="roundRect">
            <a:avLst>
              <a:gd name="adj" fmla="val 10667"/>
            </a:avLst>
          </a:prstGeom>
          <a:solidFill>
            <a:srgbClr val="22325A"/>
          </a:solidFill>
          <a:ln w="12700">
            <a:solidFill>
              <a:srgbClr val="22325A"/>
            </a:solidFill>
            <a:prstDash val="solid"/>
          </a:ln>
        </p:spPr>
      </p:sp>
      <p:sp>
        <p:nvSpPr>
          <p:cNvPr id="19" name="Text 13"/>
          <p:cNvSpPr txBox="1"/>
          <p:nvPr/>
        </p:nvSpPr>
        <p:spPr>
          <a:xfrm>
            <a:off x="4937760" y="2240280"/>
            <a:ext cx="3657600" cy="685800"/>
          </a:xfrm>
          <a:prstGeom prst="rect">
            <a:avLst/>
          </a:prstGeom>
          <a:noFill/>
          <a:ln/>
        </p:spPr>
        <p:txBody>
          <a:bodyPr wrap="square" lIns="0" tIns="0" rIns="0" bIns="0" rtlCol="0" anchor="ctr"/>
          <a:lstStyle/>
          <a:p>
            <a:pPr indent="0" marL="0">
              <a:buNone/>
            </a:pPr>
            <a:r>
              <a:rPr lang="en-US" sz="1500" b="1" dirty="0">
                <a:solidFill>
                  <a:schemeClr val="accent1"/>
                </a:solidFill>
              </a:rPr>
              <a:t>2  </a:t>
            </a:r>
            <a:pPr indent="0" marL="0">
              <a:buNone/>
            </a:pPr>
            <a:r>
              <a:rPr lang="en-US" sz="1500" dirty="0">
                <a:solidFill>
                  <a:schemeClr val="bg1"/>
                </a:solidFill>
              </a:rPr>
              <a:t>Würdet ihr der Empfehlung vertrauen?</a:t>
            </a:r>
            <a:endParaRPr lang="en-US" sz="1500" dirty="0"/>
          </a:p>
        </p:txBody>
      </p:sp>
      <p:sp>
        <p:nvSpPr>
          <p:cNvPr id="20" name="Frage 3"/>
          <p:cNvSpPr/>
          <p:nvPr/>
        </p:nvSpPr>
        <p:spPr>
          <a:xfrm>
            <a:off x="4754880" y="3108960"/>
            <a:ext cx="3931920" cy="685800"/>
          </a:xfrm>
          <a:prstGeom prst="roundRect">
            <a:avLst>
              <a:gd name="adj" fmla="val 10667"/>
            </a:avLst>
          </a:prstGeom>
          <a:solidFill>
            <a:srgbClr val="22325A"/>
          </a:solidFill>
          <a:ln w="12700">
            <a:solidFill>
              <a:srgbClr val="22325A"/>
            </a:solidFill>
            <a:prstDash val="solid"/>
          </a:ln>
        </p:spPr>
      </p:sp>
      <p:sp>
        <p:nvSpPr>
          <p:cNvPr id="21" name="Text 15"/>
          <p:cNvSpPr txBox="1"/>
          <p:nvPr/>
        </p:nvSpPr>
        <p:spPr>
          <a:xfrm>
            <a:off x="4937760" y="3108960"/>
            <a:ext cx="3657600" cy="685800"/>
          </a:xfrm>
          <a:prstGeom prst="rect">
            <a:avLst/>
          </a:prstGeom>
          <a:noFill/>
          <a:ln/>
        </p:spPr>
        <p:txBody>
          <a:bodyPr wrap="square" lIns="0" tIns="0" rIns="0" bIns="0" rtlCol="0" anchor="ctr"/>
          <a:lstStyle/>
          <a:p>
            <a:pPr indent="0" marL="0">
              <a:buNone/>
            </a:pPr>
            <a:r>
              <a:rPr lang="en-US" sz="1500" b="1" dirty="0">
                <a:solidFill>
                  <a:schemeClr val="accent1"/>
                </a:solidFill>
              </a:rPr>
              <a:t>3  </a:t>
            </a:r>
            <a:pPr indent="0" marL="0">
              <a:buNone/>
            </a:pPr>
            <a:r>
              <a:rPr lang="en-US" sz="1500" dirty="0">
                <a:solidFill>
                  <a:schemeClr val="bg1"/>
                </a:solidFill>
              </a:rPr>
              <a:t>Welcher nächste Schritt zuerst?</a:t>
            </a:r>
            <a:endParaRPr lang="en-US" sz="15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F2F4F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ANHANG · RESERVE</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Setup und Credentials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822960"/>
                <a:gridCol w="4572000"/>
                <a:gridCol w="2834640"/>
              </a:tblGrid>
              <a:tr h="384048">
                <a:tc>
                  <a:txBody>
                    <a:bodyPr/>
                    <a:lstStyle/>
                    <a:p>
                      <a:pPr indent="0" marL="0">
                        <a:buNone/>
                      </a:pPr>
                      <a:r>
                        <a:rPr lang="en-US" sz="1200" b="1" dirty="0">
                          <a:solidFill>
                            <a:schemeClr val="bg1"/>
                          </a:solidFill>
                        </a:rPr>
                        <a:t>Schritt</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Was</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Wo</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1</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supabase_v3.sql ausführen (Tabellen + Views)</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Supabase SQL Editor</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2</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Hauptworkflow + Fehler-Workflow importieren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n8n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1"/>
                          </a:solidFill>
                        </a:rPr>
                        <a:t>3</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OpenRouter: Header Auth „Authorization: Bearer …“</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Node 07, 20</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4</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Gmail OAuth2 · Google Calendar OAuth2 · Supabase</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Node 23, 29 · 17 · 02, 25, 26</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1"/>
                          </a:solidFill>
                        </a:rPr>
                        <a:t>5</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werkstatt_email, alert_email, Version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Node 01 Konfiguration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6</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Fehler-Workflow als Error workflow setzen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Workflow-Settings</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utoScan AI">
  <a:themeElements>
    <a:clrScheme name="AutoScan AI">
      <a:dk1>
        <a:srgbClr val="1B1F2A"/>
      </a:dk1>
      <a:lt1>
        <a:srgbClr val="FFFFFF"/>
      </a:lt1>
      <a:dk2>
        <a:srgbClr val="14213D"/>
      </a:dk2>
      <a:lt2>
        <a:srgbClr val="F2F4F8"/>
      </a:lt2>
      <a:accent1>
        <a:srgbClr val="F2A007"/>
      </a:accent1>
      <a:accent2>
        <a:srgbClr val="2A9D8F"/>
      </a:accent2>
      <a:accent3>
        <a:srgbClr val="D9534F"/>
      </a:accent3>
      <a:accent4>
        <a:srgbClr val="4A6FD8"/>
      </a:accent4>
      <a:accent5>
        <a:srgbClr val="7A8599"/>
      </a:accent5>
      <a:accent6>
        <a:srgbClr val="7B5EA7"/>
      </a:accent6>
      <a:hlink>
        <a:srgbClr val="4A6FD8"/>
      </a:hlink>
      <a:folHlink>
        <a:srgbClr val="7B5EA7"/>
      </a:folHlink>
    </a:clrScheme>
    <a:fontScheme name="AutoScan 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AutoScan AI v3 – Werkstatt-Assistent</dc:title>
  <dc:subject>PptxGenJS Presentation</dc:subject>
  <dc:creator>Faouzi Riahi</dc:creator>
  <cp:lastModifiedBy>Faouzi Riahi</cp:lastModifiedBy>
  <cp:revision>1</cp:revision>
  <dcterms:created xsi:type="dcterms:W3CDTF">2026-10-15T09:24:23Z</dcterms:created>
  <dcterms:modified xsi:type="dcterms:W3CDTF">2026-10-15T09:24:23Z</dcterms:modified>
</cp:coreProperties>
</file>